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Nuni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3405fe65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3405fe65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3d84a8ba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3d84a8b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81b554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481b554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481b554c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481b554c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Chocolate and Cocoa Beans</a:t>
            </a:r>
            <a:endParaRPr sz="40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3475133"/>
            <a:ext cx="53613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Fairtrade</a:t>
            </a:r>
            <a:r>
              <a:rPr lang="en" sz="2500"/>
              <a:t> and Rainforest </a:t>
            </a:r>
            <a:r>
              <a:rPr lang="en" sz="2500"/>
              <a:t>Alliance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58064" y="180629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vs Fair trade, what’s the </a:t>
            </a:r>
            <a:r>
              <a:rPr lang="en"/>
              <a:t>difference</a:t>
            </a:r>
            <a:r>
              <a:rPr lang="en"/>
              <a:t> ?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277532" y="1628925"/>
            <a:ext cx="36597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3350" lIns="63350" spcFirstLastPara="1" rIns="63350" wrap="square" tIns="633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24"/>
              </a:spcBef>
              <a:spcAft>
                <a:spcPts val="0"/>
              </a:spcAft>
              <a:buNone/>
            </a:pPr>
            <a:r>
              <a:rPr lang="en" sz="1717">
                <a:latin typeface="Roboto"/>
                <a:ea typeface="Roboto"/>
                <a:cs typeface="Roboto"/>
                <a:sym typeface="Roboto"/>
              </a:rPr>
              <a:t>Free Trade (Mass-Market)</a:t>
            </a:r>
            <a:endParaRPr sz="17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31"/>
              </a:spcBef>
              <a:spcAft>
                <a:spcPts val="0"/>
              </a:spcAft>
              <a:buNone/>
            </a:pPr>
            <a:r>
              <a:rPr lang="en" sz="1717">
                <a:latin typeface="Roboto"/>
                <a:ea typeface="Roboto"/>
                <a:cs typeface="Roboto"/>
                <a:sym typeface="Roboto"/>
              </a:rPr>
              <a:t>$2.25 / bar</a:t>
            </a:r>
            <a:endParaRPr sz="17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31"/>
              </a:spcBef>
              <a:spcAft>
                <a:spcPts val="0"/>
              </a:spcAft>
              <a:buNone/>
            </a:pPr>
            <a:r>
              <a:t/>
            </a:r>
            <a:endParaRPr sz="13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31"/>
              </a:spcBef>
              <a:spcAft>
                <a:spcPts val="0"/>
              </a:spcAft>
              <a:buNone/>
            </a:pPr>
            <a:r>
              <a:t/>
            </a:r>
            <a:endParaRPr sz="13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31"/>
              </a:spcBef>
              <a:spcAft>
                <a:spcPts val="0"/>
              </a:spcAft>
              <a:buNone/>
            </a:pPr>
            <a:r>
              <a:t/>
            </a:r>
            <a:endParaRPr sz="90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5902867" y="1651705"/>
            <a:ext cx="29421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350" lIns="63350" spcFirstLastPara="1" rIns="63350" wrap="square" tIns="633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24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Fair Trade Certified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31"/>
              </a:spcBef>
              <a:spcAft>
                <a:spcPts val="831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$5.50 / bar</a:t>
            </a:r>
            <a:endParaRPr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2868718" y="2776739"/>
            <a:ext cx="33144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350" lIns="63350" spcFirstLastPara="1" rIns="63350" wrap="square" tIns="633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24"/>
              </a:spcBef>
              <a:spcAft>
                <a:spcPts val="831"/>
              </a:spcAft>
              <a:buNone/>
            </a:pPr>
            <a:r>
              <a:rPr b="1" lang="en" sz="1678">
                <a:latin typeface="Roboto"/>
                <a:ea typeface="Roboto"/>
                <a:cs typeface="Roboto"/>
                <a:sym typeface="Roboto"/>
              </a:rPr>
              <a:t>Price Premium: +$3.25 (144.4%)</a:t>
            </a:r>
            <a:endParaRPr b="1" sz="1747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716" y="1674693"/>
            <a:ext cx="671327" cy="6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2780" y="1628938"/>
            <a:ext cx="671349" cy="83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4"/>
          <p:cNvSpPr txBox="1"/>
          <p:nvPr/>
        </p:nvSpPr>
        <p:spPr>
          <a:xfrm>
            <a:off x="277526" y="3417296"/>
            <a:ext cx="7820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Fair trade products such as Fair trade cacaos, coffee beans and cottons etc. are slightly more expensive than regular free traded products in margin of about 2 ~ 3 dollars to 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equally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and rightfully support workers who produces raw ingredients as such.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214825" y="762200"/>
            <a:ext cx="8712900" cy="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You’ve probably heard every so often that </a:t>
            </a:r>
            <a:r>
              <a:rPr lang="en" sz="1800"/>
              <a:t>chocolate that you are consuming are made with </a:t>
            </a:r>
            <a:r>
              <a:rPr b="1" lang="en" sz="1800"/>
              <a:t>Free</a:t>
            </a:r>
            <a:r>
              <a:rPr lang="en" sz="1800"/>
              <a:t> trade </a:t>
            </a:r>
            <a:r>
              <a:rPr lang="en" sz="1800"/>
              <a:t>cacao beans rather than </a:t>
            </a:r>
            <a:r>
              <a:rPr b="1" lang="en" sz="1800"/>
              <a:t>Fair</a:t>
            </a:r>
            <a:r>
              <a:rPr lang="en" sz="1800"/>
              <a:t> trade cacao beans, but what’s the real difference? </a:t>
            </a:r>
            <a:endParaRPr sz="18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7919" y="2500876"/>
            <a:ext cx="1855858" cy="9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6012" y="2266581"/>
            <a:ext cx="1202730" cy="120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/>
        </p:nvSpPr>
        <p:spPr>
          <a:xfrm>
            <a:off x="8195896" y="290882"/>
            <a:ext cx="60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Jack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819150" y="303050"/>
            <a:ext cx="75057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buy </a:t>
            </a:r>
            <a:r>
              <a:rPr lang="en"/>
              <a:t>ethically</a:t>
            </a:r>
            <a:r>
              <a:rPr lang="en"/>
              <a:t> sourced cocoa?</a:t>
            </a:r>
            <a:endParaRPr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819150" y="949538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Stop child slavery - buy fair trade cocoa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Companies like Camino use ethical priming by telling a </a:t>
            </a:r>
            <a:r>
              <a:rPr lang="en" sz="1500"/>
              <a:t>story</a:t>
            </a:r>
            <a:r>
              <a:rPr lang="en" sz="1500"/>
              <a:t> and using photos of their farmers, and also marketing their chocolate as “healthy” </a:t>
            </a:r>
            <a:r>
              <a:rPr lang="en" sz="1500"/>
              <a:t>compared</a:t>
            </a:r>
            <a:r>
              <a:rPr lang="en" sz="1500"/>
              <a:t> to other chocolate bars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People want to feel like they are making a difference so if the packaging makes it seem like they are “saving children” this means </a:t>
            </a:r>
            <a:r>
              <a:rPr lang="en" sz="1500"/>
              <a:t>consumer</a:t>
            </a:r>
            <a:r>
              <a:rPr lang="en" sz="1500"/>
              <a:t> are more </a:t>
            </a:r>
            <a:r>
              <a:rPr lang="en" sz="1500"/>
              <a:t>likely</a:t>
            </a:r>
            <a:r>
              <a:rPr lang="en" sz="1500"/>
              <a:t> to pay the extra few bucks. 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125" y="3267379"/>
            <a:ext cx="4645875" cy="178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550" y="2936125"/>
            <a:ext cx="3941750" cy="22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240958" y="279454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buying Fair trade products </a:t>
            </a:r>
            <a:endParaRPr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348227" y="1055305"/>
            <a:ext cx="8287500" cy="3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Fair payment and living wage:  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The fair trade organizations pays proper wage that is </a:t>
            </a:r>
            <a:r>
              <a:rPr b="1" lang="en" sz="1800"/>
              <a:t>guaranteed</a:t>
            </a:r>
            <a:r>
              <a:rPr b="1" lang="en" sz="1800"/>
              <a:t> based line </a:t>
            </a:r>
            <a:r>
              <a:rPr lang="en" sz="1800"/>
              <a:t>above the </a:t>
            </a:r>
            <a:r>
              <a:rPr lang="en" sz="1800"/>
              <a:t>volatile</a:t>
            </a:r>
            <a:r>
              <a:rPr lang="en" sz="1800"/>
              <a:t> low market prices in order to cover </a:t>
            </a:r>
            <a:r>
              <a:rPr lang="en" sz="1800"/>
              <a:t>basic</a:t>
            </a:r>
            <a:r>
              <a:rPr lang="en" sz="1800"/>
              <a:t> human needs.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 forced or child labor: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The fair trade organizations ensures and surveillance to </a:t>
            </a:r>
            <a:r>
              <a:rPr b="1" lang="en" sz="1800"/>
              <a:t>strictly prohibit </a:t>
            </a:r>
            <a:r>
              <a:rPr lang="en" sz="1800"/>
              <a:t>any forms of child labor and forced labors.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Enviornmental sustainabilty: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The fair trade organizations </a:t>
            </a:r>
            <a:r>
              <a:rPr b="1" lang="en" sz="1800"/>
              <a:t>replaces the harmful chemical sprays </a:t>
            </a:r>
            <a:r>
              <a:rPr lang="en" sz="1800"/>
              <a:t>with organic composting eco friendly ones to protect </a:t>
            </a:r>
            <a:r>
              <a:rPr lang="en" sz="1800"/>
              <a:t>environment</a:t>
            </a:r>
            <a:r>
              <a:rPr lang="en" sz="1800"/>
              <a:t> and farmer’s health. 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819150" y="845600"/>
            <a:ext cx="75057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Narrative and pitch</a:t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819150" y="15445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When Mr. Waugh walks into a </a:t>
            </a:r>
            <a:r>
              <a:rPr lang="en"/>
              <a:t>grocery</a:t>
            </a:r>
            <a:r>
              <a:rPr lang="en"/>
              <a:t> store and sees a chocolate bar with a picture of a farmer on it and sees the story about helping farmers in africa he will feel compelled to buy fair trade to provide a better life for these farmers and their communities.  </a:t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688" y="246691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8138" y="2724950"/>
            <a:ext cx="2638425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
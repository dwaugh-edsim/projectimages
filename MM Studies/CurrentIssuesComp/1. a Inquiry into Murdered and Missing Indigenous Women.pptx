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Amatic SC"/>
      <p:regular r:id="rId21"/>
      <p:bold r:id="rId22"/>
    </p:embeddedFont>
    <p:embeddedFont>
      <p:font typeface="Source Code Pro"/>
      <p:regular r:id="rId23"/>
      <p:bold r:id="rId24"/>
      <p:italic r:id="rId25"/>
      <p:boldItalic r:id="rId26"/>
    </p:embeddedFont>
    <p:embeddedFont>
      <p:font typeface="Old Standard TT"/>
      <p:regular r:id="rId27"/>
      <p:bold r:id="rId28"/>
      <p: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maticSC-bold.fntdata"/><Relationship Id="rId21" Type="http://schemas.openxmlformats.org/officeDocument/2006/relationships/font" Target="fonts/AmaticSC-regular.fntdata"/><Relationship Id="rId24" Type="http://schemas.openxmlformats.org/officeDocument/2006/relationships/font" Target="fonts/SourceCodePro-bold.fntdata"/><Relationship Id="rId23" Type="http://schemas.openxmlformats.org/officeDocument/2006/relationships/font" Target="fonts/SourceCodePr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CodePro-boldItalic.fntdata"/><Relationship Id="rId25" Type="http://schemas.openxmlformats.org/officeDocument/2006/relationships/font" Target="fonts/SourceCodePro-italic.fntdata"/><Relationship Id="rId28" Type="http://schemas.openxmlformats.org/officeDocument/2006/relationships/font" Target="fonts/OldStandardTT-bold.fntdata"/><Relationship Id="rId27"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61599fe01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61599fe01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61599fe0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61599fe0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61599fe01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61599fe01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61599fe01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61599fe01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61599fe01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61599fe01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61599fe01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61599fe01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61599fe01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1599fe01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61599fe01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61599fe01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222222"/>
                </a:solidFill>
                <a:highlight>
                  <a:srgbClr val="FFFFFF"/>
                </a:highlight>
              </a:rPr>
              <a:t>“Red is the only colour spirits can see. So, in wearing red, we call the spirits of these women back to us, allowing them a chance to be among us and have their voices heard through their family members and community.'"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615a568852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615a56885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615a568852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15a568852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615a568852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615a56885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615a56885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615a56885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615a568852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615a568852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615a568852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615a568852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1600"/>
              </a:spcBef>
              <a:spcAft>
                <a:spcPts val="0"/>
              </a:spcAft>
              <a:buClr>
                <a:schemeClr val="accent1"/>
              </a:buClr>
              <a:buSzPts val="1400"/>
              <a:buChar char="○"/>
              <a:defRPr>
                <a:solidFill>
                  <a:schemeClr val="accent1"/>
                </a:solidFill>
                <a:highlight>
                  <a:schemeClr val="lt1"/>
                </a:highlight>
              </a:defRPr>
            </a:lvl2pPr>
            <a:lvl3pPr indent="-317500" lvl="2" marL="1371600">
              <a:spcBef>
                <a:spcPts val="1600"/>
              </a:spcBef>
              <a:spcAft>
                <a:spcPts val="0"/>
              </a:spcAft>
              <a:buClr>
                <a:schemeClr val="accent1"/>
              </a:buClr>
              <a:buSzPts val="1400"/>
              <a:buChar char="■"/>
              <a:defRPr>
                <a:solidFill>
                  <a:schemeClr val="accent1"/>
                </a:solidFill>
                <a:highlight>
                  <a:schemeClr val="lt1"/>
                </a:highlight>
              </a:defRPr>
            </a:lvl3pPr>
            <a:lvl4pPr indent="-317500" lvl="3" marL="1828800">
              <a:spcBef>
                <a:spcPts val="1600"/>
              </a:spcBef>
              <a:spcAft>
                <a:spcPts val="0"/>
              </a:spcAft>
              <a:buClr>
                <a:schemeClr val="accent1"/>
              </a:buClr>
              <a:buSzPts val="1400"/>
              <a:buChar char="●"/>
              <a:defRPr>
                <a:solidFill>
                  <a:schemeClr val="accent1"/>
                </a:solidFill>
                <a:highlight>
                  <a:schemeClr val="lt1"/>
                </a:highlight>
              </a:defRPr>
            </a:lvl4pPr>
            <a:lvl5pPr indent="-317500" lvl="4" marL="2286000">
              <a:spcBef>
                <a:spcPts val="1600"/>
              </a:spcBef>
              <a:spcAft>
                <a:spcPts val="0"/>
              </a:spcAft>
              <a:buClr>
                <a:schemeClr val="accent1"/>
              </a:buClr>
              <a:buSzPts val="1400"/>
              <a:buChar char="○"/>
              <a:defRPr>
                <a:solidFill>
                  <a:schemeClr val="accent1"/>
                </a:solidFill>
                <a:highlight>
                  <a:schemeClr val="lt1"/>
                </a:highlight>
              </a:defRPr>
            </a:lvl5pPr>
            <a:lvl6pPr indent="-317500" lvl="5" marL="2743200">
              <a:spcBef>
                <a:spcPts val="1600"/>
              </a:spcBef>
              <a:spcAft>
                <a:spcPts val="0"/>
              </a:spcAft>
              <a:buClr>
                <a:schemeClr val="accent1"/>
              </a:buClr>
              <a:buSzPts val="1400"/>
              <a:buChar char="■"/>
              <a:defRPr>
                <a:solidFill>
                  <a:schemeClr val="accent1"/>
                </a:solidFill>
                <a:highlight>
                  <a:schemeClr val="lt1"/>
                </a:highlight>
              </a:defRPr>
            </a:lvl6pPr>
            <a:lvl7pPr indent="-317500" lvl="6" marL="3200400">
              <a:spcBef>
                <a:spcPts val="1600"/>
              </a:spcBef>
              <a:spcAft>
                <a:spcPts val="0"/>
              </a:spcAft>
              <a:buClr>
                <a:schemeClr val="accent1"/>
              </a:buClr>
              <a:buSzPts val="1400"/>
              <a:buChar char="●"/>
              <a:defRPr>
                <a:solidFill>
                  <a:schemeClr val="accent1"/>
                </a:solidFill>
                <a:highlight>
                  <a:schemeClr val="lt1"/>
                </a:highlight>
              </a:defRPr>
            </a:lvl7pPr>
            <a:lvl8pPr indent="-317500" lvl="7" marL="3657600">
              <a:spcBef>
                <a:spcPts val="1600"/>
              </a:spcBef>
              <a:spcAft>
                <a:spcPts val="0"/>
              </a:spcAft>
              <a:buClr>
                <a:schemeClr val="accent1"/>
              </a:buClr>
              <a:buSzPts val="1400"/>
              <a:buChar char="○"/>
              <a:defRPr>
                <a:solidFill>
                  <a:schemeClr val="accent1"/>
                </a:solidFill>
                <a:highlight>
                  <a:schemeClr val="lt1"/>
                </a:highlight>
              </a:defRPr>
            </a:lvl8pPr>
            <a:lvl9pPr indent="-317500" lvl="8" marL="4114800">
              <a:spcBef>
                <a:spcPts val="1600"/>
              </a:spcBef>
              <a:spcAft>
                <a:spcPts val="160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160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160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160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160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160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160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160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1600"/>
              </a:spcBef>
              <a:spcAft>
                <a:spcPts val="160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rgbClr val="99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youtube.com/watch?v=6DLZgG15c-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en.wikipedia.org/wiki/2015_Canadian_federal_election" TargetMode="External"/><Relationship Id="rId4" Type="http://schemas.openxmlformats.org/officeDocument/2006/relationships/hyperlink" Target="https://en.wikipedia.org/wiki/Liberal_Party_of_Canad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246300" y="2940500"/>
            <a:ext cx="8651400" cy="56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accent1"/>
                </a:solidFill>
                <a:latin typeface="Old Standard TT"/>
                <a:ea typeface="Old Standard TT"/>
                <a:cs typeface="Old Standard TT"/>
                <a:sym typeface="Old Standard TT"/>
              </a:rPr>
              <a:t>Canada’s Missing and Murdered Indigenous Women and Girls</a:t>
            </a:r>
            <a:endParaRPr b="1" sz="1800">
              <a:solidFill>
                <a:schemeClr val="accent1"/>
              </a:solidFill>
              <a:highlight>
                <a:schemeClr val="lt1"/>
              </a:highlight>
              <a:latin typeface="Old Standard TT"/>
              <a:ea typeface="Old Standard TT"/>
              <a:cs typeface="Old Standard TT"/>
              <a:sym typeface="Old Standard TT"/>
            </a:endParaRPr>
          </a:p>
        </p:txBody>
      </p:sp>
      <p:pic>
        <p:nvPicPr>
          <p:cNvPr id="57" name="Google Shape;57;p13"/>
          <p:cNvPicPr preferRelativeResize="0"/>
          <p:nvPr/>
        </p:nvPicPr>
        <p:blipFill>
          <a:blip r:embed="rId3">
            <a:alphaModFix/>
          </a:blip>
          <a:stretch>
            <a:fillRect/>
          </a:stretch>
        </p:blipFill>
        <p:spPr>
          <a:xfrm>
            <a:off x="4625400" y="173750"/>
            <a:ext cx="3953551" cy="2635700"/>
          </a:xfrm>
          <a:prstGeom prst="rect">
            <a:avLst/>
          </a:prstGeom>
          <a:noFill/>
          <a:ln>
            <a:noFill/>
          </a:ln>
        </p:spPr>
      </p:pic>
      <p:pic>
        <p:nvPicPr>
          <p:cNvPr id="58" name="Google Shape;58;p13"/>
          <p:cNvPicPr preferRelativeResize="0"/>
          <p:nvPr/>
        </p:nvPicPr>
        <p:blipFill>
          <a:blip r:embed="rId4">
            <a:alphaModFix/>
          </a:blip>
          <a:stretch>
            <a:fillRect/>
          </a:stretch>
        </p:blipFill>
        <p:spPr>
          <a:xfrm>
            <a:off x="490275" y="173750"/>
            <a:ext cx="3953550" cy="2635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1409550" y="2358750"/>
            <a:ext cx="6324900" cy="4260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u="sng">
                <a:latin typeface="Old Standard TT"/>
                <a:ea typeface="Old Standard TT"/>
                <a:cs typeface="Old Standard TT"/>
                <a:sym typeface="Old Standard TT"/>
                <a:hlinkClick r:id="rId3"/>
              </a:rPr>
              <a:t>https://www.youtube.com/watch?v=6DLZgG15c-o</a:t>
            </a:r>
            <a:endParaRPr b="1" sz="1800">
              <a:latin typeface="Old Standard TT"/>
              <a:ea typeface="Old Standard TT"/>
              <a:cs typeface="Old Standard TT"/>
              <a:sym typeface="Old Standard T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 type="body"/>
          </p:nvPr>
        </p:nvSpPr>
        <p:spPr>
          <a:xfrm>
            <a:off x="71400" y="1746250"/>
            <a:ext cx="9001200" cy="2048100"/>
          </a:xfrm>
          <a:prstGeom prst="rect">
            <a:avLst/>
          </a:prstGeom>
          <a:solidFill>
            <a:srgbClr val="FFFFFF"/>
          </a:solidFill>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The child welfare system devalues indigenous life, especially for indigenous women and girls</a:t>
            </a:r>
            <a:endParaRPr sz="1600">
              <a:solidFill>
                <a:srgbClr val="000000"/>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600">
              <a:solidFill>
                <a:srgbClr val="000000"/>
              </a:solidFill>
              <a:latin typeface="Old Standard TT"/>
              <a:ea typeface="Old Standard TT"/>
              <a:cs typeface="Old Standard TT"/>
              <a:sym typeface="Old Standard TT"/>
            </a:endParaRPr>
          </a:p>
          <a:p>
            <a:pPr indent="-330200" lvl="0" marL="4572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When the children in the system turn 18, they are on their own</a:t>
            </a:r>
            <a:endParaRPr sz="1600">
              <a:solidFill>
                <a:srgbClr val="000000"/>
              </a:solidFill>
              <a:latin typeface="Old Standard TT"/>
              <a:ea typeface="Old Standard TT"/>
              <a:cs typeface="Old Standard TT"/>
              <a:sym typeface="Old Standard TT"/>
            </a:endParaRPr>
          </a:p>
          <a:p>
            <a:pPr indent="-330200" lvl="1" marL="9144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Unequipped with life skills</a:t>
            </a:r>
            <a:endParaRPr sz="1600">
              <a:solidFill>
                <a:srgbClr val="000000"/>
              </a:solidFill>
              <a:latin typeface="Old Standard TT"/>
              <a:ea typeface="Old Standard TT"/>
              <a:cs typeface="Old Standard TT"/>
              <a:sym typeface="Old Standard TT"/>
            </a:endParaRPr>
          </a:p>
          <a:p>
            <a:pPr indent="-330200" lvl="1" marL="9144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Severed from their families and home communities</a:t>
            </a:r>
            <a:endParaRPr sz="1600">
              <a:solidFill>
                <a:srgbClr val="000000"/>
              </a:solidFill>
              <a:latin typeface="Old Standard TT"/>
              <a:ea typeface="Old Standard TT"/>
              <a:cs typeface="Old Standard TT"/>
              <a:sym typeface="Old Standard TT"/>
            </a:endParaRPr>
          </a:p>
          <a:p>
            <a:pPr indent="0" lvl="0" marL="914400" rtl="0" algn="l">
              <a:spcBef>
                <a:spcPts val="0"/>
              </a:spcBef>
              <a:spcAft>
                <a:spcPts val="0"/>
              </a:spcAft>
              <a:buNone/>
            </a:pPr>
            <a:r>
              <a:t/>
            </a:r>
            <a:endParaRPr sz="1600">
              <a:solidFill>
                <a:srgbClr val="000000"/>
              </a:solidFill>
              <a:latin typeface="Old Standard TT"/>
              <a:ea typeface="Old Standard TT"/>
              <a:cs typeface="Old Standard TT"/>
              <a:sym typeface="Old Standard TT"/>
            </a:endParaRPr>
          </a:p>
          <a:p>
            <a:pPr indent="-330200" lvl="0" marL="4572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This leads to homelessness, substance abuse, sexual exploitation</a:t>
            </a:r>
            <a:endParaRPr sz="1600">
              <a:solidFill>
                <a:srgbClr val="000000"/>
              </a:solidFill>
              <a:latin typeface="Old Standard TT"/>
              <a:ea typeface="Old Standard TT"/>
              <a:cs typeface="Old Standard TT"/>
              <a:sym typeface="Old Standard TT"/>
            </a:endParaRPr>
          </a:p>
        </p:txBody>
      </p:sp>
      <p:sp>
        <p:nvSpPr>
          <p:cNvPr id="69" name="Google Shape;69;p15"/>
          <p:cNvSpPr txBox="1"/>
          <p:nvPr/>
        </p:nvSpPr>
        <p:spPr>
          <a:xfrm>
            <a:off x="71400" y="665425"/>
            <a:ext cx="9001200" cy="9555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What is the connection between the child welfare system and the epidemic of missing and murdered indigenous women?</a:t>
            </a:r>
            <a:endParaRPr sz="2400">
              <a:latin typeface="Old Standard TT"/>
              <a:ea typeface="Old Standard TT"/>
              <a:cs typeface="Old Standard TT"/>
              <a:sym typeface="Old Standard T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71400" y="1227450"/>
            <a:ext cx="5312400" cy="35481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Old Standard TT"/>
                <a:ea typeface="Old Standard TT"/>
                <a:cs typeface="Old Standard TT"/>
                <a:sym typeface="Old Standard TT"/>
              </a:rPr>
              <a:t>Simply put, Residential Schools. Here’s why... </a:t>
            </a:r>
            <a:endParaRPr sz="1600">
              <a:solidFill>
                <a:srgbClr val="000000"/>
              </a:solidFill>
              <a:latin typeface="Old Standard TT"/>
              <a:ea typeface="Old Standard TT"/>
              <a:cs typeface="Old Standard TT"/>
              <a:sym typeface="Old Standard TT"/>
            </a:endParaRPr>
          </a:p>
          <a:p>
            <a:pPr indent="0" lvl="0" marL="0" rtl="0" algn="l">
              <a:spcBef>
                <a:spcPts val="0"/>
              </a:spcBef>
              <a:spcAft>
                <a:spcPts val="0"/>
              </a:spcAft>
              <a:buNone/>
            </a:pPr>
            <a:r>
              <a:t/>
            </a:r>
            <a:endParaRPr sz="1600">
              <a:solidFill>
                <a:srgbClr val="000000"/>
              </a:solidFill>
              <a:latin typeface="Old Standard TT"/>
              <a:ea typeface="Old Standard TT"/>
              <a:cs typeface="Old Standard TT"/>
              <a:sym typeface="Old Standard TT"/>
            </a:endParaRPr>
          </a:p>
          <a:p>
            <a:pPr indent="-330200" lvl="0" marL="4572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Many of the indigenous children placed into the child welfare system are the children of Residential School survivors</a:t>
            </a:r>
            <a:endParaRPr sz="1600">
              <a:solidFill>
                <a:srgbClr val="000000"/>
              </a:solidFill>
              <a:latin typeface="Old Standard TT"/>
              <a:ea typeface="Old Standard TT"/>
              <a:cs typeface="Old Standard TT"/>
              <a:sym typeface="Old Standard TT"/>
            </a:endParaRPr>
          </a:p>
          <a:p>
            <a:pPr indent="0" lvl="0" marL="0" rtl="0" algn="l">
              <a:spcBef>
                <a:spcPts val="0"/>
              </a:spcBef>
              <a:spcAft>
                <a:spcPts val="0"/>
              </a:spcAft>
              <a:buNone/>
            </a:pPr>
            <a:r>
              <a:t/>
            </a:r>
            <a:endParaRPr sz="1600">
              <a:solidFill>
                <a:srgbClr val="000000"/>
              </a:solidFill>
              <a:latin typeface="Old Standard TT"/>
              <a:ea typeface="Old Standard TT"/>
              <a:cs typeface="Old Standard TT"/>
              <a:sym typeface="Old Standard TT"/>
            </a:endParaRPr>
          </a:p>
          <a:p>
            <a:pPr indent="-330200" lvl="0" marL="4572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Residential schools separated</a:t>
            </a:r>
            <a:r>
              <a:rPr lang="en" sz="1600">
                <a:solidFill>
                  <a:srgbClr val="000000"/>
                </a:solidFill>
                <a:latin typeface="Old Standard TT"/>
                <a:ea typeface="Old Standard TT"/>
                <a:cs typeface="Old Standard TT"/>
                <a:sym typeface="Old Standard TT"/>
              </a:rPr>
              <a:t> indigenous children from their families</a:t>
            </a:r>
            <a:endParaRPr sz="1600">
              <a:solidFill>
                <a:srgbClr val="000000"/>
              </a:solidFill>
              <a:latin typeface="Old Standard TT"/>
              <a:ea typeface="Old Standard TT"/>
              <a:cs typeface="Old Standard TT"/>
              <a:sym typeface="Old Standard TT"/>
            </a:endParaRPr>
          </a:p>
          <a:p>
            <a:pPr indent="-330200" lvl="1" marL="9144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The aim was to </a:t>
            </a:r>
            <a:r>
              <a:rPr lang="en" sz="1600">
                <a:solidFill>
                  <a:srgbClr val="000000"/>
                </a:solidFill>
                <a:latin typeface="Old Standard TT"/>
                <a:ea typeface="Old Standard TT"/>
                <a:cs typeface="Old Standard TT"/>
                <a:sym typeface="Old Standard TT"/>
              </a:rPr>
              <a:t>“kill the Indian in the child”</a:t>
            </a:r>
            <a:endParaRPr sz="1600">
              <a:solidFill>
                <a:srgbClr val="000000"/>
              </a:solidFill>
              <a:latin typeface="Old Standard TT"/>
              <a:ea typeface="Old Standard TT"/>
              <a:cs typeface="Old Standard TT"/>
              <a:sym typeface="Old Standard TT"/>
            </a:endParaRPr>
          </a:p>
          <a:p>
            <a:pPr indent="0" lvl="0" marL="0" rtl="0" algn="l">
              <a:spcBef>
                <a:spcPts val="0"/>
              </a:spcBef>
              <a:spcAft>
                <a:spcPts val="0"/>
              </a:spcAft>
              <a:buNone/>
            </a:pPr>
            <a:r>
              <a:t/>
            </a:r>
            <a:endParaRPr sz="1600">
              <a:solidFill>
                <a:srgbClr val="000000"/>
              </a:solidFill>
              <a:latin typeface="Old Standard TT"/>
              <a:ea typeface="Old Standard TT"/>
              <a:cs typeface="Old Standard TT"/>
              <a:sym typeface="Old Standard TT"/>
            </a:endParaRPr>
          </a:p>
          <a:p>
            <a:pPr indent="-330200" lvl="0" marL="457200" rtl="0" algn="l">
              <a:spcBef>
                <a:spcPts val="0"/>
              </a:spcBef>
              <a:spcAft>
                <a:spcPts val="0"/>
              </a:spcAft>
              <a:buClr>
                <a:srgbClr val="000000"/>
              </a:buClr>
              <a:buSzPts val="1600"/>
              <a:buFont typeface="Old Standard TT"/>
              <a:buChar char="●"/>
            </a:pPr>
            <a:r>
              <a:rPr lang="en" sz="1600">
                <a:solidFill>
                  <a:srgbClr val="000000"/>
                </a:solidFill>
                <a:latin typeface="Old Standard TT"/>
                <a:ea typeface="Old Standard TT"/>
                <a:cs typeface="Old Standard TT"/>
                <a:sym typeface="Old Standard TT"/>
              </a:rPr>
              <a:t>At these schools</a:t>
            </a:r>
            <a:r>
              <a:rPr lang="en" sz="1600">
                <a:solidFill>
                  <a:srgbClr val="000000"/>
                </a:solidFill>
                <a:latin typeface="Old Standard TT"/>
                <a:ea typeface="Old Standard TT"/>
                <a:cs typeface="Old Standard TT"/>
                <a:sym typeface="Old Standard TT"/>
              </a:rPr>
              <a:t>, children suffered emotional, physical, and sexual abuse</a:t>
            </a:r>
            <a:endParaRPr sz="1600">
              <a:solidFill>
                <a:srgbClr val="000000"/>
              </a:solidFill>
              <a:latin typeface="Old Standard TT"/>
              <a:ea typeface="Old Standard TT"/>
              <a:cs typeface="Old Standard TT"/>
              <a:sym typeface="Old Standard TT"/>
            </a:endParaRPr>
          </a:p>
        </p:txBody>
      </p:sp>
      <p:sp>
        <p:nvSpPr>
          <p:cNvPr id="75" name="Google Shape;75;p16"/>
          <p:cNvSpPr txBox="1"/>
          <p:nvPr/>
        </p:nvSpPr>
        <p:spPr>
          <a:xfrm>
            <a:off x="71400" y="187500"/>
            <a:ext cx="9001200" cy="9555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Why are so many indigenous </a:t>
            </a:r>
            <a:endParaRPr b="1" sz="2400">
              <a:latin typeface="Old Standard TT"/>
              <a:ea typeface="Old Standard TT"/>
              <a:cs typeface="Old Standard TT"/>
              <a:sym typeface="Old Standard TT"/>
            </a:endParaRPr>
          </a:p>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children in the child welfare system?</a:t>
            </a:r>
            <a:endParaRPr sz="2400">
              <a:latin typeface="Old Standard TT"/>
              <a:ea typeface="Old Standard TT"/>
              <a:cs typeface="Old Standard TT"/>
              <a:sym typeface="Old Standard TT"/>
            </a:endParaRPr>
          </a:p>
        </p:txBody>
      </p:sp>
      <p:pic>
        <p:nvPicPr>
          <p:cNvPr id="76" name="Google Shape;76;p16"/>
          <p:cNvPicPr preferRelativeResize="0"/>
          <p:nvPr/>
        </p:nvPicPr>
        <p:blipFill>
          <a:blip r:embed="rId3">
            <a:alphaModFix/>
          </a:blip>
          <a:stretch>
            <a:fillRect/>
          </a:stretch>
        </p:blipFill>
        <p:spPr>
          <a:xfrm>
            <a:off x="5467950" y="1227450"/>
            <a:ext cx="3548100" cy="3548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idx="1" type="body"/>
          </p:nvPr>
        </p:nvSpPr>
        <p:spPr>
          <a:xfrm>
            <a:off x="35700" y="1257300"/>
            <a:ext cx="9072600" cy="3630600"/>
          </a:xfrm>
          <a:prstGeom prst="rect">
            <a:avLst/>
          </a:prstGeom>
          <a:solidFill>
            <a:srgbClr val="FFFFFF"/>
          </a:solidFill>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Font typeface="Old Standard TT"/>
              <a:buChar char="●"/>
            </a:pPr>
            <a:r>
              <a:rPr lang="en" sz="1400">
                <a:solidFill>
                  <a:srgbClr val="000000"/>
                </a:solidFill>
                <a:latin typeface="Old Standard TT"/>
                <a:ea typeface="Old Standard TT"/>
                <a:cs typeface="Old Standard TT"/>
                <a:sym typeface="Old Standard TT"/>
              </a:rPr>
              <a:t>Abuse and trauma hindered victims’ ability to take care of their own children</a:t>
            </a:r>
            <a:endParaRPr sz="1400">
              <a:solidFill>
                <a:srgbClr val="000000"/>
              </a:solidFill>
              <a:latin typeface="Old Standard TT"/>
              <a:ea typeface="Old Standard TT"/>
              <a:cs typeface="Old Standard TT"/>
              <a:sym typeface="Old Standard TT"/>
            </a:endParaRPr>
          </a:p>
          <a:p>
            <a:pPr indent="-317500" lvl="1" marL="914400" rtl="0" algn="l">
              <a:spcBef>
                <a:spcPts val="0"/>
              </a:spcBef>
              <a:spcAft>
                <a:spcPts val="0"/>
              </a:spcAft>
              <a:buClr>
                <a:srgbClr val="000000"/>
              </a:buClr>
              <a:buSzPts val="1400"/>
              <a:buFont typeface="Old Standard TT"/>
              <a:buChar char="○"/>
            </a:pPr>
            <a:r>
              <a:rPr lang="en" sz="1400">
                <a:solidFill>
                  <a:srgbClr val="000000"/>
                </a:solidFill>
                <a:latin typeface="Old Standard TT"/>
                <a:ea typeface="Old Standard TT"/>
                <a:cs typeface="Old Standard TT"/>
                <a:sym typeface="Old Standard TT"/>
              </a:rPr>
              <a:t>In being separated from their own families and communities, </a:t>
            </a:r>
            <a:r>
              <a:rPr lang="en">
                <a:solidFill>
                  <a:srgbClr val="000000"/>
                </a:solidFill>
                <a:latin typeface="Old Standard TT"/>
                <a:ea typeface="Old Standard TT"/>
                <a:cs typeface="Old Standard TT"/>
                <a:sym typeface="Old Standard TT"/>
              </a:rPr>
              <a:t>they</a:t>
            </a:r>
            <a:r>
              <a:rPr lang="en" sz="1400">
                <a:solidFill>
                  <a:srgbClr val="000000"/>
                </a:solidFill>
                <a:latin typeface="Old Standard TT"/>
                <a:ea typeface="Old Standard TT"/>
                <a:cs typeface="Old Standard TT"/>
                <a:sym typeface="Old Standard TT"/>
              </a:rPr>
              <a:t> did not learn from their own parents how to be caring and nurturing parents themselves</a:t>
            </a:r>
            <a:r>
              <a:rPr lang="en">
                <a:solidFill>
                  <a:srgbClr val="000000"/>
                </a:solidFill>
                <a:latin typeface="Old Standard TT"/>
                <a:ea typeface="Old Standard TT"/>
                <a:cs typeface="Old Standard TT"/>
                <a:sym typeface="Old Standard TT"/>
              </a:rPr>
              <a:t> - what they learned was abuse</a:t>
            </a:r>
            <a:endParaRPr>
              <a:solidFill>
                <a:srgbClr val="000000"/>
              </a:solidFill>
              <a:latin typeface="Old Standard TT"/>
              <a:ea typeface="Old Standard TT"/>
              <a:cs typeface="Old Standard TT"/>
              <a:sym typeface="Old Standard TT"/>
            </a:endParaRPr>
          </a:p>
          <a:p>
            <a:pPr indent="0" lvl="0" marL="0" rtl="0" algn="l">
              <a:spcBef>
                <a:spcPts val="0"/>
              </a:spcBef>
              <a:spcAft>
                <a:spcPts val="0"/>
              </a:spcAft>
              <a:buNone/>
            </a:pPr>
            <a:r>
              <a:t/>
            </a:r>
            <a:endParaRPr>
              <a:solidFill>
                <a:srgbClr val="000000"/>
              </a:solidFill>
              <a:latin typeface="Old Standard TT"/>
              <a:ea typeface="Old Standard TT"/>
              <a:cs typeface="Old Standard TT"/>
              <a:sym typeface="Old Standard TT"/>
            </a:endParaRPr>
          </a:p>
          <a:p>
            <a:pPr indent="-317500" lvl="0" marL="457200" rtl="0" algn="l">
              <a:spcBef>
                <a:spcPts val="0"/>
              </a:spcBef>
              <a:spcAft>
                <a:spcPts val="0"/>
              </a:spcAft>
              <a:buClr>
                <a:srgbClr val="000000"/>
              </a:buClr>
              <a:buSzPts val="1400"/>
              <a:buFont typeface="Old Standard TT"/>
              <a:buChar char="●"/>
            </a:pPr>
            <a:r>
              <a:rPr lang="en" sz="1400">
                <a:solidFill>
                  <a:srgbClr val="000000"/>
                </a:solidFill>
                <a:highlight>
                  <a:srgbClr val="FFFFFF"/>
                </a:highlight>
                <a:latin typeface="Old Standard TT"/>
                <a:ea typeface="Old Standard TT"/>
                <a:cs typeface="Old Standard TT"/>
                <a:sym typeface="Old Standard TT"/>
              </a:rPr>
              <a:t>Many Indian residential school survivors, themselves, have made this point</a:t>
            </a:r>
            <a:endParaRPr sz="1400">
              <a:solidFill>
                <a:srgbClr val="000000"/>
              </a:solidFill>
              <a:highlight>
                <a:srgbClr val="FFFFFF"/>
              </a:highlight>
              <a:latin typeface="Old Standard TT"/>
              <a:ea typeface="Old Standard TT"/>
              <a:cs typeface="Old Standard TT"/>
              <a:sym typeface="Old Standard TT"/>
            </a:endParaRPr>
          </a:p>
          <a:p>
            <a:pPr indent="-317500" lvl="1" marL="914400" rtl="0" algn="l">
              <a:spcBef>
                <a:spcPts val="0"/>
              </a:spcBef>
              <a:spcAft>
                <a:spcPts val="0"/>
              </a:spcAft>
              <a:buClr>
                <a:srgbClr val="000000"/>
              </a:buClr>
              <a:buSzPts val="1400"/>
              <a:buFont typeface="Old Standard TT"/>
              <a:buChar char="○"/>
            </a:pPr>
            <a:r>
              <a:rPr lang="en" sz="1400">
                <a:solidFill>
                  <a:srgbClr val="000000"/>
                </a:solidFill>
                <a:highlight>
                  <a:srgbClr val="FFFFFF"/>
                </a:highlight>
                <a:latin typeface="Old Standard TT"/>
                <a:ea typeface="Old Standard TT"/>
                <a:cs typeface="Old Standard TT"/>
                <a:sym typeface="Old Standard TT"/>
              </a:rPr>
              <a:t>Josie Bear, a </a:t>
            </a:r>
            <a:r>
              <a:rPr lang="en">
                <a:solidFill>
                  <a:srgbClr val="000000"/>
                </a:solidFill>
                <a:highlight>
                  <a:srgbClr val="FFFFFF"/>
                </a:highlight>
                <a:latin typeface="Old Standard TT"/>
                <a:ea typeface="Old Standard TT"/>
                <a:cs typeface="Old Standard TT"/>
                <a:sym typeface="Old Standard TT"/>
              </a:rPr>
              <a:t>First Nations elder,</a:t>
            </a:r>
            <a:r>
              <a:rPr lang="en" sz="1400">
                <a:solidFill>
                  <a:srgbClr val="000000"/>
                </a:solidFill>
                <a:highlight>
                  <a:srgbClr val="FFFFFF"/>
                </a:highlight>
                <a:latin typeface="Old Standard TT"/>
                <a:ea typeface="Old Standard TT"/>
                <a:cs typeface="Old Standard TT"/>
                <a:sym typeface="Old Standard TT"/>
              </a:rPr>
              <a:t> was exposed to severe discipline as a student in residential schools</a:t>
            </a:r>
            <a:r>
              <a:rPr lang="en">
                <a:solidFill>
                  <a:srgbClr val="000000"/>
                </a:solidFill>
                <a:highlight>
                  <a:srgbClr val="FFFFFF"/>
                </a:highlight>
                <a:latin typeface="Old Standard TT"/>
                <a:ea typeface="Old Standard TT"/>
                <a:cs typeface="Old Standard TT"/>
                <a:sym typeface="Old Standard TT"/>
              </a:rPr>
              <a:t>. As she states, because of this, she treated her own children much the same</a:t>
            </a:r>
            <a:endParaRPr sz="1400">
              <a:solidFill>
                <a:srgbClr val="000000"/>
              </a:solidFill>
              <a:highlight>
                <a:srgbClr val="FFFFFF"/>
              </a:highlight>
              <a:latin typeface="Old Standard TT"/>
              <a:ea typeface="Old Standard TT"/>
              <a:cs typeface="Old Standard TT"/>
              <a:sym typeface="Old Standard TT"/>
            </a:endParaRPr>
          </a:p>
          <a:p>
            <a:pPr indent="-317500" lvl="1" marL="914400" rtl="0" algn="l">
              <a:spcBef>
                <a:spcPts val="0"/>
              </a:spcBef>
              <a:spcAft>
                <a:spcPts val="0"/>
              </a:spcAft>
              <a:buClr>
                <a:srgbClr val="000000"/>
              </a:buClr>
              <a:buSzPts val="1400"/>
              <a:buFont typeface="Old Standard TT"/>
              <a:buChar char="○"/>
            </a:pPr>
            <a:r>
              <a:rPr lang="en">
                <a:solidFill>
                  <a:srgbClr val="000000"/>
                </a:solidFill>
                <a:highlight>
                  <a:srgbClr val="FFFFFF"/>
                </a:highlight>
                <a:latin typeface="Old Standard TT"/>
                <a:ea typeface="Old Standard TT"/>
                <a:cs typeface="Old Standard TT"/>
                <a:sym typeface="Old Standard TT"/>
              </a:rPr>
              <a:t>"I brought them up in a pretty horrible way - didn't know how to parent, didn't know how to show love"</a:t>
            </a:r>
            <a:endParaRPr>
              <a:solidFill>
                <a:srgbClr val="000000"/>
              </a:solidFill>
              <a:highlight>
                <a:srgbClr val="FFFFFF"/>
              </a:highlight>
              <a:latin typeface="Old Standard TT"/>
              <a:ea typeface="Old Standard TT"/>
              <a:cs typeface="Old Standard TT"/>
              <a:sym typeface="Old Standard TT"/>
            </a:endParaRPr>
          </a:p>
          <a:p>
            <a:pPr indent="0" lvl="0" marL="457200" rtl="0" algn="l">
              <a:lnSpc>
                <a:spcPct val="100000"/>
              </a:lnSpc>
              <a:spcBef>
                <a:spcPts val="0"/>
              </a:spcBef>
              <a:spcAft>
                <a:spcPts val="0"/>
              </a:spcAft>
              <a:buNone/>
            </a:pPr>
            <a:r>
              <a:t/>
            </a:r>
            <a:endParaRPr sz="1400">
              <a:solidFill>
                <a:srgbClr val="000000"/>
              </a:solidFill>
              <a:highlight>
                <a:srgbClr val="FFFFFF"/>
              </a:highlight>
              <a:latin typeface="Old Standard TT"/>
              <a:ea typeface="Old Standard TT"/>
              <a:cs typeface="Old Standard TT"/>
              <a:sym typeface="Old Standard TT"/>
            </a:endParaRPr>
          </a:p>
          <a:p>
            <a:pPr indent="-317500" lvl="0" marL="457200" rtl="0" algn="l">
              <a:lnSpc>
                <a:spcPct val="100000"/>
              </a:lnSpc>
              <a:spcBef>
                <a:spcPts val="0"/>
              </a:spcBef>
              <a:spcAft>
                <a:spcPts val="0"/>
              </a:spcAft>
              <a:buClr>
                <a:srgbClr val="000000"/>
              </a:buClr>
              <a:buSzPts val="1400"/>
              <a:buFont typeface="Old Standard TT"/>
              <a:buChar char="●"/>
            </a:pPr>
            <a:r>
              <a:rPr lang="en" sz="1400">
                <a:solidFill>
                  <a:srgbClr val="000000"/>
                </a:solidFill>
                <a:highlight>
                  <a:srgbClr val="FFFFFF"/>
                </a:highlight>
                <a:latin typeface="Old Standard TT"/>
                <a:ea typeface="Old Standard TT"/>
                <a:cs typeface="Old Standard TT"/>
                <a:sym typeface="Old Standard TT"/>
              </a:rPr>
              <a:t>Abuse and trauma also hindered victims’ ability to succeed in life </a:t>
            </a:r>
            <a:endParaRPr sz="1400">
              <a:solidFill>
                <a:srgbClr val="000000"/>
              </a:solidFill>
              <a:highlight>
                <a:srgbClr val="FFFFFF"/>
              </a:highlight>
              <a:latin typeface="Old Standard TT"/>
              <a:ea typeface="Old Standard TT"/>
              <a:cs typeface="Old Standard TT"/>
              <a:sym typeface="Old Standard TT"/>
            </a:endParaRPr>
          </a:p>
          <a:p>
            <a:pPr indent="-317500" lvl="1" marL="914400" rtl="0" algn="l">
              <a:lnSpc>
                <a:spcPct val="100000"/>
              </a:lnSpc>
              <a:spcBef>
                <a:spcPts val="0"/>
              </a:spcBef>
              <a:spcAft>
                <a:spcPts val="0"/>
              </a:spcAft>
              <a:buClr>
                <a:srgbClr val="000000"/>
              </a:buClr>
              <a:buSzPts val="1400"/>
              <a:buFont typeface="Old Standard TT"/>
              <a:buChar char="○"/>
            </a:pPr>
            <a:r>
              <a:rPr lang="en">
                <a:solidFill>
                  <a:srgbClr val="000000"/>
                </a:solidFill>
                <a:highlight>
                  <a:srgbClr val="FFFFFF"/>
                </a:highlight>
                <a:latin typeface="Old Standard TT"/>
                <a:ea typeface="Old Standard TT"/>
                <a:cs typeface="Old Standard TT"/>
                <a:sym typeface="Old Standard TT"/>
              </a:rPr>
              <a:t>Homelessness or poverty, substance abuse</a:t>
            </a:r>
            <a:endParaRPr>
              <a:solidFill>
                <a:srgbClr val="000000"/>
              </a:solidFill>
              <a:highlight>
                <a:srgbClr val="FFFFFF"/>
              </a:highlight>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a:solidFill>
                <a:srgbClr val="000000"/>
              </a:solidFill>
              <a:highlight>
                <a:srgbClr val="FFFFFF"/>
              </a:highlight>
              <a:latin typeface="Old Standard TT"/>
              <a:ea typeface="Old Standard TT"/>
              <a:cs typeface="Old Standard TT"/>
              <a:sym typeface="Old Standard TT"/>
            </a:endParaRPr>
          </a:p>
          <a:p>
            <a:pPr indent="-317500" lvl="0" marL="457200" rtl="0" algn="l">
              <a:lnSpc>
                <a:spcPct val="100000"/>
              </a:lnSpc>
              <a:spcBef>
                <a:spcPts val="0"/>
              </a:spcBef>
              <a:spcAft>
                <a:spcPts val="0"/>
              </a:spcAft>
              <a:buClr>
                <a:srgbClr val="000000"/>
              </a:buClr>
              <a:buSzPts val="1400"/>
              <a:buFont typeface="Old Standard TT"/>
              <a:buChar char="●"/>
            </a:pPr>
            <a:r>
              <a:rPr lang="en" sz="1400">
                <a:solidFill>
                  <a:srgbClr val="000000"/>
                </a:solidFill>
                <a:highlight>
                  <a:srgbClr val="FFFFFF"/>
                </a:highlight>
                <a:latin typeface="Old Standard TT"/>
                <a:ea typeface="Old Standard TT"/>
                <a:cs typeface="Old Standard TT"/>
                <a:sym typeface="Old Standard TT"/>
              </a:rPr>
              <a:t>This then led to the “poverty” and “lack of adequate food or housing” that the government cites as reasons for putting indigenous children into the child welfare system</a:t>
            </a:r>
            <a:endParaRPr sz="1400">
              <a:solidFill>
                <a:srgbClr val="000000"/>
              </a:solidFill>
              <a:highlight>
                <a:srgbClr val="FFFFFF"/>
              </a:highlight>
              <a:latin typeface="Old Standard TT"/>
              <a:ea typeface="Old Standard TT"/>
              <a:cs typeface="Old Standard TT"/>
              <a:sym typeface="Old Standard TT"/>
            </a:endParaRPr>
          </a:p>
          <a:p>
            <a:pPr indent="0" lvl="0" marL="0" rtl="0" algn="l">
              <a:spcBef>
                <a:spcPts val="0"/>
              </a:spcBef>
              <a:spcAft>
                <a:spcPts val="0"/>
              </a:spcAft>
              <a:buNone/>
            </a:pPr>
            <a:r>
              <a:t/>
            </a:r>
            <a:endParaRPr sz="1400">
              <a:solidFill>
                <a:srgbClr val="000000"/>
              </a:solidFill>
              <a:latin typeface="Old Standard TT"/>
              <a:ea typeface="Old Standard TT"/>
              <a:cs typeface="Old Standard TT"/>
              <a:sym typeface="Old Standard TT"/>
            </a:endParaRPr>
          </a:p>
        </p:txBody>
      </p:sp>
      <p:sp>
        <p:nvSpPr>
          <p:cNvPr id="82" name="Google Shape;82;p17"/>
          <p:cNvSpPr txBox="1"/>
          <p:nvPr/>
        </p:nvSpPr>
        <p:spPr>
          <a:xfrm>
            <a:off x="35700" y="211625"/>
            <a:ext cx="9072600" cy="9555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But, </a:t>
            </a:r>
            <a:r>
              <a:rPr b="1" i="1" lang="en" sz="2400">
                <a:latin typeface="Old Standard TT"/>
                <a:ea typeface="Old Standard TT"/>
                <a:cs typeface="Old Standard TT"/>
                <a:sym typeface="Old Standard TT"/>
              </a:rPr>
              <a:t>why</a:t>
            </a:r>
            <a:r>
              <a:rPr b="1" lang="en" sz="2400">
                <a:latin typeface="Old Standard TT"/>
                <a:ea typeface="Old Standard TT"/>
                <a:cs typeface="Old Standard TT"/>
                <a:sym typeface="Old Standard TT"/>
              </a:rPr>
              <a:t> do so many of </a:t>
            </a:r>
            <a:r>
              <a:rPr b="1" i="1" lang="en" sz="2400">
                <a:latin typeface="Old Standard TT"/>
                <a:ea typeface="Old Standard TT"/>
                <a:cs typeface="Old Standard TT"/>
                <a:sym typeface="Old Standard TT"/>
              </a:rPr>
              <a:t>their</a:t>
            </a:r>
            <a:r>
              <a:rPr b="1" lang="en" sz="2400">
                <a:latin typeface="Old Standard TT"/>
                <a:ea typeface="Old Standard TT"/>
                <a:cs typeface="Old Standard TT"/>
                <a:sym typeface="Old Standard TT"/>
              </a:rPr>
              <a:t> children find themselves in </a:t>
            </a:r>
            <a:endParaRPr b="1" sz="2400">
              <a:latin typeface="Old Standard TT"/>
              <a:ea typeface="Old Standard TT"/>
              <a:cs typeface="Old Standard TT"/>
              <a:sym typeface="Old Standard TT"/>
            </a:endParaRPr>
          </a:p>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Canada’s child welfare system, separated from their parents?</a:t>
            </a:r>
            <a:endParaRPr sz="2400">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1846350" y="666600"/>
            <a:ext cx="5451300" cy="3810300"/>
          </a:xfrm>
          <a:prstGeom prst="rect">
            <a:avLst/>
          </a:prstGeom>
          <a:solidFill>
            <a:srgbClr val="FFFFFF"/>
          </a:solidFill>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222222"/>
                </a:solidFill>
                <a:highlight>
                  <a:srgbClr val="FFFFFF"/>
                </a:highlight>
                <a:latin typeface="Old Standard TT"/>
                <a:ea typeface="Old Standard TT"/>
                <a:cs typeface="Old Standard TT"/>
                <a:sym typeface="Old Standard TT"/>
              </a:rPr>
              <a:t>So, to sum it up, the Canadian government forced the past indigenous population into residential schools. </a:t>
            </a:r>
            <a:endParaRPr>
              <a:solidFill>
                <a:srgbClr val="222222"/>
              </a:solidFill>
              <a:highlight>
                <a:srgbClr val="FFFFFF"/>
              </a:highlight>
              <a:latin typeface="Old Standard TT"/>
              <a:ea typeface="Old Standard TT"/>
              <a:cs typeface="Old Standard TT"/>
              <a:sym typeface="Old Standard TT"/>
            </a:endParaRPr>
          </a:p>
          <a:p>
            <a:pPr indent="0" lvl="0" marL="0" rtl="0" algn="ctr">
              <a:lnSpc>
                <a:spcPct val="100000"/>
              </a:lnSpc>
              <a:spcBef>
                <a:spcPts val="0"/>
              </a:spcBef>
              <a:spcAft>
                <a:spcPts val="0"/>
              </a:spcAft>
              <a:buNone/>
            </a:pPr>
            <a:r>
              <a:t/>
            </a:r>
            <a:endParaRPr>
              <a:solidFill>
                <a:srgbClr val="222222"/>
              </a:solidFill>
              <a:highlight>
                <a:srgbClr val="FFFFFF"/>
              </a:highlight>
              <a:latin typeface="Old Standard TT"/>
              <a:ea typeface="Old Standard TT"/>
              <a:cs typeface="Old Standard TT"/>
              <a:sym typeface="Old Standard TT"/>
            </a:endParaRPr>
          </a:p>
          <a:p>
            <a:pPr indent="0" lvl="0" marL="0" rtl="0" algn="ctr">
              <a:lnSpc>
                <a:spcPct val="100000"/>
              </a:lnSpc>
              <a:spcBef>
                <a:spcPts val="0"/>
              </a:spcBef>
              <a:spcAft>
                <a:spcPts val="0"/>
              </a:spcAft>
              <a:buNone/>
            </a:pPr>
            <a:r>
              <a:rPr lang="en">
                <a:solidFill>
                  <a:srgbClr val="222222"/>
                </a:solidFill>
                <a:highlight>
                  <a:srgbClr val="FFFFFF"/>
                </a:highlight>
                <a:latin typeface="Old Standard TT"/>
                <a:ea typeface="Old Standard TT"/>
                <a:cs typeface="Old Standard TT"/>
                <a:sym typeface="Old Standard TT"/>
              </a:rPr>
              <a:t>This led to trauma, which then led to an inability to care for the next generation.</a:t>
            </a:r>
            <a:endParaRPr>
              <a:solidFill>
                <a:srgbClr val="222222"/>
              </a:solidFill>
              <a:highlight>
                <a:srgbClr val="FFFFFF"/>
              </a:highlight>
              <a:latin typeface="Old Standard TT"/>
              <a:ea typeface="Old Standard TT"/>
              <a:cs typeface="Old Standard TT"/>
              <a:sym typeface="Old Standard TT"/>
            </a:endParaRPr>
          </a:p>
          <a:p>
            <a:pPr indent="0" lvl="0" marL="0" rtl="0" algn="ctr">
              <a:lnSpc>
                <a:spcPct val="100000"/>
              </a:lnSpc>
              <a:spcBef>
                <a:spcPts val="0"/>
              </a:spcBef>
              <a:spcAft>
                <a:spcPts val="0"/>
              </a:spcAft>
              <a:buNone/>
            </a:pPr>
            <a:r>
              <a:t/>
            </a:r>
            <a:endParaRPr>
              <a:solidFill>
                <a:srgbClr val="222222"/>
              </a:solidFill>
              <a:highlight>
                <a:srgbClr val="FFFFFF"/>
              </a:highlight>
              <a:latin typeface="Old Standard TT"/>
              <a:ea typeface="Old Standard TT"/>
              <a:cs typeface="Old Standard TT"/>
              <a:sym typeface="Old Standard TT"/>
            </a:endParaRPr>
          </a:p>
          <a:p>
            <a:pPr indent="0" lvl="0" marL="0" rtl="0" algn="ctr">
              <a:lnSpc>
                <a:spcPct val="100000"/>
              </a:lnSpc>
              <a:spcBef>
                <a:spcPts val="0"/>
              </a:spcBef>
              <a:spcAft>
                <a:spcPts val="0"/>
              </a:spcAft>
              <a:buNone/>
            </a:pPr>
            <a:r>
              <a:rPr lang="en">
                <a:solidFill>
                  <a:srgbClr val="222222"/>
                </a:solidFill>
                <a:highlight>
                  <a:srgbClr val="FFFFFF"/>
                </a:highlight>
                <a:latin typeface="Old Standard TT"/>
                <a:ea typeface="Old Standard TT"/>
                <a:cs typeface="Old Standard TT"/>
                <a:sym typeface="Old Standard TT"/>
              </a:rPr>
              <a:t>This resulted in much of the next generation being placed in Canada’s child welfare system. </a:t>
            </a:r>
            <a:endParaRPr>
              <a:solidFill>
                <a:srgbClr val="222222"/>
              </a:solidFill>
              <a:highlight>
                <a:srgbClr val="FFFFFF"/>
              </a:highlight>
              <a:latin typeface="Old Standard TT"/>
              <a:ea typeface="Old Standard TT"/>
              <a:cs typeface="Old Standard TT"/>
              <a:sym typeface="Old Standard TT"/>
            </a:endParaRPr>
          </a:p>
          <a:p>
            <a:pPr indent="0" lvl="0" marL="0" rtl="0" algn="ctr">
              <a:lnSpc>
                <a:spcPct val="100000"/>
              </a:lnSpc>
              <a:spcBef>
                <a:spcPts val="0"/>
              </a:spcBef>
              <a:spcAft>
                <a:spcPts val="0"/>
              </a:spcAft>
              <a:buNone/>
            </a:pPr>
            <a:r>
              <a:t/>
            </a:r>
            <a:endParaRPr>
              <a:solidFill>
                <a:srgbClr val="222222"/>
              </a:solidFill>
              <a:highlight>
                <a:srgbClr val="FFFFFF"/>
              </a:highlight>
              <a:latin typeface="Old Standard TT"/>
              <a:ea typeface="Old Standard TT"/>
              <a:cs typeface="Old Standard TT"/>
              <a:sym typeface="Old Standard TT"/>
            </a:endParaRPr>
          </a:p>
          <a:p>
            <a:pPr indent="0" lvl="0" marL="0" rtl="0" algn="ctr">
              <a:lnSpc>
                <a:spcPct val="100000"/>
              </a:lnSpc>
              <a:spcBef>
                <a:spcPts val="0"/>
              </a:spcBef>
              <a:spcAft>
                <a:spcPts val="0"/>
              </a:spcAft>
              <a:buNone/>
            </a:pPr>
            <a:r>
              <a:rPr lang="en">
                <a:solidFill>
                  <a:srgbClr val="222222"/>
                </a:solidFill>
                <a:highlight>
                  <a:srgbClr val="FFFFFF"/>
                </a:highlight>
                <a:latin typeface="Old Standard TT"/>
                <a:ea typeface="Old Standard TT"/>
                <a:cs typeface="Old Standard TT"/>
                <a:sym typeface="Old Standard TT"/>
              </a:rPr>
              <a:t>This </a:t>
            </a:r>
            <a:r>
              <a:rPr lang="en">
                <a:solidFill>
                  <a:srgbClr val="222222"/>
                </a:solidFill>
                <a:highlight>
                  <a:srgbClr val="FFFFFF"/>
                </a:highlight>
                <a:latin typeface="Old Standard TT"/>
                <a:ea typeface="Old Standard TT"/>
                <a:cs typeface="Old Standard TT"/>
                <a:sym typeface="Old Standard TT"/>
              </a:rPr>
              <a:t>led and still leads</a:t>
            </a:r>
            <a:r>
              <a:rPr lang="en">
                <a:solidFill>
                  <a:srgbClr val="222222"/>
                </a:solidFill>
                <a:highlight>
                  <a:srgbClr val="FFFFFF"/>
                </a:highlight>
                <a:latin typeface="Old Standard TT"/>
                <a:ea typeface="Old Standard TT"/>
                <a:cs typeface="Old Standard TT"/>
                <a:sym typeface="Old Standard TT"/>
              </a:rPr>
              <a:t> </a:t>
            </a:r>
            <a:r>
              <a:rPr lang="en">
                <a:solidFill>
                  <a:srgbClr val="222222"/>
                </a:solidFill>
                <a:highlight>
                  <a:srgbClr val="FFFFFF"/>
                </a:highlight>
                <a:latin typeface="Old Standard TT"/>
                <a:ea typeface="Old Standard TT"/>
                <a:cs typeface="Old Standard TT"/>
                <a:sym typeface="Old Standard TT"/>
              </a:rPr>
              <a:t>to</a:t>
            </a:r>
            <a:r>
              <a:rPr lang="en">
                <a:solidFill>
                  <a:srgbClr val="222222"/>
                </a:solidFill>
                <a:highlight>
                  <a:srgbClr val="FFFFFF"/>
                </a:highlight>
                <a:latin typeface="Old Standard TT"/>
                <a:ea typeface="Old Standard TT"/>
                <a:cs typeface="Old Standard TT"/>
                <a:sym typeface="Old Standard TT"/>
              </a:rPr>
              <a:t> homelessness, substance abuse, and sexual exploitation amongst many contemporary indigenous youth - of which women and girls are especially vulnerable to.</a:t>
            </a:r>
            <a:endParaRPr>
              <a:solidFill>
                <a:srgbClr val="000000"/>
              </a:solidFill>
              <a:highlight>
                <a:srgbClr val="FFFFFF"/>
              </a:highlight>
              <a:latin typeface="Old Standard TT"/>
              <a:ea typeface="Old Standard TT"/>
              <a:cs typeface="Old Standard TT"/>
              <a:sym typeface="Old Standard TT"/>
            </a:endParaRPr>
          </a:p>
          <a:p>
            <a:pPr indent="0" lvl="0" marL="0" rtl="0" algn="ctr">
              <a:spcBef>
                <a:spcPts val="0"/>
              </a:spcBef>
              <a:spcAft>
                <a:spcPts val="0"/>
              </a:spcAft>
              <a:buNone/>
            </a:pPr>
            <a:r>
              <a:t/>
            </a:r>
            <a:endParaRPr>
              <a:solidFill>
                <a:srgbClr val="000000"/>
              </a:solidFill>
              <a:latin typeface="Old Standard TT"/>
              <a:ea typeface="Old Standard TT"/>
              <a:cs typeface="Old Standard TT"/>
              <a:sym typeface="Old Standard T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idx="1" type="body"/>
          </p:nvPr>
        </p:nvSpPr>
        <p:spPr>
          <a:xfrm>
            <a:off x="71400" y="1074950"/>
            <a:ext cx="9001200" cy="3973800"/>
          </a:xfrm>
          <a:prstGeom prst="rect">
            <a:avLst/>
          </a:prstGeom>
          <a:solidFill>
            <a:srgbClr val="FFFFFF"/>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rgbClr val="000000"/>
                </a:solidFill>
                <a:highlight>
                  <a:srgbClr val="FFFFFF"/>
                </a:highlight>
                <a:latin typeface="Old Standard TT"/>
                <a:ea typeface="Old Standard TT"/>
                <a:cs typeface="Old Standard TT"/>
                <a:sym typeface="Old Standard TT"/>
              </a:rPr>
              <a:t>Only some of many examples:</a:t>
            </a:r>
            <a:endParaRPr sz="1400">
              <a:solidFill>
                <a:srgbClr val="000000"/>
              </a:solidFill>
              <a:highlight>
                <a:srgbClr val="FFFFFF"/>
              </a:highlight>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400">
              <a:solidFill>
                <a:srgbClr val="000000"/>
              </a:solidFill>
              <a:highlight>
                <a:srgbClr val="FFFFFF"/>
              </a:highlight>
              <a:latin typeface="Old Standard TT"/>
              <a:ea typeface="Old Standard TT"/>
              <a:cs typeface="Old Standard TT"/>
              <a:sym typeface="Old Standard TT"/>
            </a:endParaRPr>
          </a:p>
          <a:p>
            <a:pPr indent="-317500" lvl="0" marL="457200" rtl="0" algn="l">
              <a:lnSpc>
                <a:spcPct val="100000"/>
              </a:lnSpc>
              <a:spcBef>
                <a:spcPts val="0"/>
              </a:spcBef>
              <a:spcAft>
                <a:spcPts val="0"/>
              </a:spcAft>
              <a:buClr>
                <a:srgbClr val="000000"/>
              </a:buClr>
              <a:buSzPts val="1400"/>
              <a:buFont typeface="Old Standard TT"/>
              <a:buChar char="●"/>
            </a:pPr>
            <a:r>
              <a:rPr b="1" lang="en" sz="1400">
                <a:solidFill>
                  <a:srgbClr val="000000"/>
                </a:solidFill>
                <a:highlight>
                  <a:srgbClr val="FFFFFF"/>
                </a:highlight>
                <a:latin typeface="Old Standard TT"/>
                <a:ea typeface="Old Standard TT"/>
                <a:cs typeface="Old Standard TT"/>
                <a:sym typeface="Old Standard TT"/>
              </a:rPr>
              <a:t>Drag the Red</a:t>
            </a:r>
            <a:endParaRPr b="1" sz="1400">
              <a:solidFill>
                <a:srgbClr val="000000"/>
              </a:solidFill>
              <a:highlight>
                <a:srgbClr val="FFFFFF"/>
              </a:highlight>
              <a:latin typeface="Old Standard TT"/>
              <a:ea typeface="Old Standard TT"/>
              <a:cs typeface="Old Standard TT"/>
              <a:sym typeface="Old Standard TT"/>
            </a:endParaRPr>
          </a:p>
          <a:p>
            <a:pPr indent="-317500" lvl="1" marL="914400" rtl="0" algn="l">
              <a:lnSpc>
                <a:spcPct val="100000"/>
              </a:lnSpc>
              <a:spcBef>
                <a:spcPts val="0"/>
              </a:spcBef>
              <a:spcAft>
                <a:spcPts val="0"/>
              </a:spcAft>
              <a:buClr>
                <a:srgbClr val="000000"/>
              </a:buClr>
              <a:buSzPts val="1400"/>
              <a:buFont typeface="Old Standard TT"/>
              <a:buChar char="○"/>
            </a:pPr>
            <a:r>
              <a:rPr lang="en">
                <a:solidFill>
                  <a:srgbClr val="000000"/>
                </a:solidFill>
                <a:highlight>
                  <a:srgbClr val="FFFFFF"/>
                </a:highlight>
                <a:latin typeface="Old Standard TT"/>
                <a:ea typeface="Old Standard TT"/>
                <a:cs typeface="Old Standard TT"/>
                <a:sym typeface="Old Standard TT"/>
              </a:rPr>
              <a:t>Indigenous activists search the Red River in Manitoba themselves, looking for human remains of missing and murdered indigenous women </a:t>
            </a:r>
            <a:endParaRPr>
              <a:solidFill>
                <a:srgbClr val="000000"/>
              </a:solidFill>
              <a:highlight>
                <a:srgbClr val="FFFFFF"/>
              </a:highlight>
              <a:latin typeface="Old Standard TT"/>
              <a:ea typeface="Old Standard TT"/>
              <a:cs typeface="Old Standard TT"/>
              <a:sym typeface="Old Standard TT"/>
            </a:endParaRPr>
          </a:p>
          <a:p>
            <a:pPr indent="0" lvl="0" marL="914400" rtl="0" algn="l">
              <a:lnSpc>
                <a:spcPct val="100000"/>
              </a:lnSpc>
              <a:spcBef>
                <a:spcPts val="0"/>
              </a:spcBef>
              <a:spcAft>
                <a:spcPts val="0"/>
              </a:spcAft>
              <a:buNone/>
            </a:pPr>
            <a:r>
              <a:t/>
            </a:r>
            <a:endParaRPr>
              <a:solidFill>
                <a:srgbClr val="000000"/>
              </a:solidFill>
              <a:highlight>
                <a:srgbClr val="FFFFFF"/>
              </a:highlight>
              <a:latin typeface="Old Standard TT"/>
              <a:ea typeface="Old Standard TT"/>
              <a:cs typeface="Old Standard TT"/>
              <a:sym typeface="Old Standard TT"/>
            </a:endParaRPr>
          </a:p>
          <a:p>
            <a:pPr indent="-317500" lvl="0" marL="457200" rtl="0" algn="l">
              <a:lnSpc>
                <a:spcPct val="100000"/>
              </a:lnSpc>
              <a:spcBef>
                <a:spcPts val="0"/>
              </a:spcBef>
              <a:spcAft>
                <a:spcPts val="0"/>
              </a:spcAft>
              <a:buClr>
                <a:srgbClr val="000000"/>
              </a:buClr>
              <a:buSzPts val="1400"/>
              <a:buFont typeface="Old Standard TT"/>
              <a:buChar char="●"/>
            </a:pPr>
            <a:r>
              <a:rPr b="1" lang="en" sz="1400">
                <a:solidFill>
                  <a:srgbClr val="000000"/>
                </a:solidFill>
                <a:highlight>
                  <a:srgbClr val="FFFFFF"/>
                </a:highlight>
                <a:latin typeface="Old Standard TT"/>
                <a:ea typeface="Old Standard TT"/>
                <a:cs typeface="Old Standard TT"/>
                <a:sym typeface="Old Standard TT"/>
              </a:rPr>
              <a:t>Claudette Osborne</a:t>
            </a:r>
            <a:endParaRPr b="1" sz="1400">
              <a:solidFill>
                <a:srgbClr val="000000"/>
              </a:solidFill>
              <a:highlight>
                <a:srgbClr val="FFFFFF"/>
              </a:highlight>
              <a:latin typeface="Old Standard TT"/>
              <a:ea typeface="Old Standard TT"/>
              <a:cs typeface="Old Standard TT"/>
              <a:sym typeface="Old Standard TT"/>
            </a:endParaRPr>
          </a:p>
          <a:p>
            <a:pPr indent="-317500" lvl="1" marL="914400" rtl="0" algn="l">
              <a:lnSpc>
                <a:spcPct val="100000"/>
              </a:lnSpc>
              <a:spcBef>
                <a:spcPts val="0"/>
              </a:spcBef>
              <a:spcAft>
                <a:spcPts val="0"/>
              </a:spcAft>
              <a:buClr>
                <a:srgbClr val="000000"/>
              </a:buClr>
              <a:buSzPts val="1400"/>
              <a:buFont typeface="Old Standard TT"/>
              <a:buChar char="○"/>
            </a:pPr>
            <a:r>
              <a:rPr lang="en">
                <a:solidFill>
                  <a:srgbClr val="000000"/>
                </a:solidFill>
                <a:highlight>
                  <a:srgbClr val="FFFFFF"/>
                </a:highlight>
                <a:latin typeface="Old Standard TT"/>
                <a:ea typeface="Old Standard TT"/>
                <a:cs typeface="Old Standard TT"/>
                <a:sym typeface="Old Standard TT"/>
              </a:rPr>
              <a:t>Her family led her own investigation themselves - put up posters, talked to witnesses, followed up on her whereabouts </a:t>
            </a:r>
            <a:endParaRPr>
              <a:solidFill>
                <a:srgbClr val="000000"/>
              </a:solidFill>
              <a:highlight>
                <a:srgbClr val="FFFFFF"/>
              </a:highlight>
              <a:latin typeface="Old Standard TT"/>
              <a:ea typeface="Old Standard TT"/>
              <a:cs typeface="Old Standard TT"/>
              <a:sym typeface="Old Standard TT"/>
            </a:endParaRPr>
          </a:p>
          <a:p>
            <a:pPr indent="0" lvl="0" marL="914400" rtl="0" algn="l">
              <a:lnSpc>
                <a:spcPct val="100000"/>
              </a:lnSpc>
              <a:spcBef>
                <a:spcPts val="0"/>
              </a:spcBef>
              <a:spcAft>
                <a:spcPts val="0"/>
              </a:spcAft>
              <a:buNone/>
            </a:pPr>
            <a:r>
              <a:t/>
            </a:r>
            <a:endParaRPr>
              <a:solidFill>
                <a:srgbClr val="000000"/>
              </a:solidFill>
              <a:highlight>
                <a:srgbClr val="FFFFFF"/>
              </a:highlight>
              <a:latin typeface="Old Standard TT"/>
              <a:ea typeface="Old Standard TT"/>
              <a:cs typeface="Old Standard TT"/>
              <a:sym typeface="Old Standard TT"/>
            </a:endParaRPr>
          </a:p>
          <a:p>
            <a:pPr indent="-317500" lvl="0" marL="457200" rtl="0" algn="l">
              <a:lnSpc>
                <a:spcPct val="100000"/>
              </a:lnSpc>
              <a:spcBef>
                <a:spcPts val="0"/>
              </a:spcBef>
              <a:spcAft>
                <a:spcPts val="0"/>
              </a:spcAft>
              <a:buClr>
                <a:srgbClr val="000000"/>
              </a:buClr>
              <a:buSzPts val="1400"/>
              <a:buFont typeface="Old Standard TT"/>
              <a:buChar char="●"/>
            </a:pPr>
            <a:r>
              <a:rPr b="1" lang="en" sz="1400">
                <a:solidFill>
                  <a:srgbClr val="000000"/>
                </a:solidFill>
                <a:highlight>
                  <a:srgbClr val="FFFFFF"/>
                </a:highlight>
                <a:latin typeface="Old Standard TT"/>
                <a:ea typeface="Old Standard TT"/>
                <a:cs typeface="Old Standard TT"/>
                <a:sym typeface="Old Standard TT"/>
              </a:rPr>
              <a:t>Midnight Medicine Walk</a:t>
            </a:r>
            <a:endParaRPr b="1" sz="1400">
              <a:solidFill>
                <a:srgbClr val="000000"/>
              </a:solidFill>
              <a:highlight>
                <a:srgbClr val="FFFFFF"/>
              </a:highlight>
              <a:latin typeface="Old Standard TT"/>
              <a:ea typeface="Old Standard TT"/>
              <a:cs typeface="Old Standard TT"/>
              <a:sym typeface="Old Standard TT"/>
            </a:endParaRPr>
          </a:p>
          <a:p>
            <a:pPr indent="-317500" lvl="1" marL="914400" rtl="0" algn="l">
              <a:lnSpc>
                <a:spcPct val="100000"/>
              </a:lnSpc>
              <a:spcBef>
                <a:spcPts val="0"/>
              </a:spcBef>
              <a:spcAft>
                <a:spcPts val="0"/>
              </a:spcAft>
              <a:buClr>
                <a:srgbClr val="000000"/>
              </a:buClr>
              <a:buSzPts val="1400"/>
              <a:buFont typeface="Old Standard TT"/>
              <a:buChar char="○"/>
            </a:pPr>
            <a:r>
              <a:rPr lang="en">
                <a:solidFill>
                  <a:srgbClr val="000000"/>
                </a:solidFill>
                <a:highlight>
                  <a:srgbClr val="FFFFFF"/>
                </a:highlight>
                <a:latin typeface="Old Standard TT"/>
                <a:ea typeface="Old Standard TT"/>
                <a:cs typeface="Old Standard TT"/>
                <a:sym typeface="Old Standard TT"/>
              </a:rPr>
              <a:t>The purpose of which is 1) to reach out to women that are being sexually exploited, to offer them prayers and medicine, and to let them know they are being watched after and 2) to send a message to the men that pray on them that they are being watched by the community</a:t>
            </a:r>
            <a:endParaRPr>
              <a:solidFill>
                <a:srgbClr val="000000"/>
              </a:solidFill>
              <a:highlight>
                <a:srgbClr val="FFFFFF"/>
              </a:highlight>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a:solidFill>
                <a:srgbClr val="000000"/>
              </a:solidFill>
              <a:highlight>
                <a:srgbClr val="FFFFFF"/>
              </a:highlight>
              <a:latin typeface="Old Standard TT"/>
              <a:ea typeface="Old Standard TT"/>
              <a:cs typeface="Old Standard TT"/>
              <a:sym typeface="Old Standard TT"/>
            </a:endParaRPr>
          </a:p>
          <a:p>
            <a:pPr indent="-317500" lvl="0" marL="457200" rtl="0" algn="l">
              <a:lnSpc>
                <a:spcPct val="100000"/>
              </a:lnSpc>
              <a:spcBef>
                <a:spcPts val="0"/>
              </a:spcBef>
              <a:spcAft>
                <a:spcPts val="0"/>
              </a:spcAft>
              <a:buClr>
                <a:srgbClr val="000000"/>
              </a:buClr>
              <a:buSzPts val="1400"/>
              <a:buFont typeface="Old Standard TT"/>
              <a:buChar char="●"/>
            </a:pPr>
            <a:r>
              <a:rPr b="1" lang="en" sz="1400">
                <a:solidFill>
                  <a:srgbClr val="000000"/>
                </a:solidFill>
                <a:highlight>
                  <a:srgbClr val="FFFFFF"/>
                </a:highlight>
                <a:latin typeface="Old Standard TT"/>
                <a:ea typeface="Old Standard TT"/>
                <a:cs typeface="Old Standard TT"/>
                <a:sym typeface="Old Standard TT"/>
              </a:rPr>
              <a:t>Bear Clan Patrol</a:t>
            </a:r>
            <a:endParaRPr b="1" sz="1400">
              <a:solidFill>
                <a:srgbClr val="000000"/>
              </a:solidFill>
              <a:highlight>
                <a:srgbClr val="FFFFFF"/>
              </a:highlight>
              <a:latin typeface="Old Standard TT"/>
              <a:ea typeface="Old Standard TT"/>
              <a:cs typeface="Old Standard TT"/>
              <a:sym typeface="Old Standard TT"/>
            </a:endParaRPr>
          </a:p>
          <a:p>
            <a:pPr indent="-317500" lvl="1" marL="914400" rtl="0" algn="l">
              <a:lnSpc>
                <a:spcPct val="100000"/>
              </a:lnSpc>
              <a:spcBef>
                <a:spcPts val="0"/>
              </a:spcBef>
              <a:spcAft>
                <a:spcPts val="0"/>
              </a:spcAft>
              <a:buClr>
                <a:srgbClr val="000000"/>
              </a:buClr>
              <a:buSzPts val="1400"/>
              <a:buFont typeface="Old Standard TT"/>
              <a:buChar char="○"/>
            </a:pPr>
            <a:r>
              <a:rPr lang="en">
                <a:solidFill>
                  <a:srgbClr val="000000"/>
                </a:solidFill>
                <a:highlight>
                  <a:srgbClr val="FFFFFF"/>
                </a:highlight>
                <a:latin typeface="Old Standard TT"/>
                <a:ea typeface="Old Standard TT"/>
                <a:cs typeface="Old Standard TT"/>
                <a:sym typeface="Old Standard TT"/>
              </a:rPr>
              <a:t>C</a:t>
            </a:r>
            <a:r>
              <a:rPr lang="en">
                <a:solidFill>
                  <a:srgbClr val="000000"/>
                </a:solidFill>
                <a:highlight>
                  <a:srgbClr val="FFFFFF"/>
                </a:highlight>
                <a:latin typeface="Old Standard TT"/>
                <a:ea typeface="Old Standard TT"/>
                <a:cs typeface="Old Standard TT"/>
                <a:sym typeface="Old Standard TT"/>
              </a:rPr>
              <a:t>ommunity safety patrol that operates in dangerous neighborhoods </a:t>
            </a:r>
            <a:endParaRPr>
              <a:solidFill>
                <a:srgbClr val="000000"/>
              </a:solidFill>
              <a:highlight>
                <a:srgbClr val="FFFFFF"/>
              </a:highlight>
              <a:latin typeface="Old Standard TT"/>
              <a:ea typeface="Old Standard TT"/>
              <a:cs typeface="Old Standard TT"/>
              <a:sym typeface="Old Standard TT"/>
            </a:endParaRPr>
          </a:p>
          <a:p>
            <a:pPr indent="0" lvl="0" marL="0" rtl="0" algn="l">
              <a:spcBef>
                <a:spcPts val="0"/>
              </a:spcBef>
              <a:spcAft>
                <a:spcPts val="0"/>
              </a:spcAft>
              <a:buNone/>
            </a:pPr>
            <a:r>
              <a:t/>
            </a:r>
            <a:endParaRPr sz="1400">
              <a:solidFill>
                <a:srgbClr val="000000"/>
              </a:solidFill>
              <a:latin typeface="Old Standard TT"/>
              <a:ea typeface="Old Standard TT"/>
              <a:cs typeface="Old Standard TT"/>
              <a:sym typeface="Old Standard TT"/>
            </a:endParaRPr>
          </a:p>
        </p:txBody>
      </p:sp>
      <p:sp>
        <p:nvSpPr>
          <p:cNvPr id="93" name="Google Shape;93;p19"/>
          <p:cNvSpPr txBox="1"/>
          <p:nvPr/>
        </p:nvSpPr>
        <p:spPr>
          <a:xfrm>
            <a:off x="71400" y="60300"/>
            <a:ext cx="9001200" cy="9555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Police response to missing/murdered indigenous women and girls has been insufficient. What steps are indigenous activists taking?</a:t>
            </a:r>
            <a:endParaRPr sz="2400">
              <a:latin typeface="Old Standard TT"/>
              <a:ea typeface="Old Standard TT"/>
              <a:cs typeface="Old Standard TT"/>
              <a:sym typeface="Old Standard T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71400" y="1519325"/>
            <a:ext cx="9001200" cy="2791800"/>
          </a:xfrm>
          <a:prstGeom prst="rect">
            <a:avLst/>
          </a:prstGeom>
          <a:solidFill>
            <a:srgbClr val="FFFFFF"/>
          </a:solidFill>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rgbClr val="000000"/>
              </a:buClr>
              <a:buSzPts val="1700"/>
              <a:buFont typeface="Old Standard TT"/>
              <a:buChar char="●"/>
            </a:pPr>
            <a:r>
              <a:rPr lang="en" sz="1700">
                <a:solidFill>
                  <a:srgbClr val="000000"/>
                </a:solidFill>
                <a:highlight>
                  <a:srgbClr val="FFFFFF"/>
                </a:highlight>
                <a:latin typeface="Old Standard TT"/>
                <a:ea typeface="Old Standard TT"/>
                <a:cs typeface="Old Standard TT"/>
                <a:sym typeface="Old Standard TT"/>
              </a:rPr>
              <a:t>Stephen Harper and his conservative government did not recognize this as an issue</a:t>
            </a:r>
            <a:endParaRPr sz="1700">
              <a:solidFill>
                <a:srgbClr val="000000"/>
              </a:solidFill>
              <a:highlight>
                <a:srgbClr val="FFFFFF"/>
              </a:highlight>
              <a:latin typeface="Old Standard TT"/>
              <a:ea typeface="Old Standard TT"/>
              <a:cs typeface="Old Standard TT"/>
              <a:sym typeface="Old Standard TT"/>
            </a:endParaRPr>
          </a:p>
          <a:p>
            <a:pPr indent="-336550" lvl="0" marL="457200" rtl="0" algn="l">
              <a:lnSpc>
                <a:spcPct val="100000"/>
              </a:lnSpc>
              <a:spcBef>
                <a:spcPts val="0"/>
              </a:spcBef>
              <a:spcAft>
                <a:spcPts val="0"/>
              </a:spcAft>
              <a:buClr>
                <a:srgbClr val="000000"/>
              </a:buClr>
              <a:buSzPts val="1700"/>
              <a:buFont typeface="Old Standard TT"/>
              <a:buChar char="●"/>
            </a:pPr>
            <a:r>
              <a:rPr lang="en" sz="1700">
                <a:solidFill>
                  <a:srgbClr val="000000"/>
                </a:solidFill>
                <a:highlight>
                  <a:srgbClr val="FFFFFF"/>
                </a:highlight>
                <a:latin typeface="Old Standard TT"/>
                <a:ea typeface="Old Standard TT"/>
                <a:cs typeface="Old Standard TT"/>
                <a:sym typeface="Old Standard TT"/>
              </a:rPr>
              <a:t>Justin Trudeau and his liberal government initiated the national inquiry</a:t>
            </a:r>
            <a:endParaRPr sz="1700">
              <a:solidFill>
                <a:srgbClr val="000000"/>
              </a:solidFill>
              <a:highlight>
                <a:srgbClr val="FFFFFF"/>
              </a:highlight>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700">
              <a:solidFill>
                <a:srgbClr val="000000"/>
              </a:solidFill>
              <a:highlight>
                <a:srgbClr val="FFFFFF"/>
              </a:highlight>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lang="en" sz="1700">
                <a:solidFill>
                  <a:srgbClr val="000000"/>
                </a:solidFill>
                <a:highlight>
                  <a:srgbClr val="FFFFFF"/>
                </a:highlight>
                <a:latin typeface="Old Standard TT"/>
                <a:ea typeface="Old Standard TT"/>
                <a:cs typeface="Old Standard TT"/>
                <a:sym typeface="Old Standard TT"/>
              </a:rPr>
              <a:t>Its job?</a:t>
            </a:r>
            <a:endParaRPr sz="1700">
              <a:solidFill>
                <a:srgbClr val="000000"/>
              </a:solidFill>
              <a:highlight>
                <a:srgbClr val="FFFFFF"/>
              </a:highlight>
              <a:latin typeface="Old Standard TT"/>
              <a:ea typeface="Old Standard TT"/>
              <a:cs typeface="Old Standard TT"/>
              <a:sym typeface="Old Standard TT"/>
            </a:endParaRPr>
          </a:p>
          <a:p>
            <a:pPr indent="-336550" lvl="0" marL="457200" rtl="0" algn="l">
              <a:lnSpc>
                <a:spcPct val="100000"/>
              </a:lnSpc>
              <a:spcBef>
                <a:spcPts val="0"/>
              </a:spcBef>
              <a:spcAft>
                <a:spcPts val="0"/>
              </a:spcAft>
              <a:buClr>
                <a:srgbClr val="000000"/>
              </a:buClr>
              <a:buSzPts val="1700"/>
              <a:buFont typeface="Old Standard TT"/>
              <a:buChar char="●"/>
            </a:pPr>
            <a:r>
              <a:rPr lang="en" sz="1700">
                <a:solidFill>
                  <a:srgbClr val="000000"/>
                </a:solidFill>
                <a:highlight>
                  <a:srgbClr val="FFFFFF"/>
                </a:highlight>
                <a:latin typeface="Old Standard TT"/>
                <a:ea typeface="Old Standard TT"/>
                <a:cs typeface="Old Standard TT"/>
                <a:sym typeface="Old Standard TT"/>
              </a:rPr>
              <a:t>Examine the systemic causes of violence against indigenous women</a:t>
            </a:r>
            <a:endParaRPr sz="1700">
              <a:solidFill>
                <a:srgbClr val="000000"/>
              </a:solidFill>
              <a:highlight>
                <a:srgbClr val="FFFFFF"/>
              </a:highlight>
              <a:latin typeface="Old Standard TT"/>
              <a:ea typeface="Old Standard TT"/>
              <a:cs typeface="Old Standard TT"/>
              <a:sym typeface="Old Standard TT"/>
            </a:endParaRPr>
          </a:p>
          <a:p>
            <a:pPr indent="-336550" lvl="0" marL="457200" rtl="0" algn="l">
              <a:lnSpc>
                <a:spcPct val="100000"/>
              </a:lnSpc>
              <a:spcBef>
                <a:spcPts val="0"/>
              </a:spcBef>
              <a:spcAft>
                <a:spcPts val="0"/>
              </a:spcAft>
              <a:buClr>
                <a:srgbClr val="000000"/>
              </a:buClr>
              <a:buSzPts val="1700"/>
              <a:buFont typeface="Old Standard TT"/>
              <a:buChar char="●"/>
            </a:pPr>
            <a:r>
              <a:rPr lang="en" sz="1700">
                <a:solidFill>
                  <a:srgbClr val="000000"/>
                </a:solidFill>
                <a:highlight>
                  <a:srgbClr val="FFFFFF"/>
                </a:highlight>
                <a:latin typeface="Old Standard TT"/>
                <a:ea typeface="Old Standard TT"/>
                <a:cs typeface="Old Standard TT"/>
                <a:sym typeface="Old Standard TT"/>
              </a:rPr>
              <a:t>Offer recommendations on how to keep them safe</a:t>
            </a:r>
            <a:endParaRPr sz="1700">
              <a:solidFill>
                <a:srgbClr val="000000"/>
              </a:solidFill>
              <a:highlight>
                <a:srgbClr val="FFFFFF"/>
              </a:highlight>
              <a:latin typeface="Old Standard TT"/>
              <a:ea typeface="Old Standard TT"/>
              <a:cs typeface="Old Standard TT"/>
              <a:sym typeface="Old Standard TT"/>
            </a:endParaRPr>
          </a:p>
          <a:p>
            <a:pPr indent="0" lvl="0" marL="914400" rtl="0" algn="l">
              <a:lnSpc>
                <a:spcPct val="100000"/>
              </a:lnSpc>
              <a:spcBef>
                <a:spcPts val="0"/>
              </a:spcBef>
              <a:spcAft>
                <a:spcPts val="0"/>
              </a:spcAft>
              <a:buNone/>
            </a:pPr>
            <a:r>
              <a:t/>
            </a:r>
            <a:endParaRPr sz="1700">
              <a:solidFill>
                <a:srgbClr val="000000"/>
              </a:solidFill>
              <a:highlight>
                <a:srgbClr val="FFFFFF"/>
              </a:highlight>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lang="en" sz="1700">
                <a:solidFill>
                  <a:srgbClr val="000000"/>
                </a:solidFill>
                <a:highlight>
                  <a:srgbClr val="FFFFFF"/>
                </a:highlight>
                <a:latin typeface="Old Standard TT"/>
                <a:ea typeface="Old Standard TT"/>
                <a:cs typeface="Old Standard TT"/>
                <a:sym typeface="Old Standard TT"/>
              </a:rPr>
              <a:t>But, what indigenous activists wanted was an </a:t>
            </a:r>
            <a:r>
              <a:rPr i="1" lang="en" sz="1700">
                <a:solidFill>
                  <a:srgbClr val="000000"/>
                </a:solidFill>
                <a:highlight>
                  <a:srgbClr val="FFFFFF"/>
                </a:highlight>
                <a:latin typeface="Old Standard TT"/>
                <a:ea typeface="Old Standard TT"/>
                <a:cs typeface="Old Standard TT"/>
                <a:sym typeface="Old Standard TT"/>
              </a:rPr>
              <a:t>action-plan</a:t>
            </a:r>
            <a:endParaRPr sz="1700">
              <a:solidFill>
                <a:srgbClr val="000000"/>
              </a:solidFill>
              <a:highlight>
                <a:srgbClr val="FFFFFF"/>
              </a:highlight>
              <a:latin typeface="Old Standard TT"/>
              <a:ea typeface="Old Standard TT"/>
              <a:cs typeface="Old Standard TT"/>
              <a:sym typeface="Old Standard TT"/>
            </a:endParaRPr>
          </a:p>
          <a:p>
            <a:pPr indent="-336550" lvl="0" marL="457200" rtl="0" algn="l">
              <a:lnSpc>
                <a:spcPct val="100000"/>
              </a:lnSpc>
              <a:spcBef>
                <a:spcPts val="0"/>
              </a:spcBef>
              <a:spcAft>
                <a:spcPts val="0"/>
              </a:spcAft>
              <a:buClr>
                <a:srgbClr val="000000"/>
              </a:buClr>
              <a:buSzPts val="1700"/>
              <a:buFont typeface="Old Standard TT"/>
              <a:buChar char="●"/>
            </a:pPr>
            <a:r>
              <a:rPr lang="en" sz="1700">
                <a:solidFill>
                  <a:srgbClr val="000000"/>
                </a:solidFill>
                <a:highlight>
                  <a:srgbClr val="FFFFFF"/>
                </a:highlight>
                <a:latin typeface="Old Standard TT"/>
                <a:ea typeface="Old Standard TT"/>
                <a:cs typeface="Old Standard TT"/>
                <a:sym typeface="Old Standard TT"/>
              </a:rPr>
              <a:t>They wanted resources and preventions put in place to stop violence from happening now</a:t>
            </a:r>
            <a:endParaRPr sz="1700">
              <a:solidFill>
                <a:srgbClr val="000000"/>
              </a:solidFill>
              <a:highlight>
                <a:srgbClr val="FFFFFF"/>
              </a:highlight>
              <a:latin typeface="Old Standard TT"/>
              <a:ea typeface="Old Standard TT"/>
              <a:cs typeface="Old Standard TT"/>
              <a:sym typeface="Old Standard TT"/>
            </a:endParaRPr>
          </a:p>
          <a:p>
            <a:pPr indent="-336550" lvl="0" marL="457200" rtl="0" algn="l">
              <a:lnSpc>
                <a:spcPct val="100000"/>
              </a:lnSpc>
              <a:spcBef>
                <a:spcPts val="0"/>
              </a:spcBef>
              <a:spcAft>
                <a:spcPts val="0"/>
              </a:spcAft>
              <a:buClr>
                <a:srgbClr val="000000"/>
              </a:buClr>
              <a:buSzPts val="1700"/>
              <a:buFont typeface="Old Standard TT"/>
              <a:buChar char="●"/>
            </a:pPr>
            <a:r>
              <a:rPr lang="en" sz="1700">
                <a:solidFill>
                  <a:srgbClr val="000000"/>
                </a:solidFill>
                <a:highlight>
                  <a:srgbClr val="FFFFFF"/>
                </a:highlight>
                <a:latin typeface="Old Standard TT"/>
                <a:ea typeface="Old Standard TT"/>
                <a:cs typeface="Old Standard TT"/>
                <a:sym typeface="Old Standard TT"/>
              </a:rPr>
              <a:t>They worry there will be no legal outcome as a result of the national inquiry</a:t>
            </a:r>
            <a:endParaRPr sz="1700">
              <a:solidFill>
                <a:srgbClr val="000000"/>
              </a:solidFill>
              <a:highlight>
                <a:srgbClr val="FFFFFF"/>
              </a:highlight>
              <a:latin typeface="Old Standard TT"/>
              <a:ea typeface="Old Standard TT"/>
              <a:cs typeface="Old Standard TT"/>
              <a:sym typeface="Old Standard TT"/>
            </a:endParaRPr>
          </a:p>
          <a:p>
            <a:pPr indent="0" lvl="0" marL="0" rtl="0" algn="l">
              <a:spcBef>
                <a:spcPts val="0"/>
              </a:spcBef>
              <a:spcAft>
                <a:spcPts val="0"/>
              </a:spcAft>
              <a:buNone/>
            </a:pPr>
            <a:r>
              <a:t/>
            </a:r>
            <a:endParaRPr sz="1700">
              <a:solidFill>
                <a:srgbClr val="000000"/>
              </a:solidFill>
              <a:latin typeface="Old Standard TT"/>
              <a:ea typeface="Old Standard TT"/>
              <a:cs typeface="Old Standard TT"/>
              <a:sym typeface="Old Standard TT"/>
            </a:endParaRPr>
          </a:p>
        </p:txBody>
      </p:sp>
      <p:sp>
        <p:nvSpPr>
          <p:cNvPr id="99" name="Google Shape;99;p20"/>
          <p:cNvSpPr txBox="1"/>
          <p:nvPr/>
        </p:nvSpPr>
        <p:spPr>
          <a:xfrm>
            <a:off x="71400" y="497650"/>
            <a:ext cx="9001200" cy="9555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Canada’s National Inquiry into Missing and </a:t>
            </a:r>
            <a:endParaRPr b="1" sz="2400">
              <a:latin typeface="Old Standard TT"/>
              <a:ea typeface="Old Standard TT"/>
              <a:cs typeface="Old Standard TT"/>
              <a:sym typeface="Old Standard TT"/>
            </a:endParaRPr>
          </a:p>
          <a:p>
            <a:pPr indent="0" lvl="0" marL="0" rtl="0" algn="ctr">
              <a:lnSpc>
                <a:spcPct val="115000"/>
              </a:lnSpc>
              <a:spcBef>
                <a:spcPts val="0"/>
              </a:spcBef>
              <a:spcAft>
                <a:spcPts val="0"/>
              </a:spcAft>
              <a:buNone/>
            </a:pPr>
            <a:r>
              <a:rPr b="1" lang="en" sz="2400">
                <a:latin typeface="Old Standard TT"/>
                <a:ea typeface="Old Standard TT"/>
                <a:cs typeface="Old Standard TT"/>
                <a:sym typeface="Old Standard TT"/>
              </a:rPr>
              <a:t>Murdered Indigenous Women and Girls</a:t>
            </a:r>
            <a:endParaRPr sz="2400">
              <a:latin typeface="Old Standard TT"/>
              <a:ea typeface="Old Standard TT"/>
              <a:cs typeface="Old Standard TT"/>
              <a:sym typeface="Old Standard T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ctrTitle"/>
          </p:nvPr>
        </p:nvSpPr>
        <p:spPr>
          <a:xfrm>
            <a:off x="0" y="2879550"/>
            <a:ext cx="9144000" cy="112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Old Standard TT"/>
                <a:ea typeface="Old Standard TT"/>
                <a:cs typeface="Old Standard TT"/>
                <a:sym typeface="Old Standard TT"/>
              </a:rPr>
              <a:t>Inquiry into Murdered and Missing Indigenous Women and Girls</a:t>
            </a:r>
            <a:endParaRPr sz="2400">
              <a:latin typeface="Old Standard TT"/>
              <a:ea typeface="Old Standard TT"/>
              <a:cs typeface="Old Standard TT"/>
              <a:sym typeface="Old Standard TT"/>
            </a:endParaRPr>
          </a:p>
          <a:p>
            <a:pPr indent="0" lvl="0" marL="0" rtl="0" algn="ctr">
              <a:spcBef>
                <a:spcPts val="0"/>
              </a:spcBef>
              <a:spcAft>
                <a:spcPts val="0"/>
              </a:spcAft>
              <a:buNone/>
            </a:pPr>
            <a:r>
              <a:rPr lang="en" sz="1800">
                <a:highlight>
                  <a:srgbClr val="FFFFFF"/>
                </a:highlight>
                <a:latin typeface="Old Standard TT"/>
                <a:ea typeface="Old Standard TT"/>
                <a:cs typeface="Old Standard TT"/>
                <a:sym typeface="Old Standard TT"/>
              </a:rPr>
              <a:t>Final Report 2019</a:t>
            </a:r>
            <a:endParaRPr sz="1800">
              <a:highlight>
                <a:srgbClr val="FFFFFF"/>
              </a:highlight>
              <a:latin typeface="Old Standard TT"/>
              <a:ea typeface="Old Standard TT"/>
              <a:cs typeface="Old Standard TT"/>
              <a:sym typeface="Old Standard TT"/>
            </a:endParaRPr>
          </a:p>
        </p:txBody>
      </p:sp>
      <p:pic>
        <p:nvPicPr>
          <p:cNvPr id="105" name="Google Shape;105;p21"/>
          <p:cNvPicPr preferRelativeResize="0"/>
          <p:nvPr/>
        </p:nvPicPr>
        <p:blipFill>
          <a:blip r:embed="rId3">
            <a:alphaModFix/>
          </a:blip>
          <a:stretch>
            <a:fillRect/>
          </a:stretch>
        </p:blipFill>
        <p:spPr>
          <a:xfrm>
            <a:off x="4700200" y="304800"/>
            <a:ext cx="3862126" cy="2574750"/>
          </a:xfrm>
          <a:prstGeom prst="rect">
            <a:avLst/>
          </a:prstGeom>
          <a:noFill/>
          <a:ln>
            <a:noFill/>
          </a:ln>
        </p:spPr>
      </p:pic>
      <p:pic>
        <p:nvPicPr>
          <p:cNvPr id="106" name="Google Shape;106;p21"/>
          <p:cNvPicPr preferRelativeResize="0"/>
          <p:nvPr/>
        </p:nvPicPr>
        <p:blipFill>
          <a:blip r:embed="rId4">
            <a:alphaModFix/>
          </a:blip>
          <a:stretch>
            <a:fillRect/>
          </a:stretch>
        </p:blipFill>
        <p:spPr>
          <a:xfrm>
            <a:off x="560325" y="304800"/>
            <a:ext cx="3862125" cy="257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idx="1" type="body"/>
          </p:nvPr>
        </p:nvSpPr>
        <p:spPr>
          <a:xfrm>
            <a:off x="265200" y="1271100"/>
            <a:ext cx="8613600" cy="1485600"/>
          </a:xfrm>
          <a:prstGeom prst="rect">
            <a:avLst/>
          </a:prstGeom>
          <a:solidFill>
            <a:srgbClr val="FFFFFF"/>
          </a:solidFill>
        </p:spPr>
        <p:txBody>
          <a:bodyPr anchorCtr="0" anchor="t" bIns="91425" lIns="91425" spcFirstLastPara="1" rIns="91425" wrap="square" tIns="91425">
            <a:noAutofit/>
          </a:bodyPr>
          <a:lstStyle/>
          <a:p>
            <a:pPr indent="0" lvl="0" marL="0" rtl="0" algn="ctr">
              <a:lnSpc>
                <a:spcPct val="133333"/>
              </a:lnSpc>
              <a:spcBef>
                <a:spcPts val="1200"/>
              </a:spcBef>
              <a:spcAft>
                <a:spcPts val="400"/>
              </a:spcAft>
              <a:buNone/>
            </a:pPr>
            <a:r>
              <a:rPr lang="en">
                <a:solidFill>
                  <a:srgbClr val="000000"/>
                </a:solidFill>
                <a:latin typeface="Old Standard TT"/>
                <a:ea typeface="Old Standard TT"/>
                <a:cs typeface="Old Standard TT"/>
                <a:sym typeface="Old Standard TT"/>
              </a:rPr>
              <a:t>After the </a:t>
            </a:r>
            <a:r>
              <a:rPr lang="en">
                <a:solidFill>
                  <a:srgbClr val="000000"/>
                </a:solidFill>
                <a:uFill>
                  <a:noFill/>
                </a:uFill>
                <a:latin typeface="Old Standard TT"/>
                <a:ea typeface="Old Standard TT"/>
                <a:cs typeface="Old Standard TT"/>
                <a:sym typeface="Old Standard TT"/>
                <a:hlinkClick r:id="rId3">
                  <a:extLst>
                    <a:ext uri="{A12FA001-AC4F-418D-AE19-62706E023703}">
                      <ahyp:hlinkClr val="tx"/>
                    </a:ext>
                  </a:extLst>
                </a:hlinkClick>
              </a:rPr>
              <a:t>2015 Canadian federal election</a:t>
            </a:r>
            <a:r>
              <a:rPr lang="en">
                <a:solidFill>
                  <a:srgbClr val="000000"/>
                </a:solidFill>
                <a:latin typeface="Old Standard TT"/>
                <a:ea typeface="Old Standard TT"/>
                <a:cs typeface="Old Standard TT"/>
                <a:sym typeface="Old Standard TT"/>
              </a:rPr>
              <a:t>, the </a:t>
            </a:r>
            <a:r>
              <a:rPr lang="en">
                <a:solidFill>
                  <a:srgbClr val="000000"/>
                </a:solidFill>
                <a:uFill>
                  <a:noFill/>
                </a:uFill>
                <a:latin typeface="Old Standard TT"/>
                <a:ea typeface="Old Standard TT"/>
                <a:cs typeface="Old Standard TT"/>
                <a:sym typeface="Old Standard TT"/>
                <a:hlinkClick r:id="rId4">
                  <a:extLst>
                    <a:ext uri="{A12FA001-AC4F-418D-AE19-62706E023703}">
                      <ahyp:hlinkClr val="tx"/>
                    </a:ext>
                  </a:extLst>
                </a:hlinkClick>
              </a:rPr>
              <a:t>Liberal Government</a:t>
            </a:r>
            <a:r>
              <a:rPr lang="en">
                <a:solidFill>
                  <a:srgbClr val="000000"/>
                </a:solidFill>
                <a:latin typeface="Old Standard TT"/>
                <a:ea typeface="Old Standard TT"/>
                <a:cs typeface="Old Standard TT"/>
                <a:sym typeface="Old Standard TT"/>
              </a:rPr>
              <a:t> upheld their campaign promise and announced the initiation of a </a:t>
            </a:r>
            <a:r>
              <a:rPr b="1" lang="en">
                <a:solidFill>
                  <a:srgbClr val="000000"/>
                </a:solidFill>
                <a:latin typeface="Old Standard TT"/>
                <a:ea typeface="Old Standard TT"/>
                <a:cs typeface="Old Standard TT"/>
                <a:sym typeface="Old Standard TT"/>
              </a:rPr>
              <a:t>Canadian National Inquiry into Missing and Murdered Indigenous Women and Girls</a:t>
            </a:r>
            <a:r>
              <a:rPr lang="en">
                <a:solidFill>
                  <a:srgbClr val="000000"/>
                </a:solidFill>
                <a:latin typeface="Old Standard TT"/>
                <a:ea typeface="Old Standard TT"/>
                <a:cs typeface="Old Standard TT"/>
                <a:sym typeface="Old Standard TT"/>
              </a:rPr>
              <a:t>.</a:t>
            </a:r>
            <a:endParaRPr>
              <a:latin typeface="Old Standard TT"/>
              <a:ea typeface="Old Standard TT"/>
              <a:cs typeface="Old Standard TT"/>
              <a:sym typeface="Old Standard TT"/>
            </a:endParaRPr>
          </a:p>
        </p:txBody>
      </p:sp>
      <p:sp>
        <p:nvSpPr>
          <p:cNvPr id="112" name="Google Shape;112;p22"/>
          <p:cNvSpPr txBox="1"/>
          <p:nvPr/>
        </p:nvSpPr>
        <p:spPr>
          <a:xfrm>
            <a:off x="265200" y="2855400"/>
            <a:ext cx="8613600" cy="5490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Old Standard TT"/>
                <a:ea typeface="Old Standard TT"/>
                <a:cs typeface="Old Standard TT"/>
                <a:sym typeface="Old Standard TT"/>
              </a:rPr>
              <a:t>The final report was released in June, 2019.</a:t>
            </a:r>
            <a:endParaRPr b="1" sz="2400">
              <a:latin typeface="Old Standard TT"/>
              <a:ea typeface="Old Standard TT"/>
              <a:cs typeface="Old Standard TT"/>
              <a:sym typeface="Old Standard T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idx="1" type="body"/>
          </p:nvPr>
        </p:nvSpPr>
        <p:spPr>
          <a:xfrm>
            <a:off x="80850" y="314275"/>
            <a:ext cx="8982300" cy="1264500"/>
          </a:xfrm>
          <a:prstGeom prst="rect">
            <a:avLst/>
          </a:prstGeom>
          <a:solidFill>
            <a:srgbClr val="FFFFFF"/>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800">
              <a:solidFill>
                <a:srgbClr val="000000"/>
              </a:solidFill>
              <a:latin typeface="Old Standard TT"/>
              <a:ea typeface="Old Standard TT"/>
              <a:cs typeface="Old Standard TT"/>
              <a:sym typeface="Old Standard TT"/>
            </a:endParaRPr>
          </a:p>
          <a:p>
            <a:pPr indent="0" lvl="0" marL="0" rtl="0" algn="ctr">
              <a:lnSpc>
                <a:spcPct val="100000"/>
              </a:lnSpc>
              <a:spcBef>
                <a:spcPts val="0"/>
              </a:spcBef>
              <a:spcAft>
                <a:spcPts val="0"/>
              </a:spcAft>
              <a:buNone/>
            </a:pPr>
            <a:r>
              <a:rPr lang="en">
                <a:solidFill>
                  <a:srgbClr val="000000"/>
                </a:solidFill>
                <a:latin typeface="Old Standard TT"/>
                <a:ea typeface="Old Standard TT"/>
                <a:cs typeface="Old Standard TT"/>
                <a:sym typeface="Old Standard TT"/>
              </a:rPr>
              <a:t>Marion Buller, chief commissioner of the inquiry, said that the report’s </a:t>
            </a:r>
            <a:r>
              <a:rPr b="1" lang="en">
                <a:solidFill>
                  <a:srgbClr val="000000"/>
                </a:solidFill>
                <a:latin typeface="Old Standard TT"/>
                <a:ea typeface="Old Standard TT"/>
                <a:cs typeface="Old Standard TT"/>
                <a:sym typeface="Old Standard TT"/>
              </a:rPr>
              <a:t>calls for justice</a:t>
            </a:r>
            <a:r>
              <a:rPr lang="en">
                <a:solidFill>
                  <a:srgbClr val="000000"/>
                </a:solidFill>
                <a:latin typeface="Old Standard TT"/>
                <a:ea typeface="Old Standard TT"/>
                <a:cs typeface="Old Standard TT"/>
                <a:sym typeface="Old Standard TT"/>
              </a:rPr>
              <a:t> are not just </a:t>
            </a:r>
            <a:r>
              <a:rPr b="1" lang="en">
                <a:solidFill>
                  <a:srgbClr val="000000"/>
                </a:solidFill>
                <a:latin typeface="Old Standard TT"/>
                <a:ea typeface="Old Standard TT"/>
                <a:cs typeface="Old Standard TT"/>
                <a:sym typeface="Old Standard TT"/>
              </a:rPr>
              <a:t>"recommendations"</a:t>
            </a:r>
            <a:r>
              <a:rPr lang="en">
                <a:solidFill>
                  <a:srgbClr val="000000"/>
                </a:solidFill>
                <a:latin typeface="Old Standard TT"/>
                <a:ea typeface="Old Standard TT"/>
                <a:cs typeface="Old Standard TT"/>
                <a:sym typeface="Old Standard TT"/>
              </a:rPr>
              <a:t> but are </a:t>
            </a:r>
            <a:r>
              <a:rPr b="1" lang="en">
                <a:solidFill>
                  <a:srgbClr val="000000"/>
                </a:solidFill>
                <a:latin typeface="Old Standard TT"/>
                <a:ea typeface="Old Standard TT"/>
                <a:cs typeface="Old Standard TT"/>
                <a:sym typeface="Old Standard TT"/>
              </a:rPr>
              <a:t>"legal imperatives"</a:t>
            </a:r>
            <a:r>
              <a:rPr lang="en">
                <a:solidFill>
                  <a:srgbClr val="000000"/>
                </a:solidFill>
                <a:latin typeface="Old Standard TT"/>
                <a:ea typeface="Old Standard TT"/>
                <a:cs typeface="Old Standard TT"/>
                <a:sym typeface="Old Standard TT"/>
              </a:rPr>
              <a:t> that must be implemented to help end a cycle of violence that has claimed the lives of thousands of Indigenous women.</a:t>
            </a:r>
            <a:endParaRPr>
              <a:solidFill>
                <a:srgbClr val="000000"/>
              </a:solidFill>
              <a:latin typeface="Old Standard TT"/>
              <a:ea typeface="Old Standard TT"/>
              <a:cs typeface="Old Standard TT"/>
              <a:sym typeface="Old Standard TT"/>
            </a:endParaRPr>
          </a:p>
        </p:txBody>
      </p:sp>
      <p:pic>
        <p:nvPicPr>
          <p:cNvPr id="118" name="Google Shape;118;p23"/>
          <p:cNvPicPr preferRelativeResize="0"/>
          <p:nvPr/>
        </p:nvPicPr>
        <p:blipFill>
          <a:blip r:embed="rId3">
            <a:alphaModFix/>
          </a:blip>
          <a:stretch>
            <a:fillRect/>
          </a:stretch>
        </p:blipFill>
        <p:spPr>
          <a:xfrm>
            <a:off x="4733200" y="1726225"/>
            <a:ext cx="4329951" cy="3106751"/>
          </a:xfrm>
          <a:prstGeom prst="rect">
            <a:avLst/>
          </a:prstGeom>
          <a:noFill/>
          <a:ln>
            <a:noFill/>
          </a:ln>
        </p:spPr>
      </p:pic>
      <p:sp>
        <p:nvSpPr>
          <p:cNvPr id="119" name="Google Shape;119;p23"/>
          <p:cNvSpPr/>
          <p:nvPr/>
        </p:nvSpPr>
        <p:spPr>
          <a:xfrm rot="-389837">
            <a:off x="163329" y="1862201"/>
            <a:ext cx="2513343" cy="1983137"/>
          </a:xfrm>
          <a:prstGeom prst="wedgeRoundRectCallout">
            <a:avLst>
              <a:gd fmla="val -20833" name="adj1"/>
              <a:gd fmla="val 62500"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Old Standard TT"/>
                <a:ea typeface="Old Standard TT"/>
                <a:cs typeface="Old Standard TT"/>
                <a:sym typeface="Old Standard TT"/>
              </a:rPr>
              <a:t>"This report is about Indigenous people and the </a:t>
            </a:r>
            <a:r>
              <a:rPr b="1" lang="en" sz="1500">
                <a:latin typeface="Old Standard TT"/>
                <a:ea typeface="Old Standard TT"/>
                <a:cs typeface="Old Standard TT"/>
                <a:sym typeface="Old Standard TT"/>
              </a:rPr>
              <a:t>systemic factors</a:t>
            </a:r>
            <a:r>
              <a:rPr lang="en" sz="1500">
                <a:latin typeface="Old Standard TT"/>
                <a:ea typeface="Old Standard TT"/>
                <a:cs typeface="Old Standard TT"/>
                <a:sym typeface="Old Standard TT"/>
              </a:rPr>
              <a:t> that lead to their losses of dignity, humanity and, in too many cases, losses of life. </a:t>
            </a:r>
            <a:endParaRPr sz="1500">
              <a:latin typeface="Old Standard TT"/>
              <a:ea typeface="Old Standard TT"/>
              <a:cs typeface="Old Standard TT"/>
              <a:sym typeface="Old Standard TT"/>
            </a:endParaRPr>
          </a:p>
        </p:txBody>
      </p:sp>
      <p:sp>
        <p:nvSpPr>
          <p:cNvPr id="120" name="Google Shape;120;p23"/>
          <p:cNvSpPr/>
          <p:nvPr/>
        </p:nvSpPr>
        <p:spPr>
          <a:xfrm rot="-389345">
            <a:off x="2623048" y="2983712"/>
            <a:ext cx="1874107" cy="1429376"/>
          </a:xfrm>
          <a:prstGeom prst="wedgeRoundRectCallout">
            <a:avLst>
              <a:gd fmla="val -20833" name="adj1"/>
              <a:gd fmla="val 62500"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Old Standard TT"/>
                <a:ea typeface="Old Standard TT"/>
                <a:cs typeface="Old Standard TT"/>
                <a:sym typeface="Old Standard TT"/>
              </a:rPr>
              <a:t>“</a:t>
            </a:r>
            <a:r>
              <a:rPr lang="en" sz="1500">
                <a:latin typeface="Old Standard TT"/>
                <a:ea typeface="Old Standard TT"/>
                <a:cs typeface="Old Standard TT"/>
                <a:sym typeface="Old Standard TT"/>
              </a:rPr>
              <a:t>This report is about deliberate race, identity and gender-based </a:t>
            </a:r>
            <a:r>
              <a:rPr b="1" lang="en" sz="1500">
                <a:latin typeface="Old Standard TT"/>
                <a:ea typeface="Old Standard TT"/>
                <a:cs typeface="Old Standard TT"/>
                <a:sym typeface="Old Standard TT"/>
              </a:rPr>
              <a:t>genocide</a:t>
            </a:r>
            <a:r>
              <a:rPr lang="en" sz="1500">
                <a:latin typeface="Old Standard TT"/>
                <a:ea typeface="Old Standard TT"/>
                <a:cs typeface="Old Standard TT"/>
                <a:sym typeface="Old Standard TT"/>
              </a:rPr>
              <a:t>.”</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nvSpPr>
        <p:spPr>
          <a:xfrm>
            <a:off x="73800" y="953025"/>
            <a:ext cx="9003000" cy="2933400"/>
          </a:xfrm>
          <a:prstGeom prst="rect">
            <a:avLst/>
          </a:prstGeom>
          <a:solidFill>
            <a:srgbClr val="FFFFFF"/>
          </a:solid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Font typeface="Old Standard TT"/>
              <a:buChar char="●"/>
            </a:pPr>
            <a:r>
              <a:rPr lang="en" sz="1800">
                <a:latin typeface="Old Standard TT"/>
                <a:ea typeface="Old Standard TT"/>
                <a:cs typeface="Old Standard TT"/>
                <a:sym typeface="Old Standard TT"/>
              </a:rPr>
              <a:t>Indigenous women and girls are </a:t>
            </a:r>
            <a:r>
              <a:rPr b="1" lang="en" sz="1800">
                <a:latin typeface="Old Standard TT"/>
                <a:ea typeface="Old Standard TT"/>
                <a:cs typeface="Old Standard TT"/>
                <a:sym typeface="Old Standard TT"/>
              </a:rPr>
              <a:t>12 times more likely</a:t>
            </a:r>
            <a:r>
              <a:rPr lang="en" sz="1800">
                <a:latin typeface="Old Standard TT"/>
                <a:ea typeface="Old Standard TT"/>
                <a:cs typeface="Old Standard TT"/>
                <a:sym typeface="Old Standard TT"/>
              </a:rPr>
              <a:t> to be murdered or to go missing than members of any other demographic group in Canada — and </a:t>
            </a:r>
            <a:r>
              <a:rPr b="1" lang="en" sz="1800">
                <a:latin typeface="Old Standard TT"/>
                <a:ea typeface="Old Standard TT"/>
                <a:cs typeface="Old Standard TT"/>
                <a:sym typeface="Old Standard TT"/>
              </a:rPr>
              <a:t>16 times more likely</a:t>
            </a:r>
            <a:r>
              <a:rPr lang="en" sz="1800">
                <a:latin typeface="Old Standard TT"/>
                <a:ea typeface="Old Standard TT"/>
                <a:cs typeface="Old Standard TT"/>
                <a:sym typeface="Old Standard TT"/>
              </a:rPr>
              <a:t> to be slain or to disappear than white women.</a:t>
            </a:r>
            <a:endParaRPr sz="1800">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800">
              <a:latin typeface="Old Standard TT"/>
              <a:ea typeface="Old Standard TT"/>
              <a:cs typeface="Old Standard TT"/>
              <a:sym typeface="Old Standard TT"/>
            </a:endParaRPr>
          </a:p>
          <a:p>
            <a:pPr indent="-342900" lvl="0" marL="457200" rtl="0" algn="l">
              <a:lnSpc>
                <a:spcPct val="100000"/>
              </a:lnSpc>
              <a:spcBef>
                <a:spcPts val="0"/>
              </a:spcBef>
              <a:spcAft>
                <a:spcPts val="0"/>
              </a:spcAft>
              <a:buSzPts val="1800"/>
              <a:buFont typeface="Old Standard TT"/>
              <a:buChar char="●"/>
            </a:pPr>
            <a:r>
              <a:rPr lang="en" sz="1800">
                <a:latin typeface="Old Standard TT"/>
                <a:ea typeface="Old Standard TT"/>
                <a:cs typeface="Old Standard TT"/>
                <a:sym typeface="Old Standard TT"/>
              </a:rPr>
              <a:t>T</a:t>
            </a:r>
            <a:r>
              <a:rPr lang="en" sz="1800">
                <a:latin typeface="Old Standard TT"/>
                <a:ea typeface="Old Standard TT"/>
                <a:cs typeface="Old Standard TT"/>
                <a:sym typeface="Old Standard TT"/>
              </a:rPr>
              <a:t>oo often, Indigenous murder investigations are </a:t>
            </a:r>
            <a:r>
              <a:rPr lang="en" sz="1800">
                <a:latin typeface="Old Standard TT"/>
                <a:ea typeface="Old Standard TT"/>
                <a:cs typeface="Old Standard TT"/>
                <a:sym typeface="Old Standard TT"/>
              </a:rPr>
              <a:t>marked by</a:t>
            </a:r>
            <a:r>
              <a:rPr b="1" lang="en" sz="1800">
                <a:latin typeface="Old Standard TT"/>
                <a:ea typeface="Old Standard TT"/>
                <a:cs typeface="Old Standard TT"/>
                <a:sym typeface="Old Standard TT"/>
              </a:rPr>
              <a:t> indifference</a:t>
            </a:r>
            <a:r>
              <a:rPr lang="en" sz="1800">
                <a:latin typeface="Old Standard TT"/>
                <a:ea typeface="Old Standard TT"/>
                <a:cs typeface="Old Standard TT"/>
                <a:sym typeface="Old Standard TT"/>
              </a:rPr>
              <a:t> </a:t>
            </a:r>
            <a:r>
              <a:rPr b="1" lang="en" sz="1800">
                <a:latin typeface="Old Standard TT"/>
                <a:ea typeface="Old Standard TT"/>
                <a:cs typeface="Old Standard TT"/>
                <a:sym typeface="Old Standard TT"/>
              </a:rPr>
              <a:t>and negative stereotypes</a:t>
            </a:r>
            <a:r>
              <a:rPr lang="en" sz="1800">
                <a:latin typeface="Old Standard TT"/>
                <a:ea typeface="Old Standard TT"/>
                <a:cs typeface="Old Standard TT"/>
                <a:sym typeface="Old Standard TT"/>
              </a:rPr>
              <a:t>;</a:t>
            </a:r>
            <a:r>
              <a:rPr lang="en" sz="1800">
                <a:latin typeface="Old Standard TT"/>
                <a:ea typeface="Old Standard TT"/>
                <a:cs typeface="Old Standard TT"/>
                <a:sym typeface="Old Standard TT"/>
              </a:rPr>
              <a:t> causing Indigenous deaths and disappearances to be investigated and treated </a:t>
            </a:r>
            <a:r>
              <a:rPr lang="en" sz="1800">
                <a:latin typeface="Old Standard TT"/>
                <a:ea typeface="Old Standard TT"/>
                <a:cs typeface="Old Standard TT"/>
                <a:sym typeface="Old Standard TT"/>
              </a:rPr>
              <a:t>with less care and determination.</a:t>
            </a:r>
            <a:endParaRPr sz="1800">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800">
              <a:latin typeface="Old Standard TT"/>
              <a:ea typeface="Old Standard TT"/>
              <a:cs typeface="Old Standard TT"/>
              <a:sym typeface="Old Standard TT"/>
            </a:endParaRPr>
          </a:p>
          <a:p>
            <a:pPr indent="-342900" lvl="0" marL="457200" rtl="0" algn="l">
              <a:lnSpc>
                <a:spcPct val="100000"/>
              </a:lnSpc>
              <a:spcBef>
                <a:spcPts val="0"/>
              </a:spcBef>
              <a:spcAft>
                <a:spcPts val="0"/>
              </a:spcAft>
              <a:buSzPts val="1800"/>
              <a:buFont typeface="Old Standard TT"/>
              <a:buChar char="●"/>
            </a:pPr>
            <a:r>
              <a:rPr lang="en" sz="1800">
                <a:latin typeface="Old Standard TT"/>
                <a:ea typeface="Old Standard TT"/>
                <a:cs typeface="Old Standard TT"/>
                <a:sym typeface="Old Standard TT"/>
              </a:rPr>
              <a:t>When there </a:t>
            </a:r>
            <a:r>
              <a:rPr i="1" lang="en" sz="1800">
                <a:latin typeface="Old Standard TT"/>
                <a:ea typeface="Old Standard TT"/>
                <a:cs typeface="Old Standard TT"/>
                <a:sym typeface="Old Standard TT"/>
              </a:rPr>
              <a:t>is</a:t>
            </a:r>
            <a:r>
              <a:rPr lang="en" sz="1800">
                <a:latin typeface="Old Standard TT"/>
                <a:ea typeface="Old Standard TT"/>
                <a:cs typeface="Old Standard TT"/>
                <a:sym typeface="Old Standard TT"/>
              </a:rPr>
              <a:t> a reasonable chance of a conviction, Crown attorneys are too often willing to accept plea bargains or reduced charges in exchange for guilty pleas.</a:t>
            </a:r>
            <a:endParaRPr sz="1800">
              <a:latin typeface="Old Standard TT"/>
              <a:ea typeface="Old Standard TT"/>
              <a:cs typeface="Old Standard TT"/>
              <a:sym typeface="Old Standard TT"/>
            </a:endParaRPr>
          </a:p>
        </p:txBody>
      </p:sp>
      <p:sp>
        <p:nvSpPr>
          <p:cNvPr id="126" name="Google Shape;126;p24"/>
          <p:cNvSpPr txBox="1"/>
          <p:nvPr/>
        </p:nvSpPr>
        <p:spPr>
          <a:xfrm>
            <a:off x="4307098" y="443926"/>
            <a:ext cx="4836900" cy="509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3000">
                <a:latin typeface="Old Standard TT"/>
                <a:ea typeface="Old Standard TT"/>
                <a:cs typeface="Old Standard TT"/>
                <a:sym typeface="Old Standard TT"/>
              </a:rPr>
              <a:t>The inquiry found that...</a:t>
            </a:r>
            <a:endParaRPr b="1" sz="3000"/>
          </a:p>
        </p:txBody>
      </p:sp>
      <p:sp>
        <p:nvSpPr>
          <p:cNvPr id="127" name="Google Shape;127;p24"/>
          <p:cNvSpPr txBox="1"/>
          <p:nvPr/>
        </p:nvSpPr>
        <p:spPr>
          <a:xfrm>
            <a:off x="6410500" y="813725"/>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nvSpPr>
        <p:spPr>
          <a:xfrm>
            <a:off x="73800" y="935250"/>
            <a:ext cx="8996400" cy="2922000"/>
          </a:xfrm>
          <a:prstGeom prst="rect">
            <a:avLst/>
          </a:prstGeom>
          <a:solidFill>
            <a:srgbClr val="FFFFFF"/>
          </a:solid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Font typeface="Old Standard TT"/>
              <a:buChar char="●"/>
            </a:pPr>
            <a:r>
              <a:rPr lang="en" sz="1800">
                <a:latin typeface="Old Standard TT"/>
                <a:ea typeface="Old Standard TT"/>
                <a:cs typeface="Old Standard TT"/>
                <a:sym typeface="Old Standard TT"/>
              </a:rPr>
              <a:t>M</a:t>
            </a:r>
            <a:r>
              <a:rPr lang="en" sz="1800">
                <a:latin typeface="Old Standard TT"/>
                <a:ea typeface="Old Standard TT"/>
                <a:cs typeface="Old Standard TT"/>
                <a:sym typeface="Old Standard TT"/>
              </a:rPr>
              <a:t>ore Indigenous judges, justices of the peace and police should be hired to ensure Indigenous voices are in positions of power in the criminal justice system.</a:t>
            </a:r>
            <a:endParaRPr sz="1800">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800">
              <a:latin typeface="Old Standard TT"/>
              <a:ea typeface="Old Standard TT"/>
              <a:cs typeface="Old Standard TT"/>
              <a:sym typeface="Old Standard TT"/>
            </a:endParaRPr>
          </a:p>
          <a:p>
            <a:pPr indent="-342900" lvl="0" marL="457200" rtl="0" algn="l">
              <a:lnSpc>
                <a:spcPct val="100000"/>
              </a:lnSpc>
              <a:spcBef>
                <a:spcPts val="0"/>
              </a:spcBef>
              <a:spcAft>
                <a:spcPts val="0"/>
              </a:spcAft>
              <a:buSzPts val="1800"/>
              <a:buFont typeface="Old Standard TT"/>
              <a:buChar char="●"/>
            </a:pPr>
            <a:r>
              <a:rPr lang="en" sz="1800">
                <a:latin typeface="Old Standard TT"/>
                <a:ea typeface="Old Standard TT"/>
                <a:cs typeface="Old Standard TT"/>
                <a:sym typeface="Old Standard TT"/>
              </a:rPr>
              <a:t>The RCMP need fundamental reforms. Ottawa should establish "robust and well-funded Indigenous civilian police oversight bodies" to prevent police negligence and misconduct in murder, rape, and sexual assault cases. </a:t>
            </a:r>
            <a:endParaRPr sz="1800">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800">
              <a:latin typeface="Old Standard TT"/>
              <a:ea typeface="Old Standard TT"/>
              <a:cs typeface="Old Standard TT"/>
              <a:sym typeface="Old Standard TT"/>
            </a:endParaRPr>
          </a:p>
          <a:p>
            <a:pPr indent="-330200" lvl="0" marL="457200" rtl="0" algn="l">
              <a:lnSpc>
                <a:spcPct val="100000"/>
              </a:lnSpc>
              <a:spcBef>
                <a:spcPts val="0"/>
              </a:spcBef>
              <a:spcAft>
                <a:spcPts val="0"/>
              </a:spcAft>
              <a:buSzPts val="1600"/>
              <a:buFont typeface="Old Standard TT"/>
              <a:buChar char="●"/>
            </a:pPr>
            <a:r>
              <a:rPr lang="en" sz="1800">
                <a:latin typeface="Old Standard TT"/>
                <a:ea typeface="Old Standard TT"/>
                <a:cs typeface="Old Standard TT"/>
                <a:sym typeface="Old Standard TT"/>
              </a:rPr>
              <a:t>The government should offer guaranteed access to financial support, legislated paid leave and disability benefits and "appropriate trauma care" to Indigenous victims of crime or other traumatic events.</a:t>
            </a:r>
            <a:endParaRPr sz="1800">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sz="1600">
              <a:latin typeface="Old Standard TT"/>
              <a:ea typeface="Old Standard TT"/>
              <a:cs typeface="Old Standard TT"/>
              <a:sym typeface="Old Standard TT"/>
            </a:endParaRPr>
          </a:p>
        </p:txBody>
      </p:sp>
      <p:sp>
        <p:nvSpPr>
          <p:cNvPr id="133" name="Google Shape;133;p25"/>
          <p:cNvSpPr txBox="1"/>
          <p:nvPr/>
        </p:nvSpPr>
        <p:spPr>
          <a:xfrm>
            <a:off x="4307098" y="426151"/>
            <a:ext cx="4836900" cy="509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3000">
                <a:latin typeface="Old Standard TT"/>
                <a:ea typeface="Old Standard TT"/>
                <a:cs typeface="Old Standard TT"/>
                <a:sym typeface="Old Standard TT"/>
              </a:rPr>
              <a:t>Calls for justice...</a:t>
            </a:r>
            <a:endParaRPr b="1"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nvSpPr>
        <p:spPr>
          <a:xfrm>
            <a:off x="1720350" y="1531050"/>
            <a:ext cx="5703300" cy="20814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800">
                <a:latin typeface="Old Standard TT"/>
                <a:ea typeface="Old Standard TT"/>
                <a:cs typeface="Old Standard TT"/>
                <a:sym typeface="Old Standard TT"/>
              </a:rPr>
              <a:t>"Skeptics will be fearful and will complain that the financial cost of rebuilding is too great, that enough has been done, that enough money has been spent," said Buller. "To them I say, we as a nation cannot afford </a:t>
            </a:r>
            <a:r>
              <a:rPr b="1" lang="en" sz="1800">
                <a:latin typeface="Old Standard TT"/>
                <a:ea typeface="Old Standard TT"/>
                <a:cs typeface="Old Standard TT"/>
                <a:sym typeface="Old Standard TT"/>
              </a:rPr>
              <a:t>not</a:t>
            </a:r>
            <a:r>
              <a:rPr lang="en" sz="1800">
                <a:latin typeface="Old Standard TT"/>
                <a:ea typeface="Old Standard TT"/>
                <a:cs typeface="Old Standard TT"/>
                <a:sym typeface="Old Standard TT"/>
              </a:rPr>
              <a:t> to rebuild. Otherwise, we all knowingly enable the continuation of genocide in our own country."</a:t>
            </a:r>
            <a:endParaRPr sz="1800">
              <a:latin typeface="Old Standard TT"/>
              <a:ea typeface="Old Standard TT"/>
              <a:cs typeface="Old Standard TT"/>
              <a:sym typeface="Old Standard TT"/>
            </a:endParaRPr>
          </a:p>
          <a:p>
            <a:pPr indent="0" lvl="0" marL="2743200" rtl="0" algn="l">
              <a:spcBef>
                <a:spcPts val="2100"/>
              </a:spcBef>
              <a:spcAft>
                <a:spcPts val="0"/>
              </a:spcAft>
              <a:buNone/>
            </a:pPr>
            <a:r>
              <a:rPr b="1" lang="en" sz="3000">
                <a:latin typeface="Old Standard TT"/>
                <a:ea typeface="Old Standard TT"/>
                <a:cs typeface="Old Standard TT"/>
                <a:sym typeface="Old Standard TT"/>
              </a:rPr>
              <a:t>- </a:t>
            </a:r>
            <a:r>
              <a:rPr b="1" lang="en" sz="3000">
                <a:latin typeface="Old Standard TT"/>
                <a:ea typeface="Old Standard TT"/>
                <a:cs typeface="Old Standard TT"/>
                <a:sym typeface="Old Standard TT"/>
              </a:rPr>
              <a:t>Marion Buller</a:t>
            </a:r>
            <a:endParaRPr b="1" sz="3000">
              <a:latin typeface="Old Standard TT"/>
              <a:ea typeface="Old Standard TT"/>
              <a:cs typeface="Old Standard TT"/>
              <a:sym typeface="Old Standard T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idx="1" type="body"/>
          </p:nvPr>
        </p:nvSpPr>
        <p:spPr>
          <a:xfrm>
            <a:off x="311700" y="567900"/>
            <a:ext cx="6486600" cy="2609400"/>
          </a:xfrm>
          <a:prstGeom prst="rect">
            <a:avLst/>
          </a:prstGeom>
          <a:solidFill>
            <a:srgbClr val="FFFFFF"/>
          </a:solidFill>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Old Standard TT"/>
                <a:ea typeface="Old Standard TT"/>
                <a:cs typeface="Old Standard TT"/>
                <a:sym typeface="Old Standard TT"/>
              </a:rPr>
              <a:t>"To the survivors and families here today, and to those watching or listening at home, I want you to know that this report is not the end. The work of the commissioners, the stories they have collected, and the calls for justice they have put forward will not be placed on a shelf to collect dust.</a:t>
            </a:r>
            <a:endParaRPr>
              <a:solidFill>
                <a:srgbClr val="000000"/>
              </a:solidFill>
              <a:latin typeface="Old Standard TT"/>
              <a:ea typeface="Old Standard TT"/>
              <a:cs typeface="Old Standard TT"/>
              <a:sym typeface="Old Standard TT"/>
            </a:endParaRPr>
          </a:p>
          <a:p>
            <a:pPr indent="0" lvl="0" marL="0" rtl="0" algn="ctr">
              <a:spcBef>
                <a:spcPts val="2100"/>
              </a:spcBef>
              <a:spcAft>
                <a:spcPts val="0"/>
              </a:spcAft>
              <a:buNone/>
            </a:pPr>
            <a:r>
              <a:rPr lang="en">
                <a:solidFill>
                  <a:srgbClr val="000000"/>
                </a:solidFill>
                <a:latin typeface="Old Standard TT"/>
                <a:ea typeface="Old Standard TT"/>
                <a:cs typeface="Old Standard TT"/>
                <a:sym typeface="Old Standard TT"/>
              </a:rPr>
              <a:t>You have my word that my government will turn the inquiry's calls for justice into real, meaningful, Indigenous-led action …”</a:t>
            </a:r>
            <a:endParaRPr>
              <a:solidFill>
                <a:srgbClr val="000000"/>
              </a:solidFill>
              <a:latin typeface="Old Standard TT"/>
              <a:ea typeface="Old Standard TT"/>
              <a:cs typeface="Old Standard TT"/>
              <a:sym typeface="Old Standard TT"/>
            </a:endParaRPr>
          </a:p>
          <a:p>
            <a:pPr indent="0" lvl="0" marL="0" rtl="0" algn="ctr">
              <a:spcBef>
                <a:spcPts val="2100"/>
              </a:spcBef>
              <a:spcAft>
                <a:spcPts val="0"/>
              </a:spcAft>
              <a:buNone/>
            </a:pPr>
            <a:r>
              <a:t/>
            </a:r>
            <a:endParaRPr>
              <a:solidFill>
                <a:srgbClr val="000000"/>
              </a:solidFill>
              <a:latin typeface="Old Standard TT"/>
              <a:ea typeface="Old Standard TT"/>
              <a:cs typeface="Old Standard TT"/>
              <a:sym typeface="Old Standard TT"/>
            </a:endParaRPr>
          </a:p>
          <a:p>
            <a:pPr indent="0" lvl="0" marL="0" rtl="0" algn="ctr">
              <a:spcBef>
                <a:spcPts val="2100"/>
              </a:spcBef>
              <a:spcAft>
                <a:spcPts val="2100"/>
              </a:spcAft>
              <a:buNone/>
            </a:pPr>
            <a:r>
              <a:t/>
            </a:r>
            <a:endParaRPr>
              <a:solidFill>
                <a:srgbClr val="000000"/>
              </a:solidFill>
              <a:latin typeface="Old Standard TT"/>
              <a:ea typeface="Old Standard TT"/>
              <a:cs typeface="Old Standard TT"/>
              <a:sym typeface="Old Standard TT"/>
            </a:endParaRPr>
          </a:p>
        </p:txBody>
      </p:sp>
      <p:sp>
        <p:nvSpPr>
          <p:cNvPr id="144" name="Google Shape;144;p27"/>
          <p:cNvSpPr txBox="1"/>
          <p:nvPr/>
        </p:nvSpPr>
        <p:spPr>
          <a:xfrm>
            <a:off x="2008673" y="3092226"/>
            <a:ext cx="4836900" cy="509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3000">
                <a:latin typeface="Old Standard TT"/>
                <a:ea typeface="Old Standard TT"/>
                <a:cs typeface="Old Standard TT"/>
                <a:sym typeface="Old Standard TT"/>
              </a:rPr>
              <a:t>- Justin Trudeau</a:t>
            </a:r>
            <a:endParaRPr b="1" sz="3000"/>
          </a:p>
        </p:txBody>
      </p:sp>
      <p:sp>
        <p:nvSpPr>
          <p:cNvPr id="145" name="Google Shape;145;p27"/>
          <p:cNvSpPr txBox="1"/>
          <p:nvPr/>
        </p:nvSpPr>
        <p:spPr>
          <a:xfrm>
            <a:off x="311698" y="58801"/>
            <a:ext cx="4836900" cy="5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Old Standard TT"/>
                <a:ea typeface="Old Standard TT"/>
                <a:cs typeface="Old Standard TT"/>
                <a:sym typeface="Old Standard TT"/>
              </a:rPr>
              <a:t>What now?</a:t>
            </a:r>
            <a:endParaRPr b="1" sz="3000"/>
          </a:p>
        </p:txBody>
      </p:sp>
      <p:sp>
        <p:nvSpPr>
          <p:cNvPr id="146" name="Google Shape;146;p27"/>
          <p:cNvSpPr txBox="1"/>
          <p:nvPr/>
        </p:nvSpPr>
        <p:spPr>
          <a:xfrm>
            <a:off x="4262073" y="4530726"/>
            <a:ext cx="4836900" cy="509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3000">
                <a:latin typeface="Old Standard TT"/>
                <a:ea typeface="Old Standard TT"/>
                <a:cs typeface="Old Standard TT"/>
                <a:sym typeface="Old Standard TT"/>
              </a:rPr>
              <a:t>No, </a:t>
            </a:r>
            <a:r>
              <a:rPr b="1" i="1" lang="en" sz="3000">
                <a:latin typeface="Old Standard TT"/>
                <a:ea typeface="Old Standard TT"/>
                <a:cs typeface="Old Standard TT"/>
                <a:sym typeface="Old Standard TT"/>
              </a:rPr>
              <a:t>really</a:t>
            </a:r>
            <a:r>
              <a:rPr b="1" lang="en" sz="3000">
                <a:latin typeface="Old Standard TT"/>
                <a:ea typeface="Old Standard TT"/>
                <a:cs typeface="Old Standard TT"/>
                <a:sym typeface="Old Standard TT"/>
              </a:rPr>
              <a:t>, what now?</a:t>
            </a:r>
            <a:endParaRPr b="1" sz="3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
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A822"/>
                </a:solidFill>
                <a:latin typeface="Segoe UI"/>
              </a:defRPr>
            </a:pPr>
            <a:r>
              <a:t>HEALTHY LIVING 9</a:t>
            </a:r>
          </a:p>
          <a:p>
            <a:pPr>
              <a:defRPr sz="4000" b="1">
                <a:solidFill>
                  <a:srgbClr val="F0F4F8"/>
                </a:solidFill>
                <a:latin typeface="Segoe UI"/>
              </a:defRPr>
            </a:pPr>
            <a:r>
              <a:t>The Attention Economy &amp; Personal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0362895" cy="3291840"/>
          </a:xfrm>
          <a:prstGeom prst="rect">
            <a:avLst/>
          </a:prstGeom>
          <a:solidFill>
            <a:srgbClr val="1C2438"/>
          </a:solidFill>
          <a:ln w="1905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A822"/>
                </a:solidFill>
                <a:latin typeface="Segoe UI"/>
              </a:defRPr>
            </a:pPr>
            <a:r>
              <a:t>TODAY'S CLASS RUN OF SHOW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1. Core Concept: </a:t>
            </a:r>
            <a:r>
              <a:rPr sz="1500">
                <a:solidFill>
                  <a:srgbClr val="9CA9BA"/>
                </a:solidFill>
                <a:latin typeface="Segoe UI"/>
              </a:rPr>
              <a:t>Health is not just nutrition and cardio—it begins with what captures your consciousness.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2. Live Telemetry Pull: </a:t>
            </a:r>
            <a:r>
              <a:rPr sz="1500">
                <a:solidFill>
                  <a:srgbClr val="9CA9BA"/>
                </a:solidFill>
                <a:latin typeface="Segoe UI"/>
              </a:rPr>
              <a:t>Extract 3 un-fakeable data points directly from your pocket device settings right now.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3. Partner Interrogation: </a:t>
            </a:r>
            <a:r>
              <a:rPr sz="1500">
                <a:solidFill>
                  <a:srgbClr val="9CA9BA"/>
                </a:solidFill>
                <a:latin typeface="Segoe UI"/>
              </a:rPr>
              <a:t>3-minute verbal peer interviews analyzing triggers, dopamine hooks, and recovery.</a:t>
            </a:r>
          </a:p>
          <a:p>
            <a:pPr>
              <a:spcBef>
                <a:spcPts val="1000"/>
              </a:spcBef>
            </a:pPr>
            <a:r>
              <a:rPr b="1" sz="1500">
                <a:solidFill>
                  <a:srgbClr val="F0F4F8"/>
                </a:solidFill>
                <a:latin typeface="Segoe UI"/>
              </a:rPr>
              <a:t>4. Class Attention Heatmap: </a:t>
            </a:r>
            <a:r>
              <a:rPr sz="1500">
                <a:solidFill>
                  <a:srgbClr val="9CA9BA"/>
                </a:solidFill>
                <a:latin typeface="Segoe UI"/>
              </a:rPr>
              <a:t>Live anonymous board tally mapping our room's daily baseline.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A822"/>
                </a:solidFill>
                <a:latin typeface="Segoe UI"/>
              </a:defRPr>
            </a:pPr>
            <a:r>
              <a:t>THE ATTENTION ECONOMY</a:t>
            </a:r>
          </a:p>
          <a:p>
            <a:pPr>
              <a:defRPr sz="3200" b="1">
                <a:solidFill>
                  <a:srgbClr val="F0F4F8"/>
                </a:solidFill>
                <a:latin typeface="Segoe UI"/>
              </a:defRPr>
            </a:pPr>
            <a:r>
              <a:t>You Are Not Just the User. Your Consciousness is the Harvest.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3200400" cy="3840480"/>
          </a:xfrm>
          <a:prstGeom prst="rect">
            <a:avLst/>
          </a:prstGeom>
          <a:solidFill>
            <a:srgbClr val="1C2438"/>
          </a:solidFill>
          <a:ln w="1270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A822"/>
                </a:solidFill>
                <a:latin typeface="Segoe UI"/>
              </a:defRPr>
            </a:pPr>
            <a:r>
              <a:t>Cognitive Scarcity</a:t>
            </a:r>
          </a:p>
          <a:p>
            <a:pPr>
              <a:spcBef>
                <a:spcPts val="1400"/>
              </a:spcBef>
              <a:defRPr sz="1400">
                <a:solidFill>
                  <a:srgbClr val="9CA9BA"/>
                </a:solidFill>
                <a:latin typeface="Segoe UI"/>
              </a:defRPr>
            </a:pPr>
            <a:r>
              <a:t>Human focus is a finite biological resource. Every push notification is an engineered interruption designed to extract that resource for platform revenue.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2194560"/>
            <a:ext cx="3200400" cy="3840480"/>
          </a:xfrm>
          <a:prstGeom prst="rect">
            <a:avLst/>
          </a:prstGeom>
          <a:solidFill>
            <a:srgbClr val="1C2438"/>
          </a:solidFill>
          <a:ln w="12700">
            <a:solidFill>
              <a:srgbClr val="2D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AAB9"/>
                </a:solidFill>
                <a:latin typeface="Segoe UI"/>
              </a:defRPr>
            </a:pPr>
            <a:r>
              <a:t>The 5 Dimensions</a:t>
            </a:r>
          </a:p>
          <a:p>
            <a:pPr>
              <a:spcBef>
                <a:spcPts val="1400"/>
              </a:spcBef>
              <a:defRPr sz="1400">
                <a:solidFill>
                  <a:srgbClr val="9CA9BA"/>
                </a:solidFill>
                <a:latin typeface="Segoe UI"/>
              </a:defRPr>
            </a:pPr>
            <a:r>
              <a:t>Screen habits directly impact all 5 health dimensions: Sleep architecture (Physical), anxiety spikes (Mental), validation loops (Emotional), isolation (Social), and reflection (Spiritual).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94560"/>
            <a:ext cx="3200400" cy="3840480"/>
          </a:xfrm>
          <a:prstGeom prst="rect">
            <a:avLst/>
          </a:prstGeom>
          <a:solidFill>
            <a:srgbClr val="1C2438"/>
          </a:solidFill>
          <a:ln w="1270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A822"/>
                </a:solidFill>
                <a:latin typeface="Segoe UI"/>
              </a:defRPr>
            </a:pPr>
            <a:r>
              <a:t>Zero Fluff / Real Data</a:t>
            </a:r>
          </a:p>
          <a:p>
            <a:pPr>
              <a:spcBef>
                <a:spcPts val="1400"/>
              </a:spcBef>
              <a:defRPr sz="1400">
                <a:solidFill>
                  <a:srgbClr val="9CA9BA"/>
                </a:solidFill>
                <a:latin typeface="Segoe UI"/>
              </a:defRPr>
            </a:pPr>
            <a:r>
              <a:t>No generic essays. No AI prompts. Today we look at your actual hardware telemetry to understand the exact mechanics of your daily focus.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822"/>
                </a:solidFill>
                <a:latin typeface="Segoe UI"/>
              </a:defRPr>
            </a:pPr>
            <a:r>
              <a:t>STUDENT ACTION PROTOCOL</a:t>
            </a:r>
          </a:p>
          <a:p>
            <a:pPr>
              <a:defRPr sz="3000" b="1">
                <a:solidFill>
                  <a:srgbClr val="F0F4F8"/>
                </a:solidFill>
                <a:latin typeface="Segoe UI"/>
              </a:defRPr>
            </a:pPr>
            <a:r>
              <a:t>Step 1: Phone Telemetry  |  Step 2: Partner Interrogation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4937760" cy="4389120"/>
          </a:xfrm>
          <a:prstGeom prst="rect">
            <a:avLst/>
          </a:prstGeom>
          <a:solidFill>
            <a:srgbClr val="1C2438"/>
          </a:solidFill>
          <a:ln w="19050">
            <a:solidFill>
              <a:srgbClr val="2D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AAB9"/>
                </a:solidFill>
                <a:latin typeface="Segoe UI"/>
              </a:defRPr>
            </a:pPr>
            <a:r>
              <a:t>STEP 1: UNLOCK YOUR STATS (2 MINS)</a:t>
            </a:r>
          </a:p>
          <a:p>
            <a:pPr>
              <a:spcBef>
                <a:spcPts val="800"/>
              </a:spcBef>
              <a:defRPr sz="1300">
                <a:solidFill>
                  <a:srgbClr val="9CA9BA"/>
                </a:solidFill>
                <a:latin typeface="Segoe UI"/>
              </a:defRPr>
            </a:pPr>
            <a:r>
              <a:t>Open Settings &gt; Screen Time (iOS) or Digital Wellbeing (Android).</a:t>
            </a:r>
          </a:p>
          <a:p>
            <a:pPr>
              <a:spcBef>
                <a:spcPts val="800"/>
              </a:spcBef>
              <a:defRPr sz="1300">
                <a:solidFill>
                  <a:srgbClr val="9CA9BA"/>
                </a:solidFill>
                <a:latin typeface="Segoe UI"/>
              </a:defRPr>
            </a:pPr>
            <a:r>
              <a:t>Record 3 exact numbers on a sticky note or in your notes:</a:t>
            </a:r>
          </a:p>
          <a:p>
            <a:pPr>
              <a:spcBef>
                <a:spcPts val="800"/>
              </a:spcBef>
              <a:defRPr sz="1300">
                <a:solidFill>
                  <a:srgbClr val="F0F4F8"/>
                </a:solidFill>
                <a:latin typeface="Segoe UI"/>
              </a:defRPr>
            </a:pPr>
            <a:r>
              <a:t>• Number 1: Total Screen Time yesterday (Hours &amp; Mins)</a:t>
            </a:r>
          </a:p>
          <a:p>
            <a:pPr>
              <a:spcBef>
                <a:spcPts val="800"/>
              </a:spcBef>
              <a:defRPr sz="1300">
                <a:solidFill>
                  <a:srgbClr val="F0F4F8"/>
                </a:solidFill>
                <a:latin typeface="Segoe UI"/>
              </a:defRPr>
            </a:pPr>
            <a:r>
              <a:t>• Number 2: Total Pickups (Times unlocked yesterday)</a:t>
            </a:r>
          </a:p>
          <a:p>
            <a:pPr>
              <a:spcBef>
                <a:spcPts val="800"/>
              </a:spcBef>
              <a:defRPr sz="1300">
                <a:solidFill>
                  <a:srgbClr val="F0F4F8"/>
                </a:solidFill>
                <a:latin typeface="Segoe UI"/>
              </a:defRPr>
            </a:pPr>
            <a:r>
              <a:t>• Number 3: First App Opened within 15 minutes of waking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solidFill>
            <a:srgbClr val="1C2438"/>
          </a:solidFill>
          <a:ln w="19050">
            <a:solidFill>
              <a:srgbClr val="E6A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A822"/>
                </a:solidFill>
                <a:latin typeface="Segoe UI"/>
              </a:defRPr>
            </a:pPr>
            <a:r>
              <a:t>STEP 2: THE 3-MINUTE INTERROGATION</a:t>
            </a:r>
          </a:p>
          <a:p>
            <a:pPr>
              <a:spcBef>
                <a:spcPts val="800"/>
              </a:spcBef>
              <a:defRPr sz="1200">
                <a:solidFill>
                  <a:srgbClr val="9CA9BA"/>
                </a:solidFill>
                <a:latin typeface="Segoe UI"/>
              </a:defRPr>
            </a:pPr>
            <a:r>
              <a:t>Turn to your assigned partner. Partner A interviews B (3 min), then switch (3 min):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1. 'What is your #1 pickup trigger, and what emotion drives it (boredom, habit, FOMO)?'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2. 'If you regained 2 hours of that time daily, what physical or creative project would you build instead?'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3. 'Rate your sleep quality this week from 1-10. How does your bedtime phone routine affect it?'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  <a:latin typeface="Segoe UI"/>
              </a:defRPr>
            </a:pPr>
            <a:r>
              <a:t>4. Wrap-up: Place an anonymous tally on the front board for your pickup range.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
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A822"/>
                </a:solidFill>
                <a:latin typeface="Segoe UI"/>
              </a:defRPr>
            </a:pPr>
            <a:r>
              <a:t>CITIZENSHIP 9</a:t>
            </a:r>
          </a:p>
          <a:p>
            <a:pPr>
              <a:defRPr sz="4000" b="1">
                <a:solidFill>
                  <a:srgbClr val="F0F4F8"/>
                </a:solidFill>
                <a:latin typeface="Segoe UI"/>
              </a:defRPr>
            </a:pPr>
            <a:r>
              <a:t>Power, Rights &amp; The Classroom Constitution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0362895" cy="3291840"/>
          </a:xfrm>
          <a:prstGeom prst="rect">
            <a:avLst/>
          </a:prstGeom>
          <a:solidFill>
            <a:srgbClr val="1C2438"/>
          </a:solidFill>
          <a:ln w="1905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A822"/>
                </a:solidFill>
                <a:latin typeface="Segoe UI"/>
              </a:defRPr>
            </a:pPr>
            <a:r>
              <a:t>TODAY'S CLASS RUN OF SHOW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1. The Nature of Citizenship: </a:t>
            </a:r>
            <a:r>
              <a:rPr sz="1500">
                <a:solidFill>
                  <a:srgbClr val="9CA9BA"/>
                </a:solidFill>
                <a:latin typeface="Segoe UI"/>
              </a:rPr>
              <a:t>Citizenship is not a spectator sport. You are active co-governors of Room [X].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2. The 4-Corners Stand-Up: </a:t>
            </a:r>
            <a:r>
              <a:rPr sz="1500">
                <a:solidFill>
                  <a:srgbClr val="9CA9BA"/>
                </a:solidFill>
                <a:latin typeface="Segoe UI"/>
              </a:rPr>
              <a:t>Physical movement debate testing real classroom governance scenarios.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3. The 60-Second Civic Pitch: </a:t>
            </a:r>
            <a:r>
              <a:rPr sz="1500">
                <a:solidFill>
                  <a:srgbClr val="9CA9BA"/>
                </a:solidFill>
                <a:latin typeface="Segoe UI"/>
              </a:rPr>
              <a:t>Live partner cross-examination establishing your project role and non-negotiables.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4. Drafting the Constitution: </a:t>
            </a:r>
            <a:r>
              <a:rPr sz="1500">
                <a:solidFill>
                  <a:srgbClr val="9CA9BA"/>
                </a:solidFill>
                <a:latin typeface="Segoe UI"/>
              </a:rPr>
              <a:t>Locking in our room's 3 core operational covenants for 2026-2027.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A822"/>
                </a:solidFill>
                <a:latin typeface="Segoe UI"/>
              </a:defRPr>
            </a:pPr>
            <a:r>
              <a:t>WHAT IS A CITIZEN IN THIS ROOM?</a:t>
            </a:r>
          </a:p>
          <a:p>
            <a:pPr>
              <a:defRPr sz="3200" b="1">
                <a:solidFill>
                  <a:srgbClr val="F0F4F8"/>
                </a:solidFill>
                <a:latin typeface="Segoe UI"/>
              </a:defRPr>
            </a:pPr>
            <a:r>
              <a:t>Rights Without Responsibility Collapse a Community.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3200400" cy="3840480"/>
          </a:xfrm>
          <a:prstGeom prst="rect">
            <a:avLst/>
          </a:prstGeom>
          <a:solidFill>
            <a:srgbClr val="1C2438"/>
          </a:solidFill>
          <a:ln w="1270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A822"/>
                </a:solidFill>
                <a:latin typeface="Segoe UI"/>
              </a:defRPr>
            </a:pPr>
            <a:r>
              <a:t>Power &amp; Voice</a:t>
            </a:r>
          </a:p>
          <a:p>
            <a:pPr>
              <a:spcBef>
                <a:spcPts val="1400"/>
              </a:spcBef>
              <a:defRPr sz="1400">
                <a:solidFill>
                  <a:srgbClr val="9CA9BA"/>
                </a:solidFill>
                <a:latin typeface="Segoe UI"/>
              </a:defRPr>
            </a:pPr>
            <a:r>
              <a:t>You have direct input into how this room operates, how projects are assessed, and how disputes are handled. With voice comes the obligation to engage.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2194560"/>
            <a:ext cx="3200400" cy="3840480"/>
          </a:xfrm>
          <a:prstGeom prst="rect">
            <a:avLst/>
          </a:prstGeom>
          <a:solidFill>
            <a:srgbClr val="1C2438"/>
          </a:solidFill>
          <a:ln w="12700">
            <a:solidFill>
              <a:srgbClr val="2D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AAB9"/>
                </a:solidFill>
                <a:latin typeface="Segoe UI"/>
              </a:defRPr>
            </a:pPr>
            <a:r>
              <a:t>The Project Compact</a:t>
            </a:r>
          </a:p>
          <a:p>
            <a:pPr>
              <a:spcBef>
                <a:spcPts val="1400"/>
              </a:spcBef>
              <a:defRPr sz="1400">
                <a:solidFill>
                  <a:srgbClr val="9CA9BA"/>
                </a:solidFill>
                <a:latin typeface="Segoe UI"/>
              </a:defRPr>
            </a:pPr>
            <a:r>
              <a:t>In Grade 9 Social Studies, collaborative simulations succeed or fail on individual accountability. Free-riders undermine the entire team's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94560"/>
            <a:ext cx="3200400" cy="3840480"/>
          </a:xfrm>
          <a:prstGeom prst="rect">
            <a:avLst/>
          </a:prstGeom>
          <a:solidFill>
            <a:srgbClr val="1C2438"/>
          </a:solidFill>
          <a:ln w="1270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A822"/>
                </a:solidFill>
                <a:latin typeface="Segoe UI"/>
              </a:defRPr>
            </a:pPr>
            <a:r>
              <a:t>Restitution vs. Punishment</a:t>
            </a:r>
          </a:p>
          <a:p>
            <a:pPr>
              <a:spcBef>
                <a:spcPts val="1400"/>
              </a:spcBef>
              <a:defRPr sz="1400">
                <a:solidFill>
                  <a:srgbClr val="9CA9BA"/>
                </a:solidFill>
                <a:latin typeface="Segoe UI"/>
              </a:defRPr>
            </a:pPr>
            <a:r>
              <a:t>When norms break, how does our community respond? True civic justice focuses on repairing harm to the collective rather than passive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22"/>
                </a:solidFill>
                <a:latin typeface="Segoe UI"/>
              </a:defRPr>
            </a:pPr>
            <a:r>
              <a:t>STUDENT ACTION PROTOCOL</a:t>
            </a:r>
          </a:p>
          <a:p>
            <a:pPr>
              <a:defRPr sz="3000" b="1">
                <a:solidFill>
                  <a:srgbClr val="F0F4F8"/>
                </a:solidFill>
                <a:latin typeface="Segoe UI"/>
              </a:defRPr>
            </a:pPr>
            <a:r>
              <a:t>Step 1: 4-Corners Stand-Up  |  Step 2: 60-Second Civic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solidFill>
            <a:srgbClr val="1C2438"/>
          </a:solidFill>
          <a:ln w="19050">
            <a:solidFill>
              <a:srgbClr val="2D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AAB9"/>
                </a:solidFill>
                <a:latin typeface="Segoe UI"/>
              </a:defRPr>
            </a:pPr>
            <a:r>
              <a:t>PHASE 1: 4-CORNERS STAND-UP DEBATE</a:t>
            </a:r>
          </a:p>
          <a:p>
            <a:pPr>
              <a:spcBef>
                <a:spcPts val="800"/>
              </a:spcBef>
              <a:defRPr sz="1200">
                <a:solidFill>
                  <a:srgbClr val="9CA9BA"/>
                </a:solidFill>
                <a:latin typeface="Segoe UI"/>
              </a:defRPr>
            </a:pPr>
            <a:r>
              <a:t>Move physically to your corner (Strongly Agree, Agree, Disagree, Strongly Disagree):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• Dilemma A: 'A group member who does zero work should receive a zero grade, even if the team project earns an A.'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• Dilemma B: 'To protect class focus, phones should be placed in a shared organizer during collaborative work.'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• Dilemma C: 'A student who disrupts a group owes direct work restitution to the team, not just an apology to the teacher.'</a:t>
            </a:r>
          </a:p>
          <a:p>
            <a:pPr>
              <a:spcBef>
                <a:spcPts val="800"/>
              </a:spcBef>
              <a:defRPr sz="1200">
                <a:solidFill>
                  <a:srgbClr val="9CA9BA"/>
                </a:solidFill>
                <a:latin typeface="Segoe UI"/>
              </a:defRPr>
            </a:pPr>
            <a:r>
              <a:t>Be ready to defend your corner with 1 piece of reasoning.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solidFill>
            <a:srgbClr val="1C2438"/>
          </a:solidFill>
          <a:ln w="1905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A822"/>
                </a:solidFill>
                <a:latin typeface="Segoe UI"/>
              </a:defRPr>
            </a:pPr>
            <a:r>
              <a:t>PHASE 2: 60-SEC CIVIC PITCH &amp; ROLE DRAFT</a:t>
            </a:r>
          </a:p>
          <a:p>
            <a:pPr>
              <a:spcBef>
                <a:spcPts val="800"/>
              </a:spcBef>
              <a:defRPr sz="1200">
                <a:solidFill>
                  <a:srgbClr val="9CA9BA"/>
                </a:solidFill>
                <a:latin typeface="Segoe UI"/>
              </a:defRPr>
            </a:pPr>
            <a:r>
              <a:t>Turn to your assigned partner. Deliver your live verbal pitch (60 sec each):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1. My Non-Negotiable: 'What is 1 essential condition you need from this class to do your best work?'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2. My Project Role: 'What specific primary strength do you pledge to bring to group simulations (Lead Researcher, Visual Lead, Data/Logic Checker, Presenter, Project Manager)?'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3. Cross-Examination: Partner must ask 1 challenge question before endorsing.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4. Output: Post your pair's #1 non-negotiable on the front 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
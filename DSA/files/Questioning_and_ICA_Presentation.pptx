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C757E2-5E2E-48A2-BB37-6F64FCB75B68}">
  <a:tblStyle styleId="{82C757E2-5E2E-48A2-BB37-6F64FCB75B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f849f04e05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f849f04e0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f849f04e05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f849f04e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849f04e05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849f04e0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849f04e05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849f04e0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849f04e05_0_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849f04e0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f849f04e05_0_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f849f04e0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849f04e05_0_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f849f04e0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1b06cce4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1b06cce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b8824013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0b882401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825" y="972913"/>
            <a:ext cx="5051951" cy="31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765775" y="1645750"/>
            <a:ext cx="4227000" cy="14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1519100" y="1142662"/>
            <a:ext cx="69390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519100" y="2279990"/>
            <a:ext cx="69390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387000" y="1933200"/>
            <a:ext cx="6241500" cy="81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01650" lvl="0" marL="457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1pPr>
            <a:lvl2pPr indent="-501650" lvl="1" marL="914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2pPr>
            <a:lvl3pPr indent="-501650" lvl="2" marL="1371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3pPr>
            <a:lvl4pPr indent="-501650" lvl="3" marL="18288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4pPr>
            <a:lvl5pPr indent="-501650" lvl="4" marL="22860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5pPr>
            <a:lvl6pPr indent="-501650" lvl="5" marL="2743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6pPr>
            <a:lvl7pPr indent="-501650" lvl="6" marL="3200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7pPr>
            <a:lvl8pPr indent="-501650" lvl="7" marL="3657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8pPr>
            <a:lvl9pPr indent="-501650" lvl="8" marL="411480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1412975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5156126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11775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3929671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6447566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1411775" y="4270412"/>
            <a:ext cx="72750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rgbClr val="FFE595"/>
            </a:gs>
            <a:gs pos="100000">
              <a:srgbClr val="F8C119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indent="-3683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indent="-3683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indent="-3683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indent="-3683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indent="-3683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indent="-3683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indent="-3683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indent="-3683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forms.gle/s16kaJYJoQUUn9Au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ctrTitle"/>
          </p:nvPr>
        </p:nvSpPr>
        <p:spPr>
          <a:xfrm>
            <a:off x="2732175" y="1654175"/>
            <a:ext cx="4227000" cy="14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ource Code Pro"/>
                <a:ea typeface="Source Code Pro"/>
                <a:cs typeface="Source Code Pro"/>
                <a:sym typeface="Source Code Pro"/>
              </a:rPr>
              <a:t>Asking Good Questions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Learning Goal: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How to ask good questions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Asking Good Questions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586300" y="1287950"/>
            <a:ext cx="80994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What is involved with creating a good question?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310925" y="95650"/>
            <a:ext cx="8285700" cy="55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Keys To Asking A Good Question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103650" y="694025"/>
            <a:ext cx="8936700" cy="44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Source Code Pro"/>
              <a:buAutoNum type="arabicParenR"/>
            </a:pP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A good question is an invitation to think (not recall, summarize, or detail).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Source Code Pro"/>
              <a:buAutoNum type="arabicParenR"/>
            </a:pP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A good question comes from genuine curiosity and confusion about the world.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Source Code Pro"/>
              <a:buAutoNum type="arabicParenR"/>
            </a:pP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A good question makes you think </a:t>
            </a: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about something in a way you never considered before.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Source Code Pro"/>
              <a:buAutoNum type="arabicParenR"/>
            </a:pP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A good question invites both deep thinking and deep feelings.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Source Code Pro"/>
              <a:buAutoNum type="arabicParenR"/>
            </a:pP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A good question leads to more good questions.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Source Code Pro"/>
              <a:buAutoNum type="arabicParenR"/>
            </a:pP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A good question asks you to think critically, creatively, ethically, productively, and reflectively about essential ideas in a discipline.</a:t>
            </a:r>
            <a:r>
              <a:rPr lang="en" sz="21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21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843250" y="53297"/>
            <a:ext cx="7273800" cy="52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Questions?	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53150" y="683900"/>
            <a:ext cx="8952300" cy="445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Let's take a look at some different types of questions:</a:t>
            </a:r>
            <a:endParaRPr b="1"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What are examples of teenage rebellion?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Should teenagers rebel?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What television shows feature rebellious teenagers?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How many people in prisons are teenages?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How is the teenage brain different?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Do we need specific laws for teenagers?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745500" y="140047"/>
            <a:ext cx="7273800" cy="50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	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43500" y="763825"/>
            <a:ext cx="8457000" cy="38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Let's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take a look at some 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different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types of questions:</a:t>
            </a: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highlight>
                  <a:srgbClr val="FFFF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What are examples of teenage rebellion?</a:t>
            </a:r>
            <a:endParaRPr sz="1800">
              <a:highlight>
                <a:srgbClr val="FF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Should teenagers rebel?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highlight>
                  <a:srgbClr val="FFFF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What television shows feature rebellious teenagers?</a:t>
            </a:r>
            <a:endParaRPr sz="1800">
              <a:highlight>
                <a:srgbClr val="FF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highlight>
                  <a:srgbClr val="FFFF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How many people in prisons are teenagers?</a:t>
            </a:r>
            <a:endParaRPr sz="1800">
              <a:highlight>
                <a:srgbClr val="FF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How is the teenage brain different?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Do we need specific laws for teenagers?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6640600" y="1279125"/>
            <a:ext cx="2056200" cy="1084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These are </a:t>
            </a:r>
            <a:r>
              <a:rPr b="1" lang="en" sz="1100"/>
              <a:t>factual questions with correct answers.</a:t>
            </a:r>
            <a:endParaRPr b="1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Questions?	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177600" y="1074750"/>
            <a:ext cx="89664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Let's take a look at some different types of questions: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What are examples of teenage rebellion?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Should teenagers rebel?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What television shows feature rebellious teenagers?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How many people in prisons are teenages?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highlight>
                  <a:srgbClr val="00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How is the teenage brain different?</a:t>
            </a:r>
            <a:endParaRPr sz="1800">
              <a:highlight>
                <a:srgbClr val="00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00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Code Pro"/>
              <a:buAutoNum type="arabicParenR"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Do we need specific laws for teenagers?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6399575" y="3715050"/>
            <a:ext cx="2286000" cy="1134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6639050" y="4040850"/>
            <a:ext cx="217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is a scientific question, that has yet to be </a:t>
            </a:r>
            <a:r>
              <a:rPr lang="en" sz="1200"/>
              <a:t>answered</a:t>
            </a:r>
            <a:r>
              <a:rPr lang="en" sz="1200"/>
              <a:t>. 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491575" y="202450"/>
            <a:ext cx="7912800" cy="44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Questions?	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236850" y="670650"/>
            <a:ext cx="8670300" cy="43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Code Pro"/>
                <a:ea typeface="Source Code Pro"/>
                <a:cs typeface="Source Code Pro"/>
                <a:sym typeface="Source Code Pro"/>
              </a:rPr>
              <a:t>Let's take a look at some different types of questions:</a:t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"/>
              <a:buAutoNum type="arabicParenR"/>
            </a:pPr>
            <a:r>
              <a:rPr lang="en" sz="1900">
                <a:latin typeface="Source Code Pro"/>
                <a:ea typeface="Source Code Pro"/>
                <a:cs typeface="Source Code Pro"/>
                <a:sym typeface="Source Code Pro"/>
              </a:rPr>
              <a:t>What are examples of teenage rebellion?</a:t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"/>
              <a:buAutoNum type="arabicParenR"/>
            </a:pPr>
            <a:r>
              <a:rPr lang="en" sz="1900">
                <a:highlight>
                  <a:srgbClr val="00FF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Should teenagers rebel?</a:t>
            </a:r>
            <a:endParaRPr sz="1900">
              <a:highlight>
                <a:srgbClr val="00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highlight>
                <a:srgbClr val="00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"/>
              <a:buAutoNum type="arabicParenR"/>
            </a:pPr>
            <a:r>
              <a:rPr lang="en" sz="1900">
                <a:latin typeface="Source Code Pro"/>
                <a:ea typeface="Source Code Pro"/>
                <a:cs typeface="Source Code Pro"/>
                <a:sym typeface="Source Code Pro"/>
              </a:rPr>
              <a:t>What television shows feature rebellious teenagers?</a:t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"/>
              <a:buAutoNum type="arabicParenR"/>
            </a:pPr>
            <a:r>
              <a:rPr lang="en" sz="1900">
                <a:latin typeface="Source Code Pro"/>
                <a:ea typeface="Source Code Pro"/>
                <a:cs typeface="Source Code Pro"/>
                <a:sym typeface="Source Code Pro"/>
              </a:rPr>
              <a:t>How many people in prisons are teenages?</a:t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"/>
              <a:buAutoNum type="arabicParenR"/>
            </a:pPr>
            <a:r>
              <a:rPr lang="en" sz="1900">
                <a:latin typeface="Source Code Pro"/>
                <a:ea typeface="Source Code Pro"/>
                <a:cs typeface="Source Code Pro"/>
                <a:sym typeface="Source Code Pro"/>
              </a:rPr>
              <a:t>How is the teenage brain different?</a:t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"/>
              <a:buAutoNum type="arabicParenR"/>
            </a:pPr>
            <a:r>
              <a:rPr lang="en" sz="1900">
                <a:highlight>
                  <a:srgbClr val="00FF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 we need specific laws for teenagers? </a:t>
            </a:r>
            <a:endParaRPr sz="1900">
              <a:highlight>
                <a:srgbClr val="00FF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5891575" y="1296175"/>
            <a:ext cx="3061500" cy="1664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6140325" y="1735675"/>
            <a:ext cx="3061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These questions are more than just a “Yes or No” they require thought and justification of ideas. 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772175" y="174848"/>
            <a:ext cx="7273800" cy="55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Avoid Leading Questions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772175" y="1159006"/>
            <a:ext cx="72738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What are leading questions?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ource Code Pro"/>
                <a:ea typeface="Source Code Pro"/>
                <a:cs typeface="Source Code Pro"/>
                <a:sym typeface="Source Code Pro"/>
              </a:rPr>
              <a:t>A question that leads or suggests a specific answer. 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549875" y="19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{82C757E2-5E2E-48A2-BB37-6F64FCB75B68}</a:tableStyleId>
              </a:tblPr>
              <a:tblGrid>
                <a:gridCol w="4119200"/>
                <a:gridCol w="4119200"/>
              </a:tblGrid>
              <a:tr h="45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Leading Question</a:t>
                      </a:r>
                      <a:endParaRPr b="1" u="sng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Neutral Question</a:t>
                      </a:r>
                      <a:endParaRPr b="1" u="sng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Why was Germany to blame for WW2?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Where does the responsibility lie for events of WWII?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Should violent teens face harsher punishments than adults?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Is justice the same for teen and adults?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8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Why would Parliament benefit from more women MP’s?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Should gender equity be a consideration of parliamentary representation?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590250" y="-84300"/>
            <a:ext cx="813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Source Code Pro"/>
                <a:ea typeface="Source Code Pro"/>
                <a:cs typeface="Source Code Pro"/>
                <a:sym typeface="Source Code Pro"/>
              </a:rPr>
              <a:t>What do you see? </a:t>
            </a:r>
            <a:endParaRPr b="1"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Source Code Pro"/>
                <a:ea typeface="Source Code Pro"/>
                <a:cs typeface="Source Code Pro"/>
                <a:sym typeface="Source Code Pro"/>
              </a:rPr>
              <a:t>Come up with a question that you have from this photo?</a:t>
            </a:r>
            <a:endParaRPr b="1"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549" y="592800"/>
            <a:ext cx="5596950" cy="447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Questioning ICA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Now it is time for you to demonstrate your understanding of how to ask a good question. 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Click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on the link below to complete the Questioning ICA.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/>
              </a:rPr>
              <a:t>Link Questioning ICA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ate template">
  <a:themeElements>
    <a:clrScheme name="Custom 347">
      <a:dk1>
        <a:srgbClr val="1C4587"/>
      </a:dk1>
      <a:lt1>
        <a:srgbClr val="FFFFFF"/>
      </a:lt1>
      <a:dk2>
        <a:srgbClr val="606A7C"/>
      </a:dk2>
      <a:lt2>
        <a:srgbClr val="D3DAE2"/>
      </a:lt2>
      <a:accent1>
        <a:srgbClr val="1C4587"/>
      </a:accent1>
      <a:accent2>
        <a:srgbClr val="6CC2DC"/>
      </a:accent2>
      <a:accent3>
        <a:srgbClr val="B4E04F"/>
      </a:accent3>
      <a:accent4>
        <a:srgbClr val="FFD453"/>
      </a:accent4>
      <a:accent5>
        <a:srgbClr val="EE973B"/>
      </a:accent5>
      <a:accent6>
        <a:srgbClr val="F74848"/>
      </a:accent6>
      <a:hlink>
        <a:srgbClr val="1C4587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
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0686fa95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0686fa95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c0686fa95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c0686fa95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c0686fa95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c0686fa95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c0686fa95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c0686fa95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0686fa95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0686fa95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0686fa95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0686fa95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c0686fa95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c0686fa95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bddec8718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bddec8718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ddec8718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ddec8718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bddec8718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bddec8718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bddec8718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bddec8718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hyperlink" Target="https://drive.google.com/file/d/1hUsr87M_NrRNkpzbCpcMl9FOr_0HQ8CM/view?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F83"/>
            </a:gs>
            <a:gs pos="100000">
              <a:srgbClr val="E3F609"/>
            </a:gs>
          </a:gsLst>
          <a:lin ang="5400012" scaled="0"/>
        </a:gradFill>
      </p:bgPr>
    </p:bg>
    <p:spTree>
      <p:nvGrpSpPr>
        <p:cNvPr id="53" name="Shape 53"/>
        <p:cNvGrpSpPr/>
        <p:nvPr/>
      </p:nvGrpSpPr>
      <p:grpSpPr>
        <a:xfrm>
          <a:off x="0" y="0"/>
          <a:ext cx="0" cy="0"/>
          <a:chOff x="0" y="0"/>
          <a:chExt cx="0" cy="0"/>
        </a:xfrm>
      </p:grpSpPr>
      <p:sp>
        <p:nvSpPr>
          <p:cNvPr id="54" name="Google Shape;54;p13"/>
          <p:cNvSpPr txBox="1"/>
          <p:nvPr/>
        </p:nvSpPr>
        <p:spPr>
          <a:xfrm>
            <a:off x="895650" y="444975"/>
            <a:ext cx="7492200" cy="3201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Source Code Pro"/>
                <a:ea typeface="Source Code Pro"/>
                <a:cs typeface="Source Code Pro"/>
                <a:sym typeface="Source Code Pro"/>
              </a:rPr>
              <a:t>Step 1:Brainstorming</a:t>
            </a:r>
            <a:endParaRPr b="1" sz="2200">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b="1">
              <a:solidFill>
                <a:schemeClr val="dk1"/>
              </a:solidFill>
              <a:latin typeface="Source Code Pro"/>
              <a:ea typeface="Source Code Pro"/>
              <a:cs typeface="Source Code Pro"/>
              <a:sym typeface="Source Code Pro"/>
            </a:endParaRPr>
          </a:p>
          <a:p>
            <a:pPr indent="0" lvl="0" marL="0" rtl="0" algn="just">
              <a:spcBef>
                <a:spcPts val="0"/>
              </a:spcBef>
              <a:spcAft>
                <a:spcPts val="0"/>
              </a:spcAft>
              <a:buNone/>
            </a:pPr>
            <a:r>
              <a:rPr lang="en" sz="1800">
                <a:solidFill>
                  <a:schemeClr val="dk1"/>
                </a:solidFill>
                <a:latin typeface="Source Code Pro Medium"/>
                <a:ea typeface="Source Code Pro Medium"/>
                <a:cs typeface="Source Code Pro Medium"/>
                <a:sym typeface="Source Code Pro Medium"/>
              </a:rPr>
              <a:t>      Brainstorm and come up with a topic that you are interested in learning more about. Spend some time looking online to see what kind of information and sources are going to be available. Follow the “I can” statements below to complete this step:</a:t>
            </a:r>
            <a:endParaRPr sz="1800">
              <a:solidFill>
                <a:schemeClr val="dk1"/>
              </a:solidFill>
              <a:latin typeface="Source Code Pro Medium"/>
              <a:ea typeface="Source Code Pro Medium"/>
              <a:cs typeface="Source Code Pro Medium"/>
              <a:sym typeface="Source Code Pro Medium"/>
            </a:endParaRPr>
          </a:p>
          <a:p>
            <a:pPr indent="0" lvl="0" marL="0" rtl="0" algn="l">
              <a:spcBef>
                <a:spcPts val="0"/>
              </a:spcBef>
              <a:spcAft>
                <a:spcPts val="0"/>
              </a:spcAft>
              <a:buNone/>
            </a:pPr>
            <a:r>
              <a:t/>
            </a:r>
            <a:endParaRPr>
              <a:solidFill>
                <a:schemeClr val="dk1"/>
              </a:solidFill>
              <a:latin typeface="Source Code Pro Medium"/>
              <a:ea typeface="Source Code Pro Medium"/>
              <a:cs typeface="Source Code Pro Medium"/>
              <a:sym typeface="Source Code Pro Medium"/>
            </a:endParaRPr>
          </a:p>
          <a:p>
            <a:pPr indent="0" lvl="0" marL="0" rtl="0" algn="l">
              <a:spcBef>
                <a:spcPts val="0"/>
              </a:spcBef>
              <a:spcAft>
                <a:spcPts val="0"/>
              </a:spcAft>
              <a:buNone/>
            </a:pPr>
            <a:r>
              <a:t/>
            </a:r>
            <a:endParaRPr>
              <a:solidFill>
                <a:schemeClr val="dk1"/>
              </a:solidFill>
              <a:latin typeface="Source Code Pro Medium"/>
              <a:ea typeface="Source Code Pro Medium"/>
              <a:cs typeface="Source Code Pro Medium"/>
              <a:sym typeface="Source Code Pro Medium"/>
            </a:endParaRPr>
          </a:p>
          <a:p>
            <a:pPr indent="0" lvl="0" marL="0" rtl="0" algn="ctr">
              <a:spcBef>
                <a:spcPts val="0"/>
              </a:spcBef>
              <a:spcAft>
                <a:spcPts val="0"/>
              </a:spcAft>
              <a:buNone/>
            </a:pPr>
            <a:r>
              <a:rPr lang="en">
                <a:solidFill>
                  <a:schemeClr val="dk1"/>
                </a:solidFill>
                <a:latin typeface="Source Code Pro Medium"/>
                <a:ea typeface="Source Code Pro Medium"/>
                <a:cs typeface="Source Code Pro Medium"/>
                <a:sym typeface="Source Code Pro Medium"/>
              </a:rPr>
              <a:t>I can select a topic for my essay.</a:t>
            </a:r>
            <a:endParaRPr>
              <a:solidFill>
                <a:schemeClr val="dk1"/>
              </a:solidFill>
              <a:latin typeface="Source Code Pro Medium"/>
              <a:ea typeface="Source Code Pro Medium"/>
              <a:cs typeface="Source Code Pro Medium"/>
              <a:sym typeface="Source Code Pro Medium"/>
            </a:endParaRPr>
          </a:p>
          <a:p>
            <a:pPr indent="0" lvl="0" marL="0" rtl="0" algn="ctr">
              <a:spcBef>
                <a:spcPts val="0"/>
              </a:spcBef>
              <a:spcAft>
                <a:spcPts val="0"/>
              </a:spcAft>
              <a:buNone/>
            </a:pPr>
            <a:r>
              <a:t/>
            </a:r>
            <a:endParaRPr>
              <a:solidFill>
                <a:schemeClr val="dk1"/>
              </a:solidFill>
              <a:latin typeface="Source Code Pro Medium"/>
              <a:ea typeface="Source Code Pro Medium"/>
              <a:cs typeface="Source Code Pro Medium"/>
              <a:sym typeface="Source Code Pro Medium"/>
            </a:endParaRPr>
          </a:p>
          <a:p>
            <a:pPr indent="0" lvl="0" marL="0" rtl="0" algn="ctr">
              <a:spcBef>
                <a:spcPts val="0"/>
              </a:spcBef>
              <a:spcAft>
                <a:spcPts val="0"/>
              </a:spcAft>
              <a:buClr>
                <a:schemeClr val="dk1"/>
              </a:buClr>
              <a:buSzPts val="1100"/>
              <a:buFont typeface="Arial"/>
              <a:buNone/>
            </a:pPr>
            <a:r>
              <a:rPr lang="en">
                <a:solidFill>
                  <a:schemeClr val="dk1"/>
                </a:solidFill>
                <a:latin typeface="Source Code Pro Medium"/>
                <a:ea typeface="Source Code Pro Medium"/>
                <a:cs typeface="Source Code Pro Medium"/>
                <a:sym typeface="Source Code Pro Medium"/>
              </a:rPr>
              <a:t>I can select three main ideas/topics that I want to research about.</a:t>
            </a:r>
            <a:endParaRPr>
              <a:solidFill>
                <a:schemeClr val="dk1"/>
              </a:solidFill>
              <a:latin typeface="Source Code Pro Medium"/>
              <a:ea typeface="Source Code Pro Medium"/>
              <a:cs typeface="Source Code Pro Medium"/>
              <a:sym typeface="Source Code Pro Medium"/>
            </a:endParaRPr>
          </a:p>
        </p:txBody>
      </p:sp>
      <p:sp>
        <p:nvSpPr>
          <p:cNvPr id="55" name="Google Shape;55;p13"/>
          <p:cNvSpPr txBox="1"/>
          <p:nvPr/>
        </p:nvSpPr>
        <p:spPr>
          <a:xfrm>
            <a:off x="1954350" y="3988650"/>
            <a:ext cx="6218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u="sng">
                <a:solidFill>
                  <a:schemeClr val="hlink"/>
                </a:solidFill>
                <a:latin typeface="Source Code Pro"/>
                <a:ea typeface="Source Code Pro"/>
                <a:cs typeface="Source Code Pro"/>
                <a:sym typeface="Source Code Pro"/>
                <a:hlinkClick r:id="rId3"/>
              </a:rPr>
              <a:t>Video Explanation</a:t>
            </a:r>
            <a:endParaRPr b="1" sz="2100">
              <a:latin typeface="Source Code Pro"/>
              <a:ea typeface="Source Code Pro"/>
              <a:cs typeface="Source Code Pro"/>
              <a:sym typeface="Source Code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2020225" y="557725"/>
            <a:ext cx="432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1" name="Google Shape;61;p14"/>
          <p:cNvSpPr txBox="1"/>
          <p:nvPr/>
        </p:nvSpPr>
        <p:spPr>
          <a:xfrm>
            <a:off x="1998775" y="604075"/>
            <a:ext cx="449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Micheal Jordan is the best basketball player of all time.</a:t>
            </a:r>
            <a:endParaRPr/>
          </a:p>
        </p:txBody>
      </p:sp>
      <p:sp>
        <p:nvSpPr>
          <p:cNvPr id="62" name="Google Shape;62;p14"/>
          <p:cNvSpPr txBox="1"/>
          <p:nvPr/>
        </p:nvSpPr>
        <p:spPr>
          <a:xfrm>
            <a:off x="1803325" y="2229750"/>
            <a:ext cx="114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Team Success</a:t>
            </a:r>
            <a:endParaRPr/>
          </a:p>
        </p:txBody>
      </p:sp>
      <p:sp>
        <p:nvSpPr>
          <p:cNvPr id="63" name="Google Shape;63;p14"/>
          <p:cNvSpPr txBox="1"/>
          <p:nvPr/>
        </p:nvSpPr>
        <p:spPr>
          <a:xfrm>
            <a:off x="3890950" y="2220850"/>
            <a:ext cx="114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Individual </a:t>
            </a:r>
            <a:endParaRPr/>
          </a:p>
          <a:p>
            <a:pPr indent="0" lvl="0" marL="0" rtl="0" algn="l">
              <a:spcBef>
                <a:spcPts val="0"/>
              </a:spcBef>
              <a:spcAft>
                <a:spcPts val="0"/>
              </a:spcAft>
              <a:buNone/>
            </a:pPr>
            <a:r>
              <a:rPr lang="en"/>
              <a:t>Success</a:t>
            </a:r>
            <a:endParaRPr/>
          </a:p>
        </p:txBody>
      </p:sp>
      <p:sp>
        <p:nvSpPr>
          <p:cNvPr id="64" name="Google Shape;64;p14"/>
          <p:cNvSpPr txBox="1"/>
          <p:nvPr/>
        </p:nvSpPr>
        <p:spPr>
          <a:xfrm>
            <a:off x="5934125" y="2132025"/>
            <a:ext cx="915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Global Reach and Legacy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25C"/>
            </a:gs>
          </a:gsLst>
          <a:lin ang="5400012" scaled="0"/>
        </a:gradFill>
      </p:bgPr>
    </p:bg>
    <p:spTree>
      <p:nvGrpSpPr>
        <p:cNvPr id="68" name="Shape 68"/>
        <p:cNvGrpSpPr/>
        <p:nvPr/>
      </p:nvGrpSpPr>
      <p:grpSpPr>
        <a:xfrm>
          <a:off x="0" y="0"/>
          <a:ext cx="0" cy="0"/>
          <a:chOff x="0" y="0"/>
          <a:chExt cx="0" cy="0"/>
        </a:xfrm>
      </p:grpSpPr>
      <p:sp>
        <p:nvSpPr>
          <p:cNvPr id="69" name="Google Shape;69;p15"/>
          <p:cNvSpPr txBox="1"/>
          <p:nvPr/>
        </p:nvSpPr>
        <p:spPr>
          <a:xfrm>
            <a:off x="843175" y="681150"/>
            <a:ext cx="7629900" cy="255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Source Code Pro"/>
                <a:ea typeface="Source Code Pro"/>
                <a:cs typeface="Source Code Pro"/>
                <a:sym typeface="Source Code Pro"/>
              </a:rPr>
              <a:t>Step 2: Research</a:t>
            </a:r>
            <a:endParaRPr b="1">
              <a:latin typeface="Source Code Pro"/>
              <a:ea typeface="Source Code Pro"/>
              <a:cs typeface="Source Code Pro"/>
              <a:sym typeface="Source Code Pro"/>
            </a:endParaRPr>
          </a:p>
          <a:p>
            <a:pPr indent="0" lvl="0" marL="0" rtl="0" algn="ctr">
              <a:spcBef>
                <a:spcPts val="0"/>
              </a:spcBef>
              <a:spcAft>
                <a:spcPts val="0"/>
              </a:spcAft>
              <a:buNone/>
            </a:pPr>
            <a:r>
              <a:t/>
            </a:r>
            <a:endParaRPr b="1">
              <a:latin typeface="Source Code Pro"/>
              <a:ea typeface="Source Code Pro"/>
              <a:cs typeface="Source Code Pro"/>
              <a:sym typeface="Source Code Pro"/>
            </a:endParaRPr>
          </a:p>
          <a:p>
            <a:pPr indent="0" lvl="0" marL="0" rtl="0" algn="ctr">
              <a:spcBef>
                <a:spcPts val="0"/>
              </a:spcBef>
              <a:spcAft>
                <a:spcPts val="0"/>
              </a:spcAft>
              <a:buNone/>
            </a:pPr>
            <a:r>
              <a:rPr lang="en">
                <a:latin typeface="Source Code Pro"/>
                <a:ea typeface="Source Code Pro"/>
                <a:cs typeface="Source Code Pro"/>
                <a:sym typeface="Source Code Pro"/>
              </a:rPr>
              <a:t>For all three of your main ideas/topics, you will need to find three supporting facts. These are the facts you will find from completing your research. Make sure to use primary and secondary sources. Follow the </a:t>
            </a: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statements below to complete this section:</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find three facts for my three main ideas/topics.</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6"/>
          <p:cNvSpPr txBox="1"/>
          <p:nvPr/>
        </p:nvSpPr>
        <p:spPr>
          <a:xfrm>
            <a:off x="2407400" y="986050"/>
            <a:ext cx="381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Team Success </a:t>
            </a:r>
            <a:endParaRPr/>
          </a:p>
        </p:txBody>
      </p:sp>
      <p:sp>
        <p:nvSpPr>
          <p:cNvPr id="75" name="Google Shape;75;p16"/>
          <p:cNvSpPr txBox="1"/>
          <p:nvPr/>
        </p:nvSpPr>
        <p:spPr>
          <a:xfrm>
            <a:off x="2407400" y="2014050"/>
            <a:ext cx="4024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Won 6 Championships while he played with the Bulls. Two times he won 3 </a:t>
            </a:r>
            <a:r>
              <a:rPr lang="en"/>
              <a:t>title</a:t>
            </a:r>
            <a:r>
              <a:rPr lang="en"/>
              <a:t> in a row. Also 2 Gold Medals for USA </a:t>
            </a:r>
            <a:r>
              <a:rPr lang="en"/>
              <a:t>Basketball, UNC NCAA</a:t>
            </a:r>
            <a:endParaRPr/>
          </a:p>
        </p:txBody>
      </p:sp>
      <p:sp>
        <p:nvSpPr>
          <p:cNvPr id="76" name="Google Shape;76;p16"/>
          <p:cNvSpPr txBox="1"/>
          <p:nvPr/>
        </p:nvSpPr>
        <p:spPr>
          <a:xfrm>
            <a:off x="2407400" y="3135850"/>
            <a:ext cx="4201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At the time they had the best regular season in history 1995 - 1996 team went 72-10</a:t>
            </a:r>
            <a:endParaRPr/>
          </a:p>
        </p:txBody>
      </p:sp>
      <p:sp>
        <p:nvSpPr>
          <p:cNvPr id="77" name="Google Shape;77;p16"/>
          <p:cNvSpPr txBox="1"/>
          <p:nvPr/>
        </p:nvSpPr>
        <p:spPr>
          <a:xfrm>
            <a:off x="2207450" y="4201850"/>
            <a:ext cx="460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Bulls went 119- 60 in the playoffs when was with them for a winning percentage .665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7"/>
          <p:cNvSpPr txBox="1"/>
          <p:nvPr/>
        </p:nvSpPr>
        <p:spPr>
          <a:xfrm>
            <a:off x="2007825" y="842800"/>
            <a:ext cx="347100" cy="23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3" name="Google Shape;83;p17"/>
          <p:cNvSpPr txBox="1"/>
          <p:nvPr/>
        </p:nvSpPr>
        <p:spPr>
          <a:xfrm>
            <a:off x="2593950" y="888350"/>
            <a:ext cx="3739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Individual Success </a:t>
            </a:r>
            <a:endParaRPr/>
          </a:p>
        </p:txBody>
      </p:sp>
      <p:sp>
        <p:nvSpPr>
          <p:cNvPr id="84" name="Google Shape;84;p17"/>
          <p:cNvSpPr txBox="1"/>
          <p:nvPr/>
        </p:nvSpPr>
        <p:spPr>
          <a:xfrm>
            <a:off x="2211975" y="2105375"/>
            <a:ext cx="4512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Awards - 5 x League MVP, 6 x Finals MVP, 10 x Scoring Championship</a:t>
            </a:r>
            <a:endParaRPr/>
          </a:p>
        </p:txBody>
      </p:sp>
      <p:sp>
        <p:nvSpPr>
          <p:cNvPr id="85" name="Google Shape;85;p17"/>
          <p:cNvSpPr txBox="1"/>
          <p:nvPr/>
        </p:nvSpPr>
        <p:spPr>
          <a:xfrm>
            <a:off x="2318575" y="3198025"/>
            <a:ext cx="445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Career Average - 30.1ppg, 6.2 trb, 5.3 ast, 49.7 fg%</a:t>
            </a:r>
            <a:endParaRPr/>
          </a:p>
        </p:txBody>
      </p:sp>
      <p:sp>
        <p:nvSpPr>
          <p:cNvPr id="86" name="Google Shape;86;p17"/>
          <p:cNvSpPr txBox="1"/>
          <p:nvPr/>
        </p:nvSpPr>
        <p:spPr>
          <a:xfrm>
            <a:off x="2211975" y="4175200"/>
            <a:ext cx="4512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Greatest Season? 92-93 Per 40 </a:t>
            </a:r>
            <a:r>
              <a:rPr lang="en"/>
              <a:t>possession</a:t>
            </a:r>
            <a:r>
              <a:rPr lang="en"/>
              <a:t> numbers</a:t>
            </a:r>
            <a:endParaRPr/>
          </a:p>
          <a:p>
            <a:pPr indent="0" lvl="0" marL="0" rtl="0" algn="l">
              <a:spcBef>
                <a:spcPts val="0"/>
              </a:spcBef>
              <a:spcAft>
                <a:spcPts val="0"/>
              </a:spcAft>
              <a:buNone/>
            </a:pPr>
            <a:r>
              <a:rPr lang="en"/>
              <a:t>43.0 points, 8.8 boards, 7.2 assists, 1.0 blocks, 3.7 steals. 15 - 4 playoff record on the way to finals MVP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 name="Shape 90"/>
        <p:cNvGrpSpPr/>
        <p:nvPr/>
      </p:nvGrpSpPr>
      <p:grpSpPr>
        <a:xfrm>
          <a:off x="0" y="0"/>
          <a:ext cx="0" cy="0"/>
          <a:chOff x="0" y="0"/>
          <a:chExt cx="0" cy="0"/>
        </a:xfrm>
      </p:grpSpPr>
      <p:sp>
        <p:nvSpPr>
          <p:cNvPr id="91" name="Google Shape;91;p18"/>
          <p:cNvSpPr txBox="1"/>
          <p:nvPr/>
        </p:nvSpPr>
        <p:spPr>
          <a:xfrm>
            <a:off x="2700550" y="852800"/>
            <a:ext cx="3731100" cy="63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2" name="Google Shape;92;p18"/>
          <p:cNvSpPr txBox="1"/>
          <p:nvPr/>
        </p:nvSpPr>
        <p:spPr>
          <a:xfrm>
            <a:off x="2789400" y="1101550"/>
            <a:ext cx="358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Global Reach and Legacy</a:t>
            </a:r>
            <a:endParaRPr/>
          </a:p>
        </p:txBody>
      </p:sp>
      <p:sp>
        <p:nvSpPr>
          <p:cNvPr id="93" name="Google Shape;93;p18"/>
          <p:cNvSpPr txBox="1"/>
          <p:nvPr/>
        </p:nvSpPr>
        <p:spPr>
          <a:xfrm>
            <a:off x="2549550" y="2060975"/>
            <a:ext cx="388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Jordan Brand Shoes - Net Worth 1.6 Billion, NBA Team Owner </a:t>
            </a:r>
            <a:r>
              <a:rPr lang="en"/>
              <a:t>Charlotte</a:t>
            </a:r>
            <a:r>
              <a:rPr lang="en"/>
              <a:t> </a:t>
            </a:r>
            <a:endParaRPr/>
          </a:p>
        </p:txBody>
      </p:sp>
      <p:sp>
        <p:nvSpPr>
          <p:cNvPr id="94" name="Google Shape;94;p18"/>
          <p:cNvSpPr txBox="1"/>
          <p:nvPr/>
        </p:nvSpPr>
        <p:spPr>
          <a:xfrm>
            <a:off x="2625100" y="3109200"/>
            <a:ext cx="388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Icon, “Be Like Mike” Ad Campaign and inspired countless basketball players</a:t>
            </a:r>
            <a:endParaRPr/>
          </a:p>
        </p:txBody>
      </p:sp>
      <p:sp>
        <p:nvSpPr>
          <p:cNvPr id="95" name="Google Shape;95;p18"/>
          <p:cNvSpPr txBox="1"/>
          <p:nvPr/>
        </p:nvSpPr>
        <p:spPr>
          <a:xfrm>
            <a:off x="2549550" y="4230700"/>
            <a:ext cx="3802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Space jam, Olympics, global </a:t>
            </a:r>
            <a:r>
              <a:rPr lang="en"/>
              <a:t>celebrity, Last Dance</a:t>
            </a:r>
            <a:r>
              <a:rPr lang="en"/>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25C"/>
            </a:gs>
          </a:gsLst>
          <a:lin ang="5400012" scaled="0"/>
        </a:gradFill>
      </p:bgPr>
    </p:bg>
    <p:spTree>
      <p:nvGrpSpPr>
        <p:cNvPr id="99" name="Shape 99"/>
        <p:cNvGrpSpPr/>
        <p:nvPr/>
      </p:nvGrpSpPr>
      <p:grpSpPr>
        <a:xfrm>
          <a:off x="0" y="0"/>
          <a:ext cx="0" cy="0"/>
          <a:chOff x="0" y="0"/>
          <a:chExt cx="0" cy="0"/>
        </a:xfrm>
      </p:grpSpPr>
      <p:sp>
        <p:nvSpPr>
          <p:cNvPr id="100" name="Google Shape;100;p19"/>
          <p:cNvSpPr txBox="1"/>
          <p:nvPr/>
        </p:nvSpPr>
        <p:spPr>
          <a:xfrm>
            <a:off x="554500" y="444975"/>
            <a:ext cx="8266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Source Code Pro"/>
                <a:ea typeface="Source Code Pro"/>
                <a:cs typeface="Source Code Pro"/>
                <a:sym typeface="Source Code Pro"/>
              </a:rPr>
              <a:t>Step 3: Writing Your Draft</a:t>
            </a:r>
            <a:endParaRPr b="1">
              <a:latin typeface="Source Code Pro"/>
              <a:ea typeface="Source Code Pro"/>
              <a:cs typeface="Source Code Pro"/>
              <a:sym typeface="Source Code Pro"/>
            </a:endParaRPr>
          </a:p>
        </p:txBody>
      </p:sp>
      <p:sp>
        <p:nvSpPr>
          <p:cNvPr id="101" name="Google Shape;101;p19"/>
          <p:cNvSpPr txBox="1"/>
          <p:nvPr/>
        </p:nvSpPr>
        <p:spPr>
          <a:xfrm>
            <a:off x="318325" y="1153525"/>
            <a:ext cx="8345100" cy="3201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a:latin typeface="Source Code Pro"/>
                <a:ea typeface="Source Code Pro"/>
                <a:cs typeface="Source Code Pro"/>
                <a:sym typeface="Source Code Pro"/>
              </a:rPr>
              <a:t>Now that you have completed your research it is time to start writing your draft. Follow the tips and instructions on each slide. Use the </a:t>
            </a: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statements below to complete this section:</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latin typeface="Source Code Pro"/>
                <a:ea typeface="Source Code Pro"/>
                <a:cs typeface="Source Code Pro"/>
                <a:sym typeface="Source Code Pro"/>
              </a:rPr>
              <a:t>I can</a:t>
            </a:r>
            <a:r>
              <a:rPr lang="en">
                <a:latin typeface="Source Code Pro"/>
                <a:ea typeface="Source Code Pro"/>
                <a:cs typeface="Source Code Pro"/>
                <a:sym typeface="Source Code Pro"/>
              </a:rPr>
              <a:t> write an introduction paragraph</a:t>
            </a:r>
            <a:endParaRPr>
              <a:latin typeface="Source Code Pro"/>
              <a:ea typeface="Source Code Pro"/>
              <a:cs typeface="Source Code Pro"/>
              <a:sym typeface="Source Code Pro"/>
            </a:endParaRPr>
          </a:p>
          <a:p>
            <a:pPr indent="0" lvl="0" marL="0" rtl="0" algn="ctr">
              <a:spcBef>
                <a:spcPts val="0"/>
              </a:spcBef>
              <a:spcAft>
                <a:spcPts val="0"/>
              </a:spcAft>
              <a:buNone/>
            </a:pPr>
            <a:r>
              <a:t/>
            </a:r>
            <a:endParaRPr>
              <a:latin typeface="Source Code Pro"/>
              <a:ea typeface="Source Code Pro"/>
              <a:cs typeface="Source Code Pro"/>
              <a:sym typeface="Source Code Pro"/>
            </a:endParaRPr>
          </a:p>
          <a:p>
            <a:pPr indent="0" lvl="0" marL="0" rtl="0" algn="ctr">
              <a:spcBef>
                <a:spcPts val="0"/>
              </a:spcBef>
              <a:spcAft>
                <a:spcPts val="0"/>
              </a:spcAft>
              <a:buNone/>
            </a:pPr>
            <a:r>
              <a:rPr b="1" lang="en">
                <a:solidFill>
                  <a:schemeClr val="dk1"/>
                </a:solidFill>
                <a:latin typeface="Source Code Pro"/>
                <a:ea typeface="Source Code Pro"/>
                <a:cs typeface="Source Code Pro"/>
                <a:sym typeface="Source Code Pro"/>
              </a:rPr>
              <a:t>I can</a:t>
            </a:r>
            <a:r>
              <a:rPr lang="en">
                <a:solidFill>
                  <a:schemeClr val="dk1"/>
                </a:solidFill>
                <a:latin typeface="Source Code Pro"/>
                <a:ea typeface="Source Code Pro"/>
                <a:cs typeface="Source Code Pro"/>
                <a:sym typeface="Source Code Pro"/>
              </a:rPr>
              <a:t> write 3 body paragraphs</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rPr b="1" lang="en">
                <a:solidFill>
                  <a:schemeClr val="dk1"/>
                </a:solidFill>
                <a:latin typeface="Source Code Pro"/>
                <a:ea typeface="Source Code Pro"/>
                <a:cs typeface="Source Code Pro"/>
                <a:sym typeface="Source Code Pro"/>
              </a:rPr>
              <a:t>I can</a:t>
            </a:r>
            <a:r>
              <a:rPr lang="en">
                <a:solidFill>
                  <a:schemeClr val="dk1"/>
                </a:solidFill>
                <a:latin typeface="Source Code Pro"/>
                <a:ea typeface="Source Code Pro"/>
                <a:cs typeface="Source Code Pro"/>
                <a:sym typeface="Source Code Pro"/>
              </a:rPr>
              <a:t> write a conclusion</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Clr>
                <a:schemeClr val="dk1"/>
              </a:buClr>
              <a:buSzPts val="1100"/>
              <a:buFont typeface="Arial"/>
              <a:buNone/>
            </a:pPr>
            <a:r>
              <a:rPr b="1" lang="en">
                <a:solidFill>
                  <a:schemeClr val="dk1"/>
                </a:solidFill>
                <a:latin typeface="Source Code Pro"/>
                <a:ea typeface="Source Code Pro"/>
                <a:cs typeface="Source Code Pro"/>
                <a:sym typeface="Source Code Pro"/>
              </a:rPr>
              <a:t>I can</a:t>
            </a:r>
            <a:r>
              <a:rPr lang="en">
                <a:solidFill>
                  <a:schemeClr val="dk1"/>
                </a:solidFill>
                <a:latin typeface="Source Code Pro"/>
                <a:ea typeface="Source Code Pro"/>
                <a:cs typeface="Source Code Pro"/>
                <a:sym typeface="Source Code Pro"/>
              </a:rPr>
              <a:t> use my research</a:t>
            </a:r>
            <a:endParaRPr>
              <a:solidFill>
                <a:schemeClr val="dk1"/>
              </a:solidFill>
              <a:latin typeface="Source Code Pro"/>
              <a:ea typeface="Source Code Pro"/>
              <a:cs typeface="Source Code Pro"/>
              <a:sym typeface="Source Code Pro"/>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sp>
        <p:nvSpPr>
          <p:cNvPr id="106" name="Google Shape;106;p20"/>
          <p:cNvSpPr txBox="1"/>
          <p:nvPr/>
        </p:nvSpPr>
        <p:spPr>
          <a:xfrm>
            <a:off x="2622125" y="332725"/>
            <a:ext cx="394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7" name="Google Shape;107;p20"/>
          <p:cNvSpPr txBox="1"/>
          <p:nvPr/>
        </p:nvSpPr>
        <p:spPr>
          <a:xfrm>
            <a:off x="7174700" y="154100"/>
            <a:ext cx="1887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u="sng">
                <a:latin typeface="Source Code Pro"/>
                <a:ea typeface="Source Code Pro"/>
                <a:cs typeface="Source Code Pro"/>
                <a:sym typeface="Source Code Pro"/>
              </a:rPr>
              <a:t>Introduction Paragraph</a:t>
            </a:r>
            <a:endParaRPr b="1" u="sng">
              <a:latin typeface="Source Code Pro"/>
              <a:ea typeface="Source Code Pro"/>
              <a:cs typeface="Source Code Pro"/>
              <a:sym typeface="Source Code Pro"/>
            </a:endParaRPr>
          </a:p>
        </p:txBody>
      </p:sp>
      <p:sp>
        <p:nvSpPr>
          <p:cNvPr id="108" name="Google Shape;108;p20"/>
          <p:cNvSpPr txBox="1"/>
          <p:nvPr/>
        </p:nvSpPr>
        <p:spPr>
          <a:xfrm>
            <a:off x="2565025" y="295450"/>
            <a:ext cx="3946500" cy="38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9" name="Google Shape;109;p20"/>
          <p:cNvSpPr txBox="1"/>
          <p:nvPr/>
        </p:nvSpPr>
        <p:spPr>
          <a:xfrm>
            <a:off x="2620600" y="346450"/>
            <a:ext cx="3162600" cy="79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0" name="Google Shape;110;p20"/>
          <p:cNvSpPr txBox="1"/>
          <p:nvPr/>
        </p:nvSpPr>
        <p:spPr>
          <a:xfrm>
            <a:off x="2816050" y="248725"/>
            <a:ext cx="3562200" cy="49254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a:t>G.O.A.T! Stands for the greatest of all time, when it comes to basketball there can only be one person to claim that </a:t>
            </a:r>
            <a:r>
              <a:rPr lang="en"/>
              <a:t>title</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en"/>
              <a:t>Michael</a:t>
            </a:r>
            <a:r>
              <a:rPr lang="en"/>
              <a:t> Jordan was one of the most </a:t>
            </a:r>
            <a:r>
              <a:rPr lang="en"/>
              <a:t>feared</a:t>
            </a:r>
            <a:r>
              <a:rPr lang="en"/>
              <a:t> and greatest basketball players to ever play the game. When you look at the impact he had on his team, the individual success and the legacy he left behind it becomes clear that no player will have the kind of impact that he had.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en"/>
              <a:t>Micheal Jordan is greatest basketball player of all time.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p21"/>
          <p:cNvSpPr txBox="1"/>
          <p:nvPr/>
        </p:nvSpPr>
        <p:spPr>
          <a:xfrm>
            <a:off x="2124925" y="1063075"/>
            <a:ext cx="3830100" cy="58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6" name="Google Shape;116;p21"/>
          <p:cNvSpPr txBox="1"/>
          <p:nvPr/>
        </p:nvSpPr>
        <p:spPr>
          <a:xfrm>
            <a:off x="6592025" y="68650"/>
            <a:ext cx="2454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Source Code Pro"/>
                <a:ea typeface="Source Code Pro"/>
                <a:cs typeface="Source Code Pro"/>
                <a:sym typeface="Source Code Pro"/>
              </a:rPr>
              <a:t>Body Paragraph 1</a:t>
            </a:r>
            <a:endParaRPr b="1" sz="1600">
              <a:latin typeface="Source Code Pro"/>
              <a:ea typeface="Source Code Pro"/>
              <a:cs typeface="Source Code Pro"/>
              <a:sym typeface="Source Code Pro"/>
            </a:endParaRPr>
          </a:p>
        </p:txBody>
      </p:sp>
      <p:sp>
        <p:nvSpPr>
          <p:cNvPr id="117" name="Google Shape;117;p21"/>
          <p:cNvSpPr txBox="1"/>
          <p:nvPr/>
        </p:nvSpPr>
        <p:spPr>
          <a:xfrm>
            <a:off x="2232175" y="977175"/>
            <a:ext cx="3615600" cy="38790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200"/>
              <a:t>Basketball is a team sport, so the best way to look at a players impact is by </a:t>
            </a:r>
            <a:r>
              <a:rPr lang="en" sz="1200"/>
              <a:t>examining</a:t>
            </a:r>
            <a:r>
              <a:rPr lang="en" sz="1200"/>
              <a:t> how </a:t>
            </a:r>
            <a:r>
              <a:rPr lang="en" sz="1200"/>
              <a:t>their</a:t>
            </a:r>
            <a:r>
              <a:rPr lang="en" sz="1200"/>
              <a:t> team did.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457200" lvl="0" marL="0" rtl="0" algn="l">
              <a:spcBef>
                <a:spcPts val="0"/>
              </a:spcBef>
              <a:spcAft>
                <a:spcPts val="0"/>
              </a:spcAft>
              <a:buNone/>
            </a:pPr>
            <a:r>
              <a:rPr lang="en" sz="1200"/>
              <a:t>While playing for the Chicago Bulls, Michael Jordan won 6 NBA championships, including winning three times in row on two different occasions. Not only did he win with the Bulls he also won two gold medals while playing in the </a:t>
            </a:r>
            <a:r>
              <a:rPr lang="en" sz="1200"/>
              <a:t>olympics</a:t>
            </a:r>
            <a:r>
              <a:rPr lang="en" sz="1200"/>
              <a:t> with team USA. Jordan’s </a:t>
            </a:r>
            <a:r>
              <a:rPr lang="en" sz="1200"/>
              <a:t>Bulls</a:t>
            </a:r>
            <a:r>
              <a:rPr lang="en" sz="1200"/>
              <a:t> team set the record in the 1995-96 season for having the best regular season in NBA </a:t>
            </a:r>
            <a:r>
              <a:rPr lang="en" sz="1200"/>
              <a:t>history, with a</a:t>
            </a:r>
            <a:r>
              <a:rPr lang="en" sz="1200"/>
              <a:t>record of 72 -10.</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457200" lvl="0" marL="0" rtl="0" algn="l">
              <a:spcBef>
                <a:spcPts val="0"/>
              </a:spcBef>
              <a:spcAft>
                <a:spcPts val="0"/>
              </a:spcAft>
              <a:buNone/>
            </a:pPr>
            <a:r>
              <a:rPr lang="en" sz="1200"/>
              <a:t>As you can see from the numbers if you played on </a:t>
            </a:r>
            <a:r>
              <a:rPr lang="en" sz="1200"/>
              <a:t>Jordan's</a:t>
            </a:r>
            <a:r>
              <a:rPr lang="en" sz="1200"/>
              <a:t> team you were probably going to win.</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 name="Shape 121"/>
        <p:cNvGrpSpPr/>
        <p:nvPr/>
      </p:nvGrpSpPr>
      <p:grpSpPr>
        <a:xfrm>
          <a:off x="0" y="0"/>
          <a:ext cx="0" cy="0"/>
          <a:chOff x="0" y="0"/>
          <a:chExt cx="0" cy="0"/>
        </a:xfrm>
      </p:grpSpPr>
      <p:sp>
        <p:nvSpPr>
          <p:cNvPr id="122" name="Google Shape;122;p22"/>
          <p:cNvSpPr txBox="1"/>
          <p:nvPr/>
        </p:nvSpPr>
        <p:spPr>
          <a:xfrm>
            <a:off x="2124925" y="1063075"/>
            <a:ext cx="3830100" cy="58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3" name="Google Shape;123;p22"/>
          <p:cNvSpPr txBox="1"/>
          <p:nvPr/>
        </p:nvSpPr>
        <p:spPr>
          <a:xfrm>
            <a:off x="5916150" y="185175"/>
            <a:ext cx="2992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600">
                <a:solidFill>
                  <a:schemeClr val="dk1"/>
                </a:solidFill>
                <a:latin typeface="Source Code Pro"/>
                <a:ea typeface="Source Code Pro"/>
                <a:cs typeface="Source Code Pro"/>
                <a:sym typeface="Source Code Pro"/>
              </a:rPr>
              <a:t>Body Paragraph 2</a:t>
            </a:r>
            <a:endParaRPr/>
          </a:p>
        </p:txBody>
      </p:sp>
      <p:sp>
        <p:nvSpPr>
          <p:cNvPr id="124" name="Google Shape;124;p22"/>
          <p:cNvSpPr txBox="1"/>
          <p:nvPr/>
        </p:nvSpPr>
        <p:spPr>
          <a:xfrm>
            <a:off x="2206225" y="923875"/>
            <a:ext cx="3748800" cy="39867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300"/>
              <a:t>Jordan was one of the most feared players in the game and was able to dominate </a:t>
            </a:r>
            <a:r>
              <a:rPr lang="en" sz="1300"/>
              <a:t>individually</a:t>
            </a:r>
            <a:r>
              <a:rPr lang="en" sz="1300"/>
              <a:t>.</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457200" lvl="0" marL="0" rtl="0" algn="l">
              <a:spcBef>
                <a:spcPts val="0"/>
              </a:spcBef>
              <a:spcAft>
                <a:spcPts val="0"/>
              </a:spcAft>
              <a:buNone/>
            </a:pPr>
            <a:r>
              <a:rPr lang="en" sz="1300"/>
              <a:t>Over the course of his career Jordan won every major </a:t>
            </a:r>
            <a:r>
              <a:rPr lang="en" sz="1300"/>
              <a:t>individual</a:t>
            </a:r>
            <a:r>
              <a:rPr lang="en" sz="1300"/>
              <a:t> award that a player could be nominated for. He won league MVP 5 times, finals MVP 6 times, league scoring </a:t>
            </a:r>
            <a:r>
              <a:rPr lang="en" sz="1300"/>
              <a:t>title</a:t>
            </a:r>
            <a:r>
              <a:rPr lang="en" sz="1300"/>
              <a:t> 10 times, and was rookie of the year. Over the course of his entire career he was able average over 30 points per game. Jordan’s 1992-93 season is often regarded as one of the greatest of his career.</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457200" lvl="0" marL="0" rtl="0" algn="l">
              <a:spcBef>
                <a:spcPts val="0"/>
              </a:spcBef>
              <a:spcAft>
                <a:spcPts val="0"/>
              </a:spcAft>
              <a:buNone/>
            </a:pPr>
            <a:r>
              <a:rPr lang="en" sz="1300"/>
              <a:t>There have been few players able to dominate the league </a:t>
            </a:r>
            <a:r>
              <a:rPr lang="en" sz="1300"/>
              <a:t>individually</a:t>
            </a:r>
            <a:r>
              <a:rPr lang="en" sz="1300"/>
              <a:t> like Jordan has.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23"/>
          <p:cNvSpPr txBox="1"/>
          <p:nvPr/>
        </p:nvSpPr>
        <p:spPr>
          <a:xfrm>
            <a:off x="2124925" y="1063075"/>
            <a:ext cx="3830100" cy="58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0" name="Google Shape;130;p23"/>
          <p:cNvSpPr txBox="1"/>
          <p:nvPr/>
        </p:nvSpPr>
        <p:spPr>
          <a:xfrm>
            <a:off x="6083050" y="0"/>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Source Code Pro"/>
                <a:ea typeface="Source Code Pro"/>
                <a:cs typeface="Source Code Pro"/>
                <a:sym typeface="Source Code Pro"/>
              </a:rPr>
              <a:t>Body Paragraph 3</a:t>
            </a:r>
            <a:endParaRPr/>
          </a:p>
        </p:txBody>
      </p:sp>
      <p:sp>
        <p:nvSpPr>
          <p:cNvPr id="131" name="Google Shape;131;p23"/>
          <p:cNvSpPr txBox="1"/>
          <p:nvPr/>
        </p:nvSpPr>
        <p:spPr>
          <a:xfrm>
            <a:off x="2218825" y="1003850"/>
            <a:ext cx="3642300" cy="38790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200"/>
              <a:t>There has been few athletes in history to have the global reach and </a:t>
            </a:r>
            <a:r>
              <a:rPr lang="en" sz="1200"/>
              <a:t>celebrity</a:t>
            </a:r>
            <a:r>
              <a:rPr lang="en" sz="1200"/>
              <a:t> status as </a:t>
            </a:r>
            <a:r>
              <a:rPr lang="en" sz="1200"/>
              <a:t>Michael</a:t>
            </a:r>
            <a:r>
              <a:rPr lang="en" sz="1200"/>
              <a:t> Jordan.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457200" lvl="0" marL="0" rtl="0" algn="l">
              <a:spcBef>
                <a:spcPts val="0"/>
              </a:spcBef>
              <a:spcAft>
                <a:spcPts val="0"/>
              </a:spcAft>
              <a:buNone/>
            </a:pPr>
            <a:r>
              <a:rPr lang="en" sz="1200"/>
              <a:t>Jordan over the course of his life has grown is net worth to be 1.3 billion. This is due in large part to the Jordan shoe brand which is famous all over the world. Jordan has been a role model for countless basketball players and his number 23 is the most famous number in basketball. Jordan was able to </a:t>
            </a:r>
            <a:r>
              <a:rPr lang="en" sz="1200"/>
              <a:t>transcend</a:t>
            </a:r>
            <a:r>
              <a:rPr lang="en" sz="1200"/>
              <a:t> sports and  appear in movies like Space Jam and is known all over the world.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457200" lvl="0" marL="0" rtl="0" algn="l">
              <a:spcBef>
                <a:spcPts val="0"/>
              </a:spcBef>
              <a:spcAft>
                <a:spcPts val="0"/>
              </a:spcAft>
              <a:buNone/>
            </a:pPr>
            <a:r>
              <a:rPr lang="en" sz="1200"/>
              <a:t>No player has ever have the kind of global impact as </a:t>
            </a:r>
            <a:r>
              <a:rPr lang="en" sz="1200"/>
              <a:t>Michael</a:t>
            </a:r>
            <a:r>
              <a:rPr lang="en" sz="1200"/>
              <a:t> Jordan had during his career.</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 name="Shape 135"/>
        <p:cNvGrpSpPr/>
        <p:nvPr/>
      </p:nvGrpSpPr>
      <p:grpSpPr>
        <a:xfrm>
          <a:off x="0" y="0"/>
          <a:ext cx="0" cy="0"/>
          <a:chOff x="0" y="0"/>
          <a:chExt cx="0" cy="0"/>
        </a:xfrm>
      </p:grpSpPr>
      <p:sp>
        <p:nvSpPr>
          <p:cNvPr id="136" name="Google Shape;136;p24"/>
          <p:cNvSpPr txBox="1"/>
          <p:nvPr/>
        </p:nvSpPr>
        <p:spPr>
          <a:xfrm>
            <a:off x="7081475" y="76425"/>
            <a:ext cx="19965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u="sng">
                <a:latin typeface="Source Code Pro"/>
                <a:ea typeface="Source Code Pro"/>
                <a:cs typeface="Source Code Pro"/>
                <a:sym typeface="Source Code Pro"/>
              </a:rPr>
              <a:t>Conclusion Paragraph</a:t>
            </a:r>
            <a:endParaRPr b="1" sz="1600" u="sng">
              <a:latin typeface="Source Code Pro"/>
              <a:ea typeface="Source Code Pro"/>
              <a:cs typeface="Source Code Pro"/>
              <a:sym typeface="Source Code Pro"/>
            </a:endParaRPr>
          </a:p>
        </p:txBody>
      </p:sp>
      <p:sp>
        <p:nvSpPr>
          <p:cNvPr id="137" name="Google Shape;137;p24"/>
          <p:cNvSpPr txBox="1"/>
          <p:nvPr/>
        </p:nvSpPr>
        <p:spPr>
          <a:xfrm>
            <a:off x="2629525" y="531450"/>
            <a:ext cx="3571200" cy="42792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a:t>There have been no shortage of great basketball players to play </a:t>
            </a:r>
            <a:r>
              <a:rPr lang="en"/>
              <a:t>professionally</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457200" lvl="0" marL="0" rtl="0" algn="l">
              <a:spcBef>
                <a:spcPts val="0"/>
              </a:spcBef>
              <a:spcAft>
                <a:spcPts val="0"/>
              </a:spcAft>
              <a:buNone/>
            </a:pPr>
            <a:r>
              <a:rPr lang="en"/>
              <a:t>However when you look at and compare </a:t>
            </a:r>
            <a:r>
              <a:rPr lang="en"/>
              <a:t>their</a:t>
            </a:r>
            <a:r>
              <a:rPr lang="en"/>
              <a:t> team success, </a:t>
            </a:r>
            <a:r>
              <a:rPr lang="en"/>
              <a:t>individual</a:t>
            </a:r>
            <a:r>
              <a:rPr lang="en"/>
              <a:t> success, and global impact no player comes close to </a:t>
            </a:r>
            <a:r>
              <a:rPr lang="en"/>
              <a:t>Michael</a:t>
            </a:r>
            <a:r>
              <a:rPr lang="en"/>
              <a:t> Jordan.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457200" lvl="0" marL="0" rtl="0" algn="l">
              <a:spcBef>
                <a:spcPts val="0"/>
              </a:spcBef>
              <a:spcAft>
                <a:spcPts val="0"/>
              </a:spcAft>
              <a:buNone/>
            </a:pPr>
            <a:r>
              <a:rPr lang="en"/>
              <a:t>Micheal Jordan is the greatest basketball player of all time.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
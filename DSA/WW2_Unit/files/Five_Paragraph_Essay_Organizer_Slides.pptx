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E589E1-1409-4062-9268-6C0A9122F418}">
  <a:tblStyle styleId="{8FE589E1-1409-4062-9268-6C0A9122F4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0686fa95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0686fa95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c0686fa95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c0686fa95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0686fa95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0686fa95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0686fa95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0686fa95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c0686fa95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c0686fa95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c0686fa95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c0686fa95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0686fa95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c0686fa95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ddec8718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ddec8718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bddec8718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bddec8718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ddec8718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ddec8718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bddec8718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bddec8718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hyperlink" Target="https://docs.google.com/presentation/d/1iWPZvQql6GZa2ybTxbS2E7-1CPXgufFYoiYePCJslkQ/edit?usp=sharing" TargetMode="External"/><Relationship Id="rId4" Type="http://schemas.openxmlformats.org/officeDocument/2006/relationships/hyperlink" Target="https://drive.google.com/file/d/1hUsr87M_NrRNkpzbCpcMl9FOr_0HQ8CM/view?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F83"/>
            </a:gs>
            <a:gs pos="100000">
              <a:srgbClr val="E3F609"/>
            </a:gs>
          </a:gsLst>
          <a:lin ang="5400012" scaled="0"/>
        </a:gradFill>
      </p:bgPr>
    </p:bg>
    <p:spTree>
      <p:nvGrpSpPr>
        <p:cNvPr id="53" name="Shape 53"/>
        <p:cNvGrpSpPr/>
        <p:nvPr/>
      </p:nvGrpSpPr>
      <p:grpSpPr>
        <a:xfrm>
          <a:off x="0" y="0"/>
          <a:ext cx="0" cy="0"/>
          <a:chOff x="0" y="0"/>
          <a:chExt cx="0" cy="0"/>
        </a:xfrm>
      </p:grpSpPr>
      <p:sp>
        <p:nvSpPr>
          <p:cNvPr id="54" name="Google Shape;54;p13"/>
          <p:cNvSpPr txBox="1"/>
          <p:nvPr/>
        </p:nvSpPr>
        <p:spPr>
          <a:xfrm>
            <a:off x="895650" y="444975"/>
            <a:ext cx="7492200" cy="3201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Source Code Pro"/>
                <a:ea typeface="Source Code Pro"/>
                <a:cs typeface="Source Code Pro"/>
                <a:sym typeface="Source Code Pro"/>
              </a:rPr>
              <a:t>Step 1:Brainstorming</a:t>
            </a:r>
            <a:endParaRPr b="1" sz="2200">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b="1">
              <a:solidFill>
                <a:schemeClr val="dk1"/>
              </a:solidFill>
              <a:latin typeface="Source Code Pro"/>
              <a:ea typeface="Source Code Pro"/>
              <a:cs typeface="Source Code Pro"/>
              <a:sym typeface="Source Code Pro"/>
            </a:endParaRPr>
          </a:p>
          <a:p>
            <a:pPr indent="0" lvl="0" marL="0" rtl="0" algn="just">
              <a:spcBef>
                <a:spcPts val="0"/>
              </a:spcBef>
              <a:spcAft>
                <a:spcPts val="0"/>
              </a:spcAft>
              <a:buNone/>
            </a:pPr>
            <a:r>
              <a:rPr lang="en" sz="1800">
                <a:solidFill>
                  <a:schemeClr val="dk1"/>
                </a:solidFill>
                <a:latin typeface="Source Code Pro Medium"/>
                <a:ea typeface="Source Code Pro Medium"/>
                <a:cs typeface="Source Code Pro Medium"/>
                <a:sym typeface="Source Code Pro Medium"/>
              </a:rPr>
              <a:t>      Brainstorm and come up with a topic that you are interested in learning more about. Spend some time looking online to see what kind of information and sources are going to be available. Follow the “I can” statements below to complete this step:</a:t>
            </a:r>
            <a:endParaRPr sz="1800">
              <a:solidFill>
                <a:schemeClr val="dk1"/>
              </a:solidFill>
              <a:latin typeface="Source Code Pro Medium"/>
              <a:ea typeface="Source Code Pro Medium"/>
              <a:cs typeface="Source Code Pro Medium"/>
              <a:sym typeface="Source Code Pro Medium"/>
            </a:endParaRPr>
          </a:p>
          <a:p>
            <a:pPr indent="0" lvl="0" marL="0" rtl="0" algn="l">
              <a:spcBef>
                <a:spcPts val="0"/>
              </a:spcBef>
              <a:spcAft>
                <a:spcPts val="0"/>
              </a:spcAft>
              <a:buNone/>
            </a:pPr>
            <a:r>
              <a:t/>
            </a:r>
            <a:endParaRPr>
              <a:solidFill>
                <a:schemeClr val="dk1"/>
              </a:solidFill>
              <a:latin typeface="Source Code Pro Medium"/>
              <a:ea typeface="Source Code Pro Medium"/>
              <a:cs typeface="Source Code Pro Medium"/>
              <a:sym typeface="Source Code Pro Medium"/>
            </a:endParaRPr>
          </a:p>
          <a:p>
            <a:pPr indent="0" lvl="0" marL="0" rtl="0" algn="l">
              <a:spcBef>
                <a:spcPts val="0"/>
              </a:spcBef>
              <a:spcAft>
                <a:spcPts val="0"/>
              </a:spcAft>
              <a:buNone/>
            </a:pPr>
            <a:r>
              <a:t/>
            </a:r>
            <a:endParaRPr>
              <a:solidFill>
                <a:schemeClr val="dk1"/>
              </a:solidFill>
              <a:latin typeface="Source Code Pro Medium"/>
              <a:ea typeface="Source Code Pro Medium"/>
              <a:cs typeface="Source Code Pro Medium"/>
              <a:sym typeface="Source Code Pro Medium"/>
            </a:endParaRPr>
          </a:p>
          <a:p>
            <a:pPr indent="0" lvl="0" marL="0" rtl="0" algn="ctr">
              <a:spcBef>
                <a:spcPts val="0"/>
              </a:spcBef>
              <a:spcAft>
                <a:spcPts val="0"/>
              </a:spcAft>
              <a:buNone/>
            </a:pPr>
            <a:r>
              <a:rPr lang="en">
                <a:solidFill>
                  <a:schemeClr val="dk1"/>
                </a:solidFill>
                <a:latin typeface="Source Code Pro Medium"/>
                <a:ea typeface="Source Code Pro Medium"/>
                <a:cs typeface="Source Code Pro Medium"/>
                <a:sym typeface="Source Code Pro Medium"/>
              </a:rPr>
              <a:t>I can select a topic for my essay.</a:t>
            </a:r>
            <a:endParaRPr>
              <a:solidFill>
                <a:schemeClr val="dk1"/>
              </a:solidFill>
              <a:latin typeface="Source Code Pro Medium"/>
              <a:ea typeface="Source Code Pro Medium"/>
              <a:cs typeface="Source Code Pro Medium"/>
              <a:sym typeface="Source Code Pro Medium"/>
            </a:endParaRPr>
          </a:p>
          <a:p>
            <a:pPr indent="0" lvl="0" marL="0" rtl="0" algn="ctr">
              <a:spcBef>
                <a:spcPts val="0"/>
              </a:spcBef>
              <a:spcAft>
                <a:spcPts val="0"/>
              </a:spcAft>
              <a:buNone/>
            </a:pPr>
            <a:r>
              <a:t/>
            </a:r>
            <a:endParaRPr>
              <a:solidFill>
                <a:schemeClr val="dk1"/>
              </a:solidFill>
              <a:latin typeface="Source Code Pro Medium"/>
              <a:ea typeface="Source Code Pro Medium"/>
              <a:cs typeface="Source Code Pro Medium"/>
              <a:sym typeface="Source Code Pro Medium"/>
            </a:endParaRPr>
          </a:p>
          <a:p>
            <a:pPr indent="0" lvl="0" marL="0" rtl="0" algn="ctr">
              <a:spcBef>
                <a:spcPts val="0"/>
              </a:spcBef>
              <a:spcAft>
                <a:spcPts val="0"/>
              </a:spcAft>
              <a:buClr>
                <a:schemeClr val="dk1"/>
              </a:buClr>
              <a:buSzPts val="1100"/>
              <a:buFont typeface="Arial"/>
              <a:buNone/>
            </a:pPr>
            <a:r>
              <a:rPr lang="en">
                <a:solidFill>
                  <a:schemeClr val="dk1"/>
                </a:solidFill>
                <a:latin typeface="Source Code Pro Medium"/>
                <a:ea typeface="Source Code Pro Medium"/>
                <a:cs typeface="Source Code Pro Medium"/>
                <a:sym typeface="Source Code Pro Medium"/>
              </a:rPr>
              <a:t>I can select three main ideas/topics that I want to research about.</a:t>
            </a:r>
            <a:endParaRPr>
              <a:solidFill>
                <a:schemeClr val="dk1"/>
              </a:solidFill>
              <a:latin typeface="Source Code Pro Medium"/>
              <a:ea typeface="Source Code Pro Medium"/>
              <a:cs typeface="Source Code Pro Medium"/>
              <a:sym typeface="Source Code Pro Medium"/>
            </a:endParaRPr>
          </a:p>
        </p:txBody>
      </p:sp>
      <p:graphicFrame>
        <p:nvGraphicFramePr>
          <p:cNvPr id="55" name="Google Shape;55;p13"/>
          <p:cNvGraphicFramePr/>
          <p:nvPr/>
        </p:nvGraphicFramePr>
        <p:xfrm>
          <a:off x="895650" y="3989150"/>
          <a:ext cx="3000000" cy="3000000"/>
        </p:xfrm>
        <a:graphic>
          <a:graphicData uri="http://schemas.openxmlformats.org/drawingml/2006/table">
            <a:tbl>
              <a:tblPr>
                <a:noFill/>
                <a:tableStyleId>{8FE589E1-1409-4062-9268-6C0A9122F418}</a:tableStyleId>
              </a:tblPr>
              <a:tblGrid>
                <a:gridCol w="7239000"/>
              </a:tblGrid>
              <a:tr h="603100">
                <a:tc>
                  <a:txBody>
                    <a:bodyPr/>
                    <a:lstStyle/>
                    <a:p>
                      <a:pPr indent="0" lvl="0" marL="0" rtl="0" algn="ctr">
                        <a:spcBef>
                          <a:spcPts val="0"/>
                        </a:spcBef>
                        <a:spcAft>
                          <a:spcPts val="0"/>
                        </a:spcAft>
                        <a:buNone/>
                      </a:pPr>
                      <a:r>
                        <a:rPr lang="en" sz="1800">
                          <a:latin typeface="Source Code Pro"/>
                          <a:ea typeface="Source Code Pro"/>
                          <a:cs typeface="Source Code Pro"/>
                          <a:sym typeface="Source Code Pro"/>
                        </a:rPr>
                        <a:t> </a:t>
                      </a:r>
                      <a:r>
                        <a:rPr lang="en" sz="1800" u="sng">
                          <a:solidFill>
                            <a:schemeClr val="hlink"/>
                          </a:solidFill>
                          <a:latin typeface="Source Code Pro"/>
                          <a:ea typeface="Source Code Pro"/>
                          <a:cs typeface="Source Code Pro"/>
                          <a:sym typeface="Source Code Pro"/>
                          <a:hlinkClick r:id="rId3"/>
                        </a:rPr>
                        <a:t>SEE A COMPLETED EXAMPLE </a:t>
                      </a:r>
                      <a:endParaRPr sz="1800">
                        <a:latin typeface="Source Code Pro"/>
                        <a:ea typeface="Source Code Pro"/>
                        <a:cs typeface="Source Code Pro"/>
                        <a:sym typeface="Source Code Pro"/>
                      </a:endParaRPr>
                    </a:p>
                    <a:p>
                      <a:pPr indent="0" lvl="0" marL="0" rtl="0" algn="ctr">
                        <a:spcBef>
                          <a:spcPts val="0"/>
                        </a:spcBef>
                        <a:spcAft>
                          <a:spcPts val="0"/>
                        </a:spcAft>
                        <a:buNone/>
                      </a:pPr>
                      <a:r>
                        <a:t/>
                      </a:r>
                      <a:endParaRPr sz="1800">
                        <a:latin typeface="Source Code Pro"/>
                        <a:ea typeface="Source Code Pro"/>
                        <a:cs typeface="Source Code Pro"/>
                        <a:sym typeface="Source Code Pro"/>
                      </a:endParaRPr>
                    </a:p>
                    <a:p>
                      <a:pPr indent="0" lvl="0" marL="0" rtl="0" algn="ctr">
                        <a:spcBef>
                          <a:spcPts val="0"/>
                        </a:spcBef>
                        <a:spcAft>
                          <a:spcPts val="0"/>
                        </a:spcAft>
                        <a:buNone/>
                      </a:pPr>
                      <a:r>
                        <a:rPr lang="en" sz="1800" u="sng">
                          <a:solidFill>
                            <a:schemeClr val="hlink"/>
                          </a:solidFill>
                          <a:latin typeface="Source Code Pro"/>
                          <a:ea typeface="Source Code Pro"/>
                          <a:cs typeface="Source Code Pro"/>
                          <a:sym typeface="Source Code Pro"/>
                          <a:hlinkClick r:id="rId4"/>
                        </a:rPr>
                        <a:t>Video Explaining How to Complete</a:t>
                      </a:r>
                      <a:endParaRPr sz="1800">
                        <a:latin typeface="Source Code Pro"/>
                        <a:ea typeface="Source Code Pro"/>
                        <a:cs typeface="Source Code Pro"/>
                        <a:sym typeface="Source Code Pro"/>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2020225" y="557725"/>
            <a:ext cx="43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1" name="Google Shape;61;p14"/>
          <p:cNvSpPr txBox="1"/>
          <p:nvPr/>
        </p:nvSpPr>
        <p:spPr>
          <a:xfrm>
            <a:off x="2069825" y="381975"/>
            <a:ext cx="410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2" name="Google Shape;62;p14"/>
          <p:cNvSpPr txBox="1"/>
          <p:nvPr/>
        </p:nvSpPr>
        <p:spPr>
          <a:xfrm>
            <a:off x="1811775" y="2176575"/>
            <a:ext cx="96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3" name="Google Shape;63;p14"/>
          <p:cNvSpPr txBox="1"/>
          <p:nvPr/>
        </p:nvSpPr>
        <p:spPr>
          <a:xfrm>
            <a:off x="4036975" y="2200875"/>
            <a:ext cx="111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4" name="Google Shape;64;p14"/>
          <p:cNvSpPr txBox="1"/>
          <p:nvPr/>
        </p:nvSpPr>
        <p:spPr>
          <a:xfrm>
            <a:off x="1954025" y="365600"/>
            <a:ext cx="451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5" name="Google Shape;65;p14"/>
          <p:cNvSpPr txBox="1"/>
          <p:nvPr/>
        </p:nvSpPr>
        <p:spPr>
          <a:xfrm>
            <a:off x="2041225" y="503550"/>
            <a:ext cx="447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6" name="Google Shape;66;p14"/>
          <p:cNvSpPr txBox="1"/>
          <p:nvPr/>
        </p:nvSpPr>
        <p:spPr>
          <a:xfrm>
            <a:off x="3832400" y="2269200"/>
            <a:ext cx="119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7" name="Google Shape;67;p14"/>
          <p:cNvSpPr txBox="1"/>
          <p:nvPr/>
        </p:nvSpPr>
        <p:spPr>
          <a:xfrm flipH="1" rot="-400090">
            <a:off x="5718928" y="2301669"/>
            <a:ext cx="1759402" cy="40021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25C"/>
            </a:gs>
          </a:gsLst>
          <a:lin ang="5400012" scaled="0"/>
        </a:gradFill>
      </p:bgPr>
    </p:bg>
    <p:spTree>
      <p:nvGrpSpPr>
        <p:cNvPr id="71" name="Shape 71"/>
        <p:cNvGrpSpPr/>
        <p:nvPr/>
      </p:nvGrpSpPr>
      <p:grpSpPr>
        <a:xfrm>
          <a:off x="0" y="0"/>
          <a:ext cx="0" cy="0"/>
          <a:chOff x="0" y="0"/>
          <a:chExt cx="0" cy="0"/>
        </a:xfrm>
      </p:grpSpPr>
      <p:sp>
        <p:nvSpPr>
          <p:cNvPr id="72" name="Google Shape;72;p15"/>
          <p:cNvSpPr txBox="1"/>
          <p:nvPr/>
        </p:nvSpPr>
        <p:spPr>
          <a:xfrm>
            <a:off x="843175" y="681150"/>
            <a:ext cx="7629900" cy="255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Source Code Pro"/>
                <a:ea typeface="Source Code Pro"/>
                <a:cs typeface="Source Code Pro"/>
                <a:sym typeface="Source Code Pro"/>
              </a:rPr>
              <a:t>Step 2: Research</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b="1">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For all three of your main ideas/topics, you will need to find three supporting facts. These are the facts you will find from completing your research. Make sure to use primary and secondary sources. Follow the </a:t>
            </a: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statements below to complete this section:</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find three facts for my three main ideas/topics.</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6"/>
          <p:cNvSpPr txBox="1"/>
          <p:nvPr/>
        </p:nvSpPr>
        <p:spPr>
          <a:xfrm>
            <a:off x="2533925" y="945500"/>
            <a:ext cx="405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8" name="Google Shape;78;p16"/>
          <p:cNvSpPr txBox="1"/>
          <p:nvPr/>
        </p:nvSpPr>
        <p:spPr>
          <a:xfrm>
            <a:off x="2344825" y="2281800"/>
            <a:ext cx="436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 name="Shape 82"/>
        <p:cNvGrpSpPr/>
        <p:nvPr/>
      </p:nvGrpSpPr>
      <p:grpSpPr>
        <a:xfrm>
          <a:off x="0" y="0"/>
          <a:ext cx="0" cy="0"/>
          <a:chOff x="0" y="0"/>
          <a:chExt cx="0" cy="0"/>
        </a:xfrm>
      </p:grpSpPr>
      <p:sp>
        <p:nvSpPr>
          <p:cNvPr id="83" name="Google Shape;83;p17"/>
          <p:cNvSpPr txBox="1"/>
          <p:nvPr/>
        </p:nvSpPr>
        <p:spPr>
          <a:xfrm>
            <a:off x="2007825" y="842800"/>
            <a:ext cx="347100" cy="23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4" name="Google Shape;84;p17"/>
          <p:cNvSpPr txBox="1"/>
          <p:nvPr/>
        </p:nvSpPr>
        <p:spPr>
          <a:xfrm>
            <a:off x="2521325" y="907675"/>
            <a:ext cx="421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5" name="Google Shape;85;p17"/>
          <p:cNvSpPr txBox="1"/>
          <p:nvPr/>
        </p:nvSpPr>
        <p:spPr>
          <a:xfrm>
            <a:off x="2143125" y="2017050"/>
            <a:ext cx="390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8"/>
          <p:cNvSpPr txBox="1"/>
          <p:nvPr/>
        </p:nvSpPr>
        <p:spPr>
          <a:xfrm>
            <a:off x="941250" y="983325"/>
            <a:ext cx="726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
        <p:nvSpPr>
          <p:cNvPr id="91" name="Google Shape;91;p18"/>
          <p:cNvSpPr txBox="1"/>
          <p:nvPr/>
        </p:nvSpPr>
        <p:spPr>
          <a:xfrm>
            <a:off x="2180950" y="2117900"/>
            <a:ext cx="468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25C"/>
            </a:gs>
          </a:gsLst>
          <a:lin ang="5400012" scaled="0"/>
        </a:gradFill>
      </p:bgPr>
    </p:bg>
    <p:spTree>
      <p:nvGrpSpPr>
        <p:cNvPr id="95" name="Shape 95"/>
        <p:cNvGrpSpPr/>
        <p:nvPr/>
      </p:nvGrpSpPr>
      <p:grpSpPr>
        <a:xfrm>
          <a:off x="0" y="0"/>
          <a:ext cx="0" cy="0"/>
          <a:chOff x="0" y="0"/>
          <a:chExt cx="0" cy="0"/>
        </a:xfrm>
      </p:grpSpPr>
      <p:sp>
        <p:nvSpPr>
          <p:cNvPr id="96" name="Google Shape;96;p19"/>
          <p:cNvSpPr txBox="1"/>
          <p:nvPr/>
        </p:nvSpPr>
        <p:spPr>
          <a:xfrm>
            <a:off x="554500" y="444975"/>
            <a:ext cx="8266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Source Code Pro"/>
                <a:ea typeface="Source Code Pro"/>
                <a:cs typeface="Source Code Pro"/>
                <a:sym typeface="Source Code Pro"/>
              </a:rPr>
              <a:t>Step 3: Writing Your Draft</a:t>
            </a:r>
            <a:endParaRPr b="1">
              <a:latin typeface="Source Code Pro"/>
              <a:ea typeface="Source Code Pro"/>
              <a:cs typeface="Source Code Pro"/>
              <a:sym typeface="Source Code Pro"/>
            </a:endParaRPr>
          </a:p>
        </p:txBody>
      </p:sp>
      <p:sp>
        <p:nvSpPr>
          <p:cNvPr id="97" name="Google Shape;97;p19"/>
          <p:cNvSpPr txBox="1"/>
          <p:nvPr/>
        </p:nvSpPr>
        <p:spPr>
          <a:xfrm>
            <a:off x="318325" y="1153525"/>
            <a:ext cx="8345100" cy="3201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latin typeface="Source Code Pro"/>
                <a:ea typeface="Source Code Pro"/>
                <a:cs typeface="Source Code Pro"/>
                <a:sym typeface="Source Code Pro"/>
              </a:rPr>
              <a:t>Now that you have completed your research it is time to start writing your draft. Follow the tips and instructions on each slide. Use the </a:t>
            </a: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statements below to complete this section:</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write an introduction paragraph</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solidFill>
                  <a:schemeClr val="dk1"/>
                </a:solidFill>
                <a:latin typeface="Source Code Pro"/>
                <a:ea typeface="Source Code Pro"/>
                <a:cs typeface="Source Code Pro"/>
                <a:sym typeface="Source Code Pro"/>
              </a:rPr>
              <a:t>I can</a:t>
            </a:r>
            <a:r>
              <a:rPr lang="en">
                <a:solidFill>
                  <a:schemeClr val="dk1"/>
                </a:solidFill>
                <a:latin typeface="Source Code Pro"/>
                <a:ea typeface="Source Code Pro"/>
                <a:cs typeface="Source Code Pro"/>
                <a:sym typeface="Source Code Pro"/>
              </a:rPr>
              <a:t> write 3 body paragraphs</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rPr b="1" lang="en">
                <a:solidFill>
                  <a:schemeClr val="dk1"/>
                </a:solidFill>
                <a:latin typeface="Source Code Pro"/>
                <a:ea typeface="Source Code Pro"/>
                <a:cs typeface="Source Code Pro"/>
                <a:sym typeface="Source Code Pro"/>
              </a:rPr>
              <a:t>I can</a:t>
            </a:r>
            <a:r>
              <a:rPr lang="en">
                <a:solidFill>
                  <a:schemeClr val="dk1"/>
                </a:solidFill>
                <a:latin typeface="Source Code Pro"/>
                <a:ea typeface="Source Code Pro"/>
                <a:cs typeface="Source Code Pro"/>
                <a:sym typeface="Source Code Pro"/>
              </a:rPr>
              <a:t> write a conclusion</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Clr>
                <a:schemeClr val="dk1"/>
              </a:buClr>
              <a:buSzPts val="1100"/>
              <a:buFont typeface="Arial"/>
              <a:buNone/>
            </a:pPr>
            <a:r>
              <a:rPr b="1" lang="en">
                <a:solidFill>
                  <a:schemeClr val="dk1"/>
                </a:solidFill>
                <a:latin typeface="Source Code Pro"/>
                <a:ea typeface="Source Code Pro"/>
                <a:cs typeface="Source Code Pro"/>
                <a:sym typeface="Source Code Pro"/>
              </a:rPr>
              <a:t>I can</a:t>
            </a:r>
            <a:r>
              <a:rPr lang="en">
                <a:solidFill>
                  <a:schemeClr val="dk1"/>
                </a:solidFill>
                <a:latin typeface="Source Code Pro"/>
                <a:ea typeface="Source Code Pro"/>
                <a:cs typeface="Source Code Pro"/>
                <a:sym typeface="Source Code Pro"/>
              </a:rPr>
              <a:t> use my research</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0"/>
          <p:cNvSpPr txBox="1"/>
          <p:nvPr/>
        </p:nvSpPr>
        <p:spPr>
          <a:xfrm>
            <a:off x="2622125" y="332725"/>
            <a:ext cx="394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3" name="Google Shape;103;p20"/>
          <p:cNvSpPr txBox="1"/>
          <p:nvPr/>
        </p:nvSpPr>
        <p:spPr>
          <a:xfrm>
            <a:off x="7174700" y="154100"/>
            <a:ext cx="1887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u="sng">
                <a:latin typeface="Source Code Pro"/>
                <a:ea typeface="Source Code Pro"/>
                <a:cs typeface="Source Code Pro"/>
                <a:sym typeface="Source Code Pro"/>
              </a:rPr>
              <a:t>Introduction Paragraph</a:t>
            </a:r>
            <a:endParaRPr b="1" u="sng">
              <a:latin typeface="Source Code Pro"/>
              <a:ea typeface="Source Code Pro"/>
              <a:cs typeface="Source Code Pro"/>
              <a:sym typeface="Source Code Pro"/>
            </a:endParaRPr>
          </a:p>
        </p:txBody>
      </p:sp>
      <p:sp>
        <p:nvSpPr>
          <p:cNvPr id="104" name="Google Shape;104;p20"/>
          <p:cNvSpPr txBox="1"/>
          <p:nvPr/>
        </p:nvSpPr>
        <p:spPr>
          <a:xfrm>
            <a:off x="2565025" y="295450"/>
            <a:ext cx="3946500" cy="38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5" name="Google Shape;105;p20"/>
          <p:cNvSpPr txBox="1"/>
          <p:nvPr/>
        </p:nvSpPr>
        <p:spPr>
          <a:xfrm>
            <a:off x="2620600" y="346450"/>
            <a:ext cx="3162600" cy="79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21"/>
          <p:cNvSpPr txBox="1"/>
          <p:nvPr/>
        </p:nvSpPr>
        <p:spPr>
          <a:xfrm>
            <a:off x="2124925" y="1063075"/>
            <a:ext cx="3830100" cy="58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1" name="Google Shape;111;p21"/>
          <p:cNvSpPr txBox="1"/>
          <p:nvPr/>
        </p:nvSpPr>
        <p:spPr>
          <a:xfrm>
            <a:off x="6592025" y="68650"/>
            <a:ext cx="2454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Source Code Pro"/>
                <a:ea typeface="Source Code Pro"/>
                <a:cs typeface="Source Code Pro"/>
                <a:sym typeface="Source Code Pro"/>
              </a:rPr>
              <a:t>Body Paragraph 1</a:t>
            </a:r>
            <a:endParaRPr b="1" sz="1600">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2"/>
          <p:cNvSpPr txBox="1"/>
          <p:nvPr/>
        </p:nvSpPr>
        <p:spPr>
          <a:xfrm>
            <a:off x="2124925" y="1063075"/>
            <a:ext cx="3830100" cy="58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7" name="Google Shape;117;p22"/>
          <p:cNvSpPr txBox="1"/>
          <p:nvPr/>
        </p:nvSpPr>
        <p:spPr>
          <a:xfrm>
            <a:off x="5916150" y="185175"/>
            <a:ext cx="2992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600">
                <a:solidFill>
                  <a:schemeClr val="dk1"/>
                </a:solidFill>
                <a:latin typeface="Source Code Pro"/>
                <a:ea typeface="Source Code Pro"/>
                <a:cs typeface="Source Code Pro"/>
                <a:sym typeface="Source Code Pro"/>
              </a:rPr>
              <a:t>Body Paragraph 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23"/>
          <p:cNvSpPr txBox="1"/>
          <p:nvPr/>
        </p:nvSpPr>
        <p:spPr>
          <a:xfrm>
            <a:off x="2124925" y="1063075"/>
            <a:ext cx="3830100" cy="58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3" name="Google Shape;123;p23"/>
          <p:cNvSpPr txBox="1"/>
          <p:nvPr/>
        </p:nvSpPr>
        <p:spPr>
          <a:xfrm>
            <a:off x="6083050" y="0"/>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Source Code Pro"/>
                <a:ea typeface="Source Code Pro"/>
                <a:cs typeface="Source Code Pro"/>
                <a:sym typeface="Source Code Pro"/>
              </a:rPr>
              <a:t>Body Paragraph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4"/>
          <p:cNvSpPr txBox="1"/>
          <p:nvPr/>
        </p:nvSpPr>
        <p:spPr>
          <a:xfrm>
            <a:off x="7081475" y="76425"/>
            <a:ext cx="1996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u="sng">
                <a:latin typeface="Source Code Pro"/>
                <a:ea typeface="Source Code Pro"/>
                <a:cs typeface="Source Code Pro"/>
                <a:sym typeface="Source Code Pro"/>
              </a:rPr>
              <a:t>Conclusion Paragraph</a:t>
            </a:r>
            <a:endParaRPr b="1" sz="1600" u="sng">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
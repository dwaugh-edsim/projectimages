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CE810B9-AB22-40F7-A5A3-2371890B55F4}">
  <a:tblStyle styleId="{BCE810B9-AB22-40F7-A5A3-2371890B55F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08f73126a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08f73126a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08f73126a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08f73126a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08f73126a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08f73126a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08f73126a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08f73126a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08f73126a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08f73126a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8f73126a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8f73126a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08f73126a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08f73126a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08f73126a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08f73126a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F5FF83"/>
            </a:gs>
            <a:gs pos="100000">
              <a:srgbClr val="E3F609"/>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forms.gle/JkFgqJsJEdUh7BZD9" TargetMode="External"/><Relationship Id="rId4" Type="http://schemas.openxmlformats.org/officeDocument/2006/relationships/image" Target="../media/image1.png"/><Relationship Id="rId5" Type="http://schemas.openxmlformats.org/officeDocument/2006/relationships/hyperlink" Target="https://forms.gle/JkFgqJsJEdUh7BZD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hyperlink" Target="https://drive.google.com/file/d/1Ms2Kzm_KW3NCLTHAHm-FrID_jrDLaheF/view?usp=sharing" TargetMode="External"/><Relationship Id="rId4" Type="http://schemas.openxmlformats.org/officeDocument/2006/relationships/hyperlink" Target="https://drive.google.com/file/d/1Ms2Kzm_KW3NCLTHAHm-FrID_jrDLaheF/view?usp=sharing" TargetMode="External"/><Relationship Id="rId5" Type="http://schemas.openxmlformats.org/officeDocument/2006/relationships/hyperlink" Target="https://drive.google.com/file/d/1Ms2Kzm_KW3NCLTHAHm-FrID_jrDLaheF/view?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425825" y="403400"/>
            <a:ext cx="8516400" cy="4494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Source Code Pro"/>
                <a:ea typeface="Source Code Pro"/>
                <a:cs typeface="Source Code Pro"/>
                <a:sym typeface="Source Code Pro"/>
              </a:rPr>
              <a:t>Primary Source Analysis Assignment</a:t>
            </a:r>
            <a:endParaRPr b="1">
              <a:latin typeface="Source Code Pro"/>
              <a:ea typeface="Source Code Pro"/>
              <a:cs typeface="Source Code Pro"/>
              <a:sym typeface="Source Code Pro"/>
            </a:endParaRPr>
          </a:p>
          <a:p>
            <a:pPr indent="0" lvl="0" marL="0" rtl="0" algn="ctr">
              <a:spcBef>
                <a:spcPts val="0"/>
              </a:spcBef>
              <a:spcAft>
                <a:spcPts val="0"/>
              </a:spcAft>
              <a:buNone/>
            </a:pPr>
            <a:r>
              <a:t/>
            </a:r>
            <a:endParaRPr b="1">
              <a:latin typeface="Source Code Pro"/>
              <a:ea typeface="Source Code Pro"/>
              <a:cs typeface="Source Code Pro"/>
              <a:sym typeface="Source Code Pro"/>
            </a:endParaRPr>
          </a:p>
          <a:p>
            <a:pPr indent="0" lvl="0" marL="0" rtl="0" algn="just">
              <a:spcBef>
                <a:spcPts val="0"/>
              </a:spcBef>
              <a:spcAft>
                <a:spcPts val="0"/>
              </a:spcAft>
              <a:buNone/>
            </a:pPr>
            <a:r>
              <a:rPr lang="en">
                <a:latin typeface="Source Code Pro"/>
                <a:ea typeface="Source Code Pro"/>
                <a:cs typeface="Source Code Pro"/>
                <a:sym typeface="Source Code Pro"/>
              </a:rPr>
              <a:t>Primary sources are an important tool that historians use to learn more about what life was like in the past. For this assignment you will be analyzing a letter from World War 2. Follow the “I can” statements below to complete this assignment.</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b="1" lang="en">
                <a:latin typeface="Source Code Pro"/>
                <a:ea typeface="Source Code Pro"/>
                <a:cs typeface="Source Code Pro"/>
                <a:sym typeface="Source Code Pro"/>
              </a:rPr>
              <a:t>I can</a:t>
            </a:r>
            <a:r>
              <a:rPr lang="en">
                <a:latin typeface="Source Code Pro"/>
                <a:ea typeface="Source Code Pro"/>
                <a:cs typeface="Source Code Pro"/>
                <a:sym typeface="Source Code Pro"/>
              </a:rPr>
              <a:t> complete the primary source vs secondary source check in.</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b="1" lang="en">
                <a:latin typeface="Source Code Pro"/>
                <a:ea typeface="Source Code Pro"/>
                <a:cs typeface="Source Code Pro"/>
                <a:sym typeface="Source Code Pro"/>
              </a:rPr>
              <a:t>I can</a:t>
            </a:r>
            <a:r>
              <a:rPr lang="en">
                <a:latin typeface="Source Code Pro"/>
                <a:ea typeface="Source Code Pro"/>
                <a:cs typeface="Source Code Pro"/>
                <a:sym typeface="Source Code Pro"/>
              </a:rPr>
              <a:t> make notes on the contents of the letter, identifying any key information about the soldiers </a:t>
            </a:r>
            <a:r>
              <a:rPr lang="en">
                <a:latin typeface="Source Code Pro"/>
                <a:ea typeface="Source Code Pro"/>
                <a:cs typeface="Source Code Pro"/>
                <a:sym typeface="Source Code Pro"/>
              </a:rPr>
              <a:t>experience</a:t>
            </a:r>
            <a:r>
              <a:rPr lang="en">
                <a:latin typeface="Source Code Pro"/>
                <a:ea typeface="Source Code Pro"/>
                <a:cs typeface="Source Code Pro"/>
                <a:sym typeface="Source Code Pro"/>
              </a:rPr>
              <a:t>. </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b="1" lang="en">
                <a:latin typeface="Source Code Pro"/>
                <a:ea typeface="Source Code Pro"/>
                <a:cs typeface="Source Code Pro"/>
                <a:sym typeface="Source Code Pro"/>
              </a:rPr>
              <a:t>I can </a:t>
            </a:r>
            <a:r>
              <a:rPr lang="en">
                <a:latin typeface="Source Code Pro"/>
                <a:ea typeface="Source Code Pro"/>
                <a:cs typeface="Source Code Pro"/>
                <a:sym typeface="Source Code Pro"/>
              </a:rPr>
              <a:t>present the information from my notes in a clear and creative manner and turn into our Google Classroom.</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b="1">
              <a:latin typeface="Source Code Pro"/>
              <a:ea typeface="Source Code Pro"/>
              <a:cs typeface="Source Code Pro"/>
              <a:sym typeface="Source Code Pro"/>
            </a:endParaRPr>
          </a:p>
          <a:p>
            <a:pPr indent="0" lvl="0" marL="0" rtl="0" algn="l">
              <a:spcBef>
                <a:spcPts val="0"/>
              </a:spcBef>
              <a:spcAft>
                <a:spcPts val="0"/>
              </a:spcAft>
              <a:buNone/>
            </a:pPr>
            <a:r>
              <a:rPr b="1" lang="en">
                <a:latin typeface="Source Code Pro"/>
                <a:ea typeface="Source Code Pro"/>
                <a:cs typeface="Source Code Pro"/>
                <a:sym typeface="Source Code Pro"/>
              </a:rPr>
              <a:t>Learning Goal: </a:t>
            </a:r>
            <a:r>
              <a:rPr lang="en">
                <a:latin typeface="Source Code Pro"/>
                <a:ea typeface="Source Code Pro"/>
                <a:cs typeface="Source Code Pro"/>
                <a:sym typeface="Source Code Pro"/>
              </a:rPr>
              <a:t>To understand the difference between primary and secondary sources.</a:t>
            </a:r>
            <a:endParaRPr>
              <a:latin typeface="Source Code Pro"/>
              <a:ea typeface="Source Code Pro"/>
              <a:cs typeface="Source Code Pro"/>
              <a:sym typeface="Source Code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278575" y="352325"/>
            <a:ext cx="8711400" cy="217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1700" u="sng">
                <a:solidFill>
                  <a:schemeClr val="dk1"/>
                </a:solidFill>
                <a:latin typeface="Source Code Pro"/>
                <a:ea typeface="Source Code Pro"/>
                <a:cs typeface="Source Code Pro"/>
                <a:sym typeface="Source Code Pro"/>
              </a:rPr>
              <a:t>P</a:t>
            </a:r>
            <a:r>
              <a:rPr b="1" lang="en" sz="1700" u="sng">
                <a:solidFill>
                  <a:schemeClr val="dk1"/>
                </a:solidFill>
                <a:latin typeface="Source Code Pro"/>
                <a:ea typeface="Source Code Pro"/>
                <a:cs typeface="Source Code Pro"/>
                <a:sym typeface="Source Code Pro"/>
              </a:rPr>
              <a:t>rimary Source vs Secondary Source Check In</a:t>
            </a:r>
            <a:endParaRPr b="1" sz="1700" u="sng">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a:p>
            <a:pPr indent="0" lvl="0" marL="0" rtl="0" algn="just">
              <a:spcBef>
                <a:spcPts val="0"/>
              </a:spcBef>
              <a:spcAft>
                <a:spcPts val="0"/>
              </a:spcAft>
              <a:buNone/>
            </a:pPr>
            <a:r>
              <a:rPr lang="en">
                <a:latin typeface="Source Code Pro"/>
                <a:ea typeface="Source Code Pro"/>
                <a:cs typeface="Source Code Pro"/>
                <a:sym typeface="Source Code Pro"/>
              </a:rPr>
              <a:t>Before </a:t>
            </a:r>
            <a:r>
              <a:rPr lang="en">
                <a:latin typeface="Source Code Pro"/>
                <a:ea typeface="Source Code Pro"/>
                <a:cs typeface="Source Code Pro"/>
                <a:sym typeface="Source Code Pro"/>
              </a:rPr>
              <a:t>analyzing</a:t>
            </a:r>
            <a:r>
              <a:rPr lang="en">
                <a:latin typeface="Source Code Pro"/>
                <a:ea typeface="Source Code Pro"/>
                <a:cs typeface="Source Code Pro"/>
                <a:sym typeface="Source Code Pro"/>
              </a:rPr>
              <a:t> the primary source document it is first important to understand the difference between a primary source and a secondary source. Click on or scan the QR Code to complete the check in quiz.</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p:txBody>
      </p:sp>
      <p:pic>
        <p:nvPicPr>
          <p:cNvPr id="60" name="Google Shape;60;p14">
            <a:hlinkClick r:id="rId3"/>
          </p:cNvPr>
          <p:cNvPicPr preferRelativeResize="0"/>
          <p:nvPr/>
        </p:nvPicPr>
        <p:blipFill>
          <a:blip r:embed="rId4">
            <a:alphaModFix/>
          </a:blip>
          <a:stretch>
            <a:fillRect/>
          </a:stretch>
        </p:blipFill>
        <p:spPr>
          <a:xfrm>
            <a:off x="3054902" y="1875050"/>
            <a:ext cx="2770652" cy="2770673"/>
          </a:xfrm>
          <a:prstGeom prst="rect">
            <a:avLst/>
          </a:prstGeom>
          <a:noFill/>
          <a:ln>
            <a:noFill/>
          </a:ln>
        </p:spPr>
      </p:pic>
      <p:sp>
        <p:nvSpPr>
          <p:cNvPr id="61" name="Google Shape;61;p14"/>
          <p:cNvSpPr txBox="1"/>
          <p:nvPr/>
        </p:nvSpPr>
        <p:spPr>
          <a:xfrm>
            <a:off x="2417100" y="4645725"/>
            <a:ext cx="412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5"/>
              </a:rPr>
              <a:t>CLICK HERE OR SCAN TO COMPLETE QUIZ</a:t>
            </a:r>
            <a:endParaRPr>
              <a:latin typeface="Source Code Pro"/>
              <a:ea typeface="Source Code Pro"/>
              <a:cs typeface="Source Code Pro"/>
              <a:sym typeface="Source Code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nvSpPr>
        <p:spPr>
          <a:xfrm>
            <a:off x="303150" y="311350"/>
            <a:ext cx="8570400" cy="347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u="sng">
                <a:latin typeface="Source Code Pro"/>
                <a:ea typeface="Source Code Pro"/>
                <a:cs typeface="Source Code Pro"/>
                <a:sym typeface="Source Code Pro"/>
              </a:rPr>
              <a:t>Primary Source Notes</a:t>
            </a:r>
            <a:endParaRPr b="1" sz="1800" u="sng">
              <a:latin typeface="Source Code Pro"/>
              <a:ea typeface="Source Code Pro"/>
              <a:cs typeface="Source Code Pro"/>
              <a:sym typeface="Source Code Pro"/>
            </a:endParaRPr>
          </a:p>
          <a:p>
            <a:pPr indent="0" lvl="0" marL="0" rtl="0" algn="ctr">
              <a:spcBef>
                <a:spcPts val="0"/>
              </a:spcBef>
              <a:spcAft>
                <a:spcPts val="0"/>
              </a:spcAft>
              <a:buNone/>
            </a:pPr>
            <a:r>
              <a:t/>
            </a:r>
            <a:endParaRPr b="1" u="sng">
              <a:latin typeface="Source Code Pro"/>
              <a:ea typeface="Source Code Pro"/>
              <a:cs typeface="Source Code Pro"/>
              <a:sym typeface="Source Code Pro"/>
            </a:endParaRPr>
          </a:p>
          <a:p>
            <a:pPr indent="0" lvl="0" marL="0" rtl="0" algn="just">
              <a:spcBef>
                <a:spcPts val="0"/>
              </a:spcBef>
              <a:spcAft>
                <a:spcPts val="0"/>
              </a:spcAft>
              <a:buNone/>
            </a:pPr>
            <a:r>
              <a:rPr b="1" lang="en">
                <a:latin typeface="Source Code Pro"/>
                <a:ea typeface="Source Code Pro"/>
                <a:cs typeface="Source Code Pro"/>
                <a:sym typeface="Source Code Pro"/>
              </a:rPr>
              <a:t>Now that you understand the difference between primary and secondary sources it is time to </a:t>
            </a:r>
            <a:r>
              <a:rPr b="1" lang="en">
                <a:latin typeface="Source Code Pro"/>
                <a:ea typeface="Source Code Pro"/>
                <a:cs typeface="Source Code Pro"/>
                <a:sym typeface="Source Code Pro"/>
              </a:rPr>
              <a:t>analyze and make notes on our primary source document. Make notes to the best of your ability on the contents of the letter. Here are some things to keep in mind when creating your notes:</a:t>
            </a:r>
            <a:endParaRPr b="1">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317500" lvl="0" marL="457200" rtl="0" algn="ctr">
              <a:spcBef>
                <a:spcPts val="0"/>
              </a:spcBef>
              <a:spcAft>
                <a:spcPts val="0"/>
              </a:spcAft>
              <a:buSzPts val="1400"/>
              <a:buFont typeface="Source Code Pro"/>
              <a:buChar char="●"/>
            </a:pPr>
            <a:r>
              <a:rPr lang="en">
                <a:latin typeface="Source Code Pro"/>
                <a:ea typeface="Source Code Pro"/>
                <a:cs typeface="Source Code Pro"/>
                <a:sym typeface="Source Code Pro"/>
              </a:rPr>
              <a:t>You do not need to write every word down word for word </a:t>
            </a:r>
            <a:endParaRPr>
              <a:latin typeface="Source Code Pro"/>
              <a:ea typeface="Source Code Pro"/>
              <a:cs typeface="Source Code Pro"/>
              <a:sym typeface="Source Code Pro"/>
            </a:endParaRPr>
          </a:p>
          <a:p>
            <a:pPr indent="0" lvl="0" marL="457200" rtl="0" algn="ctr">
              <a:spcBef>
                <a:spcPts val="0"/>
              </a:spcBef>
              <a:spcAft>
                <a:spcPts val="0"/>
              </a:spcAft>
              <a:buNone/>
            </a:pPr>
            <a:r>
              <a:t/>
            </a:r>
            <a:endParaRPr>
              <a:latin typeface="Source Code Pro"/>
              <a:ea typeface="Source Code Pro"/>
              <a:cs typeface="Source Code Pro"/>
              <a:sym typeface="Source Code Pro"/>
            </a:endParaRPr>
          </a:p>
          <a:p>
            <a:pPr indent="-317500" lvl="0" marL="457200" rtl="0" algn="ctr">
              <a:spcBef>
                <a:spcPts val="0"/>
              </a:spcBef>
              <a:spcAft>
                <a:spcPts val="0"/>
              </a:spcAft>
              <a:buSzPts val="1400"/>
              <a:buFont typeface="Source Code Pro"/>
              <a:buChar char="●"/>
            </a:pPr>
            <a:r>
              <a:rPr lang="en">
                <a:latin typeface="Source Code Pro"/>
                <a:ea typeface="Source Code Pro"/>
                <a:cs typeface="Source Code Pro"/>
                <a:sym typeface="Source Code Pro"/>
              </a:rPr>
              <a:t>Focus on important details about what the individual was going through or events described in it</a:t>
            </a:r>
            <a:endParaRPr>
              <a:latin typeface="Source Code Pro"/>
              <a:ea typeface="Source Code Pro"/>
              <a:cs typeface="Source Code Pro"/>
              <a:sym typeface="Source Code Pro"/>
            </a:endParaRPr>
          </a:p>
          <a:p>
            <a:pPr indent="0" lvl="0" marL="457200" rtl="0" algn="ctr">
              <a:spcBef>
                <a:spcPts val="0"/>
              </a:spcBef>
              <a:spcAft>
                <a:spcPts val="0"/>
              </a:spcAft>
              <a:buNone/>
            </a:pPr>
            <a:r>
              <a:t/>
            </a:r>
            <a:endParaRPr>
              <a:latin typeface="Source Code Pro"/>
              <a:ea typeface="Source Code Pro"/>
              <a:cs typeface="Source Code Pro"/>
              <a:sym typeface="Source Code Pro"/>
            </a:endParaRPr>
          </a:p>
          <a:p>
            <a:pPr indent="-317500" lvl="0" marL="457200" rtl="0" algn="ctr">
              <a:spcBef>
                <a:spcPts val="0"/>
              </a:spcBef>
              <a:spcAft>
                <a:spcPts val="0"/>
              </a:spcAft>
              <a:buSzPts val="1400"/>
              <a:buFont typeface="Source Code Pro"/>
              <a:buChar char="●"/>
            </a:pPr>
            <a:r>
              <a:rPr lang="en">
                <a:latin typeface="Source Code Pro"/>
                <a:ea typeface="Source Code Pro"/>
                <a:cs typeface="Source Code Pro"/>
                <a:sym typeface="Source Code Pro"/>
              </a:rPr>
              <a:t>Pay attention for any names, dates, locations (if there are any mentioned)</a:t>
            </a:r>
            <a:endParaRPr>
              <a:latin typeface="Source Code Pro"/>
              <a:ea typeface="Source Code Pro"/>
              <a:cs typeface="Source Code Pro"/>
              <a:sym typeface="Source Code Pro"/>
            </a:endParaRPr>
          </a:p>
          <a:p>
            <a:pPr indent="0" lvl="0" marL="457200" rtl="0" algn="ctr">
              <a:spcBef>
                <a:spcPts val="0"/>
              </a:spcBef>
              <a:spcAft>
                <a:spcPts val="0"/>
              </a:spcAft>
              <a:buNone/>
            </a:pPr>
            <a:r>
              <a:t/>
            </a:r>
            <a:endParaRPr>
              <a:latin typeface="Source Code Pro"/>
              <a:ea typeface="Source Code Pro"/>
              <a:cs typeface="Source Code Pro"/>
              <a:sym typeface="Source Code Pro"/>
            </a:endParaRPr>
          </a:p>
          <a:p>
            <a:pPr indent="-317500" lvl="0" marL="457200" rtl="0" algn="ctr">
              <a:spcBef>
                <a:spcPts val="0"/>
              </a:spcBef>
              <a:spcAft>
                <a:spcPts val="0"/>
              </a:spcAft>
              <a:buSzPts val="1400"/>
              <a:buFont typeface="Source Code Pro"/>
              <a:buChar char="●"/>
            </a:pPr>
            <a:r>
              <a:rPr lang="en">
                <a:latin typeface="Source Code Pro"/>
                <a:ea typeface="Source Code Pro"/>
                <a:cs typeface="Source Code Pro"/>
                <a:sym typeface="Source Code Pro"/>
              </a:rPr>
              <a:t> References to other individuals and their </a:t>
            </a:r>
            <a:r>
              <a:rPr lang="en">
                <a:latin typeface="Source Code Pro"/>
                <a:ea typeface="Source Code Pro"/>
                <a:cs typeface="Source Code Pro"/>
                <a:sym typeface="Source Code Pro"/>
              </a:rPr>
              <a:t>experiences</a:t>
            </a:r>
            <a:endParaRPr>
              <a:latin typeface="Source Code Pro"/>
              <a:ea typeface="Source Code Pro"/>
              <a:cs typeface="Source Code Pro"/>
              <a:sym typeface="Source Code Pro"/>
            </a:endParaRPr>
          </a:p>
        </p:txBody>
      </p:sp>
      <p:sp>
        <p:nvSpPr>
          <p:cNvPr id="67" name="Google Shape;67;p15"/>
          <p:cNvSpPr txBox="1"/>
          <p:nvPr/>
        </p:nvSpPr>
        <p:spPr>
          <a:xfrm>
            <a:off x="1597750" y="4408150"/>
            <a:ext cx="6005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latin typeface="Source Code Pro"/>
                <a:ea typeface="Source Code Pro"/>
                <a:cs typeface="Source Code Pro"/>
                <a:sym typeface="Source Code Pro"/>
                <a:hlinkClick r:id="rId3"/>
              </a:rPr>
              <a:t>Link to </a:t>
            </a:r>
            <a:r>
              <a:rPr lang="en" u="sng">
                <a:solidFill>
                  <a:schemeClr val="hlink"/>
                </a:solidFill>
                <a:latin typeface="Source Code Pro"/>
                <a:ea typeface="Source Code Pro"/>
                <a:cs typeface="Source Code Pro"/>
                <a:sym typeface="Source Code Pro"/>
                <a:hlinkClick r:id="rId4"/>
              </a:rPr>
              <a:t>full</a:t>
            </a:r>
            <a:r>
              <a:rPr lang="en" u="sng">
                <a:solidFill>
                  <a:schemeClr val="hlink"/>
                </a:solidFill>
                <a:latin typeface="Source Code Pro"/>
                <a:ea typeface="Source Code Pro"/>
                <a:cs typeface="Source Code Pro"/>
                <a:sym typeface="Source Code Pro"/>
                <a:hlinkClick r:id="rId5"/>
              </a:rPr>
              <a:t> PDF or the Primary Source Letter </a:t>
            </a:r>
            <a:endParaRPr>
              <a:latin typeface="Source Code Pro"/>
              <a:ea typeface="Source Code Pro"/>
              <a:cs typeface="Source Code Pro"/>
              <a:sym typeface="Source Code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16"/>
          <p:cNvPicPr preferRelativeResize="0"/>
          <p:nvPr/>
        </p:nvPicPr>
        <p:blipFill>
          <a:blip r:embed="rId3">
            <a:alphaModFix/>
          </a:blip>
          <a:stretch>
            <a:fillRect/>
          </a:stretch>
        </p:blipFill>
        <p:spPr>
          <a:xfrm>
            <a:off x="152400" y="65550"/>
            <a:ext cx="4296701" cy="4925549"/>
          </a:xfrm>
          <a:prstGeom prst="rect">
            <a:avLst/>
          </a:prstGeom>
          <a:noFill/>
          <a:ln>
            <a:noFill/>
          </a:ln>
        </p:spPr>
      </p:pic>
      <p:graphicFrame>
        <p:nvGraphicFramePr>
          <p:cNvPr id="73" name="Google Shape;73;p16"/>
          <p:cNvGraphicFramePr/>
          <p:nvPr/>
        </p:nvGraphicFramePr>
        <p:xfrm>
          <a:off x="4627300" y="216100"/>
          <a:ext cx="3000000" cy="3000000"/>
        </p:xfrm>
        <a:graphic>
          <a:graphicData uri="http://schemas.openxmlformats.org/drawingml/2006/table">
            <a:tbl>
              <a:tblPr>
                <a:noFill/>
                <a:tableStyleId>{BCE810B9-AB22-40F7-A5A3-2371890B55F4}</a:tableStyleId>
              </a:tblPr>
              <a:tblGrid>
                <a:gridCol w="4412225"/>
              </a:tblGrid>
              <a:tr h="381000">
                <a:tc>
                  <a:txBody>
                    <a:bodyPr/>
                    <a:lstStyle/>
                    <a:p>
                      <a:pPr indent="0" lvl="0" marL="0" rtl="0" algn="ctr">
                        <a:spcBef>
                          <a:spcPts val="0"/>
                        </a:spcBef>
                        <a:spcAft>
                          <a:spcPts val="0"/>
                        </a:spcAft>
                        <a:buNone/>
                      </a:pPr>
                      <a:r>
                        <a:rPr b="1" lang="en">
                          <a:latin typeface="Source Code Pro"/>
                          <a:ea typeface="Source Code Pro"/>
                          <a:cs typeface="Source Code Pro"/>
                          <a:sym typeface="Source Code Pro"/>
                        </a:rPr>
                        <a:t>Notes:</a:t>
                      </a:r>
                      <a:endParaRPr b="1">
                        <a:latin typeface="Source Code Pro"/>
                        <a:ea typeface="Source Code Pro"/>
                        <a:cs typeface="Source Code Pro"/>
                        <a:sym typeface="Source Code Pro"/>
                      </a:endParaRPr>
                    </a:p>
                    <a:p>
                      <a:pPr indent="0" lvl="0" marL="0" rtl="0" algn="l">
                        <a:spcBef>
                          <a:spcPts val="0"/>
                        </a:spcBef>
                        <a:spcAft>
                          <a:spcPts val="0"/>
                        </a:spcAft>
                        <a:buClr>
                          <a:schemeClr val="dk1"/>
                        </a:buClr>
                        <a:buSzPts val="1100"/>
                        <a:buFont typeface="Arial"/>
                        <a:buNone/>
                      </a:pPr>
                      <a:r>
                        <a:rPr i="1" lang="en">
                          <a:solidFill>
                            <a:schemeClr val="dk1"/>
                          </a:solidFill>
                          <a:latin typeface="Source Code Pro"/>
                          <a:ea typeface="Source Code Pro"/>
                          <a:cs typeface="Source Code Pro"/>
                          <a:sym typeface="Source Code Pro"/>
                        </a:rPr>
                        <a:t>Location: Somewhere in Italy </a:t>
                      </a:r>
                      <a:r>
                        <a:rPr i="1" lang="en" sz="700">
                          <a:solidFill>
                            <a:schemeClr val="dk1"/>
                          </a:solidFill>
                          <a:latin typeface="Source Code Pro"/>
                          <a:ea typeface="Source Code Pro"/>
                          <a:cs typeface="Source Code Pro"/>
                          <a:sym typeface="Source Code Pro"/>
                        </a:rPr>
                        <a:t>(Cut off at the top)</a:t>
                      </a:r>
                      <a:endParaRPr>
                        <a:latin typeface="Source Code Pro"/>
                        <a:ea typeface="Source Code Pro"/>
                        <a:cs typeface="Source Code Pro"/>
                        <a:sym typeface="Source Code Pro"/>
                      </a:endParaRPr>
                    </a:p>
                  </a:txBody>
                  <a:tcPr marT="91425" marB="91425" marR="91425" marL="91425"/>
                </a:tc>
              </a:tr>
              <a:tr h="381000">
                <a:tc>
                  <a:txBody>
                    <a:bodyPr/>
                    <a:lstStyle/>
                    <a:p>
                      <a:pPr indent="0" lvl="0" marL="0" rtl="0" algn="l">
                        <a:spcBef>
                          <a:spcPts val="0"/>
                        </a:spcBef>
                        <a:spcAft>
                          <a:spcPts val="0"/>
                        </a:spcAft>
                        <a:buNone/>
                      </a:pPr>
                      <a:r>
                        <a:t/>
                      </a:r>
                      <a:endParaRPr i="1" sz="700">
                        <a:latin typeface="Source Code Pro"/>
                        <a:ea typeface="Source Code Pro"/>
                        <a:cs typeface="Source Code Pro"/>
                        <a:sym typeface="Source Code Pr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graphicFrame>
        <p:nvGraphicFramePr>
          <p:cNvPr id="78" name="Google Shape;78;p17"/>
          <p:cNvGraphicFramePr/>
          <p:nvPr/>
        </p:nvGraphicFramePr>
        <p:xfrm>
          <a:off x="4627300" y="216100"/>
          <a:ext cx="3000000" cy="3000000"/>
        </p:xfrm>
        <a:graphic>
          <a:graphicData uri="http://schemas.openxmlformats.org/drawingml/2006/table">
            <a:tbl>
              <a:tblPr>
                <a:noFill/>
                <a:tableStyleId>{BCE810B9-AB22-40F7-A5A3-2371890B55F4}</a:tableStyleId>
              </a:tblPr>
              <a:tblGrid>
                <a:gridCol w="4412225"/>
              </a:tblGrid>
              <a:tr h="381000">
                <a:tc>
                  <a:txBody>
                    <a:bodyPr/>
                    <a:lstStyle/>
                    <a:p>
                      <a:pPr indent="0" lvl="0" marL="0" rtl="0" algn="ctr">
                        <a:spcBef>
                          <a:spcPts val="0"/>
                        </a:spcBef>
                        <a:spcAft>
                          <a:spcPts val="0"/>
                        </a:spcAft>
                        <a:buNone/>
                      </a:pPr>
                      <a:r>
                        <a:rPr b="1" lang="en">
                          <a:latin typeface="Source Code Pro"/>
                          <a:ea typeface="Source Code Pro"/>
                          <a:cs typeface="Source Code Pro"/>
                          <a:sym typeface="Source Code Pro"/>
                        </a:rPr>
                        <a:t>Notes:</a:t>
                      </a:r>
                      <a:endParaRPr>
                        <a:latin typeface="Source Code Pro"/>
                        <a:ea typeface="Source Code Pro"/>
                        <a:cs typeface="Source Code Pro"/>
                        <a:sym typeface="Source Code Pro"/>
                      </a:endParaRPr>
                    </a:p>
                  </a:txBody>
                  <a:tcPr marT="91425" marB="91425" marR="91425" marL="91425"/>
                </a:tc>
              </a:tr>
              <a:tr h="381000">
                <a:tc>
                  <a:txBody>
                    <a:bodyPr/>
                    <a:lstStyle/>
                    <a:p>
                      <a:pPr indent="0" lvl="0" marL="0" rtl="0" algn="l">
                        <a:spcBef>
                          <a:spcPts val="0"/>
                        </a:spcBef>
                        <a:spcAft>
                          <a:spcPts val="0"/>
                        </a:spcAft>
                        <a:buNone/>
                      </a:pPr>
                      <a:r>
                        <a:t/>
                      </a:r>
                      <a:endParaRPr i="1" sz="700">
                        <a:latin typeface="Source Code Pro"/>
                        <a:ea typeface="Source Code Pro"/>
                        <a:cs typeface="Source Code Pro"/>
                        <a:sym typeface="Source Code Pr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tc>
              </a:tr>
            </a:tbl>
          </a:graphicData>
        </a:graphic>
      </p:graphicFrame>
      <p:pic>
        <p:nvPicPr>
          <p:cNvPr id="79" name="Google Shape;79;p17"/>
          <p:cNvPicPr preferRelativeResize="0"/>
          <p:nvPr/>
        </p:nvPicPr>
        <p:blipFill>
          <a:blip r:embed="rId3">
            <a:alphaModFix/>
          </a:blip>
          <a:stretch>
            <a:fillRect/>
          </a:stretch>
        </p:blipFill>
        <p:spPr>
          <a:xfrm>
            <a:off x="152400" y="152400"/>
            <a:ext cx="4231150" cy="48387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aphicFrame>
        <p:nvGraphicFramePr>
          <p:cNvPr id="84" name="Google Shape;84;p18"/>
          <p:cNvGraphicFramePr/>
          <p:nvPr/>
        </p:nvGraphicFramePr>
        <p:xfrm>
          <a:off x="4627300" y="216100"/>
          <a:ext cx="3000000" cy="3000000"/>
        </p:xfrm>
        <a:graphic>
          <a:graphicData uri="http://schemas.openxmlformats.org/drawingml/2006/table">
            <a:tbl>
              <a:tblPr>
                <a:noFill/>
                <a:tableStyleId>{BCE810B9-AB22-40F7-A5A3-2371890B55F4}</a:tableStyleId>
              </a:tblPr>
              <a:tblGrid>
                <a:gridCol w="4412225"/>
              </a:tblGrid>
              <a:tr h="381000">
                <a:tc>
                  <a:txBody>
                    <a:bodyPr/>
                    <a:lstStyle/>
                    <a:p>
                      <a:pPr indent="0" lvl="0" marL="0" rtl="0" algn="ctr">
                        <a:spcBef>
                          <a:spcPts val="0"/>
                        </a:spcBef>
                        <a:spcAft>
                          <a:spcPts val="0"/>
                        </a:spcAft>
                        <a:buNone/>
                      </a:pPr>
                      <a:r>
                        <a:rPr b="1" lang="en">
                          <a:latin typeface="Source Code Pro"/>
                          <a:ea typeface="Source Code Pro"/>
                          <a:cs typeface="Source Code Pro"/>
                          <a:sym typeface="Source Code Pro"/>
                        </a:rPr>
                        <a:t>Notes:</a:t>
                      </a:r>
                      <a:endParaRPr>
                        <a:latin typeface="Source Code Pro"/>
                        <a:ea typeface="Source Code Pro"/>
                        <a:cs typeface="Source Code Pro"/>
                        <a:sym typeface="Source Code Pro"/>
                      </a:endParaRPr>
                    </a:p>
                  </a:txBody>
                  <a:tcPr marT="91425" marB="91425" marR="91425" marL="91425"/>
                </a:tc>
              </a:tr>
              <a:tr h="381000">
                <a:tc>
                  <a:txBody>
                    <a:bodyPr/>
                    <a:lstStyle/>
                    <a:p>
                      <a:pPr indent="0" lvl="0" marL="0" rtl="0" algn="l">
                        <a:spcBef>
                          <a:spcPts val="0"/>
                        </a:spcBef>
                        <a:spcAft>
                          <a:spcPts val="0"/>
                        </a:spcAft>
                        <a:buNone/>
                      </a:pPr>
                      <a:r>
                        <a:t/>
                      </a:r>
                      <a:endParaRPr i="1" sz="700">
                        <a:latin typeface="Source Code Pro"/>
                        <a:ea typeface="Source Code Pro"/>
                        <a:cs typeface="Source Code Pro"/>
                        <a:sym typeface="Source Code Pr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tc>
              </a:tr>
            </a:tbl>
          </a:graphicData>
        </a:graphic>
      </p:graphicFrame>
      <p:pic>
        <p:nvPicPr>
          <p:cNvPr id="85" name="Google Shape;85;p18"/>
          <p:cNvPicPr preferRelativeResize="0"/>
          <p:nvPr/>
        </p:nvPicPr>
        <p:blipFill>
          <a:blip r:embed="rId3">
            <a:alphaModFix/>
          </a:blip>
          <a:stretch>
            <a:fillRect/>
          </a:stretch>
        </p:blipFill>
        <p:spPr>
          <a:xfrm>
            <a:off x="152400" y="152400"/>
            <a:ext cx="3723131" cy="48387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graphicFrame>
        <p:nvGraphicFramePr>
          <p:cNvPr id="90" name="Google Shape;90;p19"/>
          <p:cNvGraphicFramePr/>
          <p:nvPr/>
        </p:nvGraphicFramePr>
        <p:xfrm>
          <a:off x="4627300" y="216100"/>
          <a:ext cx="3000000" cy="3000000"/>
        </p:xfrm>
        <a:graphic>
          <a:graphicData uri="http://schemas.openxmlformats.org/drawingml/2006/table">
            <a:tbl>
              <a:tblPr>
                <a:noFill/>
                <a:tableStyleId>{BCE810B9-AB22-40F7-A5A3-2371890B55F4}</a:tableStyleId>
              </a:tblPr>
              <a:tblGrid>
                <a:gridCol w="4412225"/>
              </a:tblGrid>
              <a:tr h="381000">
                <a:tc>
                  <a:txBody>
                    <a:bodyPr/>
                    <a:lstStyle/>
                    <a:p>
                      <a:pPr indent="0" lvl="0" marL="0" rtl="0" algn="ctr">
                        <a:spcBef>
                          <a:spcPts val="0"/>
                        </a:spcBef>
                        <a:spcAft>
                          <a:spcPts val="0"/>
                        </a:spcAft>
                        <a:buNone/>
                      </a:pPr>
                      <a:r>
                        <a:rPr b="1" lang="en">
                          <a:latin typeface="Source Code Pro"/>
                          <a:ea typeface="Source Code Pro"/>
                          <a:cs typeface="Source Code Pro"/>
                          <a:sym typeface="Source Code Pro"/>
                        </a:rPr>
                        <a:t>Notes:</a:t>
                      </a:r>
                      <a:endParaRPr>
                        <a:latin typeface="Source Code Pro"/>
                        <a:ea typeface="Source Code Pro"/>
                        <a:cs typeface="Source Code Pro"/>
                        <a:sym typeface="Source Code Pro"/>
                      </a:endParaRPr>
                    </a:p>
                  </a:txBody>
                  <a:tcPr marT="91425" marB="91425" marR="91425" marL="91425"/>
                </a:tc>
              </a:tr>
              <a:tr h="381000">
                <a:tc>
                  <a:txBody>
                    <a:bodyPr/>
                    <a:lstStyle/>
                    <a:p>
                      <a:pPr indent="0" lvl="0" marL="0" rtl="0" algn="l">
                        <a:spcBef>
                          <a:spcPts val="0"/>
                        </a:spcBef>
                        <a:spcAft>
                          <a:spcPts val="0"/>
                        </a:spcAft>
                        <a:buNone/>
                      </a:pPr>
                      <a:r>
                        <a:t/>
                      </a:r>
                      <a:endParaRPr i="1" sz="700">
                        <a:latin typeface="Source Code Pro"/>
                        <a:ea typeface="Source Code Pro"/>
                        <a:cs typeface="Source Code Pro"/>
                        <a:sym typeface="Source Code Pr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tc>
              </a:tr>
            </a:tbl>
          </a:graphicData>
        </a:graphic>
      </p:graphicFrame>
      <p:pic>
        <p:nvPicPr>
          <p:cNvPr id="91" name="Google Shape;91;p19"/>
          <p:cNvPicPr preferRelativeResize="0"/>
          <p:nvPr/>
        </p:nvPicPr>
        <p:blipFill>
          <a:blip r:embed="rId3">
            <a:alphaModFix/>
          </a:blip>
          <a:stretch>
            <a:fillRect/>
          </a:stretch>
        </p:blipFill>
        <p:spPr>
          <a:xfrm>
            <a:off x="152400" y="447375"/>
            <a:ext cx="4322499" cy="24613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nvSpPr>
        <p:spPr>
          <a:xfrm>
            <a:off x="188450" y="311350"/>
            <a:ext cx="8816400" cy="4987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u="sng">
                <a:latin typeface="Source Code Pro"/>
                <a:ea typeface="Source Code Pro"/>
                <a:cs typeface="Source Code Pro"/>
                <a:sym typeface="Source Code Pro"/>
              </a:rPr>
              <a:t>Presenting Your Findings</a:t>
            </a:r>
            <a:endParaRPr b="1" sz="1800" u="sng">
              <a:latin typeface="Source Code Pro"/>
              <a:ea typeface="Source Code Pro"/>
              <a:cs typeface="Source Code Pro"/>
              <a:sym typeface="Source Code Pro"/>
            </a:endParaRPr>
          </a:p>
          <a:p>
            <a:pPr indent="0" lvl="0" marL="0" rtl="0" algn="just">
              <a:spcBef>
                <a:spcPts val="0"/>
              </a:spcBef>
              <a:spcAft>
                <a:spcPts val="0"/>
              </a:spcAft>
              <a:buNone/>
            </a:pPr>
            <a:r>
              <a:t/>
            </a:r>
            <a:endParaRPr b="1" u="sng">
              <a:latin typeface="Source Code Pro"/>
              <a:ea typeface="Source Code Pro"/>
              <a:cs typeface="Source Code Pro"/>
              <a:sym typeface="Source Code Pro"/>
            </a:endParaRPr>
          </a:p>
          <a:p>
            <a:pPr indent="457200" lvl="0" marL="0" rtl="0" algn="just">
              <a:spcBef>
                <a:spcPts val="0"/>
              </a:spcBef>
              <a:spcAft>
                <a:spcPts val="0"/>
              </a:spcAft>
              <a:buNone/>
            </a:pPr>
            <a:r>
              <a:rPr b="1" lang="en">
                <a:latin typeface="Source Code Pro"/>
                <a:ea typeface="Source Code Pro"/>
                <a:cs typeface="Source Code Pro"/>
                <a:sym typeface="Source Code Pro"/>
              </a:rPr>
              <a:t>Now that you have </a:t>
            </a:r>
            <a:r>
              <a:rPr b="1" lang="en">
                <a:latin typeface="Source Code Pro"/>
                <a:ea typeface="Source Code Pro"/>
                <a:cs typeface="Source Code Pro"/>
                <a:sym typeface="Source Code Pro"/>
              </a:rPr>
              <a:t>completed</a:t>
            </a:r>
            <a:r>
              <a:rPr b="1" lang="en">
                <a:latin typeface="Source Code Pro"/>
                <a:ea typeface="Source Code Pro"/>
                <a:cs typeface="Source Code Pro"/>
                <a:sym typeface="Source Code Pro"/>
              </a:rPr>
              <a:t> taking notes on the contents of the primary </a:t>
            </a:r>
            <a:r>
              <a:rPr b="1" lang="en">
                <a:latin typeface="Source Code Pro"/>
                <a:ea typeface="Source Code Pro"/>
                <a:cs typeface="Source Code Pro"/>
                <a:sym typeface="Source Code Pro"/>
              </a:rPr>
              <a:t>source it is time to present your findings. Using the information from the notes you took on the primary source, present your findings and what you learned from your analysis of the source. When it comes to presenting your finds you can:</a:t>
            </a:r>
            <a:endParaRPr b="1">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lang="en">
                <a:latin typeface="Source Code Pro"/>
                <a:ea typeface="Source Code Pro"/>
                <a:cs typeface="Source Code Pro"/>
                <a:sym typeface="Source Code Pro"/>
              </a:rPr>
              <a:t>Create a slideshow</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lang="en">
                <a:latin typeface="Source Code Pro"/>
                <a:ea typeface="Source Code Pro"/>
                <a:cs typeface="Source Code Pro"/>
                <a:sym typeface="Source Code Pro"/>
              </a:rPr>
              <a:t>Write an essay about your findings</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lang="en">
                <a:latin typeface="Source Code Pro"/>
                <a:ea typeface="Source Code Pro"/>
                <a:cs typeface="Source Code Pro"/>
                <a:sym typeface="Source Code Pro"/>
              </a:rPr>
              <a:t>Create a video analyzing the primary source and present your findings</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lang="en">
                <a:latin typeface="Source Code Pro"/>
                <a:ea typeface="Source Code Pro"/>
                <a:cs typeface="Source Code Pro"/>
                <a:sym typeface="Source Code Pro"/>
              </a:rPr>
              <a:t>Record a podcast in a small group discussing what you learned from the letter</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lang="en">
                <a:latin typeface="Source Code Pro"/>
                <a:ea typeface="Source Code Pro"/>
                <a:cs typeface="Source Code Pro"/>
                <a:sym typeface="Source Code Pro"/>
              </a:rPr>
              <a:t>Create a storyboard or comic to present your findings</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lang="en">
                <a:latin typeface="Source Code Pro"/>
                <a:ea typeface="Source Code Pro"/>
                <a:cs typeface="Source Code Pro"/>
                <a:sym typeface="Source Code Pro"/>
              </a:rPr>
              <a:t>Visual or Digital Representation </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b="1" lang="en">
                <a:latin typeface="Source Code Pro"/>
                <a:ea typeface="Source Code Pro"/>
                <a:cs typeface="Source Code Pro"/>
                <a:sym typeface="Source Code Pro"/>
              </a:rPr>
              <a:t>When finished make sure you submit your notes and final product to our google classroom.</a:t>
            </a:r>
            <a:endParaRPr b="1">
              <a:latin typeface="Source Code Pro"/>
              <a:ea typeface="Source Code Pro"/>
              <a:cs typeface="Source Code Pro"/>
              <a:sym typeface="Source Code Pro"/>
            </a:endParaRPr>
          </a:p>
          <a:p>
            <a:pPr indent="0" lvl="0" marL="0" rtl="0" algn="ctr">
              <a:spcBef>
                <a:spcPts val="0"/>
              </a:spcBef>
              <a:spcAft>
                <a:spcPts val="0"/>
              </a:spcAft>
              <a:buNone/>
            </a:pPr>
            <a:r>
              <a:rPr lang="en">
                <a:latin typeface="Source Code Pro"/>
                <a:ea typeface="Source Code Pro"/>
                <a:cs typeface="Source Code Pro"/>
                <a:sym typeface="Source Code Pro"/>
              </a:rPr>
              <a:t> </a:t>
            </a:r>
            <a:r>
              <a:rPr lang="en">
                <a:latin typeface="Source Code Pro"/>
                <a:ea typeface="Source Code Pro"/>
                <a:cs typeface="Source Code Pro"/>
                <a:sym typeface="Source Code Pro"/>
              </a:rPr>
              <a:t> </a:t>
            </a:r>
            <a:endParaRPr>
              <a:latin typeface="Source Code Pro"/>
              <a:ea typeface="Source Code Pro"/>
              <a:cs typeface="Source Code Pro"/>
              <a:sym typeface="Source Code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nvSpPr>
        <p:spPr>
          <a:xfrm>
            <a:off x="1466650" y="516200"/>
            <a:ext cx="6128700" cy="3078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Source Code Pro"/>
                <a:ea typeface="Source Code Pro"/>
                <a:cs typeface="Source Code Pro"/>
                <a:sym typeface="Source Code Pro"/>
              </a:rPr>
              <a:t>Sources:</a:t>
            </a:r>
            <a:endParaRPr b="1">
              <a:latin typeface="Source Code Pro"/>
              <a:ea typeface="Source Code Pro"/>
              <a:cs typeface="Source Code Pro"/>
              <a:sym typeface="Source Code Pro"/>
            </a:endParaRPr>
          </a:p>
          <a:p>
            <a:pPr indent="0" lvl="0" marL="0" rtl="0" algn="ctr">
              <a:spcBef>
                <a:spcPts val="0"/>
              </a:spcBef>
              <a:spcAft>
                <a:spcPts val="0"/>
              </a:spcAft>
              <a:buNone/>
            </a:pPr>
            <a:r>
              <a:t/>
            </a:r>
            <a:endParaRPr b="1">
              <a:latin typeface="Source Code Pro"/>
              <a:ea typeface="Source Code Pro"/>
              <a:cs typeface="Source Code Pro"/>
              <a:sym typeface="Source Code Pro"/>
            </a:endParaRPr>
          </a:p>
          <a:p>
            <a:pPr indent="0" lvl="0" marL="0" rtl="0" algn="ctr">
              <a:spcBef>
                <a:spcPts val="0"/>
              </a:spcBef>
              <a:spcAft>
                <a:spcPts val="0"/>
              </a:spcAft>
              <a:buNone/>
            </a:pPr>
            <a:r>
              <a:rPr b="1" lang="en">
                <a:latin typeface="Source Code Pro"/>
                <a:ea typeface="Source Code Pro"/>
                <a:cs typeface="Source Code Pro"/>
                <a:sym typeface="Source Code Pro"/>
              </a:rPr>
              <a:t>Reading for check in: </a:t>
            </a:r>
            <a:endParaRPr b="1">
              <a:latin typeface="Source Code Pro"/>
              <a:ea typeface="Source Code Pro"/>
              <a:cs typeface="Source Code Pro"/>
              <a:sym typeface="Source Code Pro"/>
            </a:endParaRPr>
          </a:p>
          <a:p>
            <a:pPr indent="0" lvl="0" marL="0" rtl="0" algn="ctr">
              <a:spcBef>
                <a:spcPts val="0"/>
              </a:spcBef>
              <a:spcAft>
                <a:spcPts val="0"/>
              </a:spcAft>
              <a:buNone/>
            </a:pPr>
            <a:r>
              <a:t/>
            </a:r>
            <a:endParaRPr b="1">
              <a:latin typeface="Source Code Pro"/>
              <a:ea typeface="Source Code Pro"/>
              <a:cs typeface="Source Code Pro"/>
              <a:sym typeface="Source Code Pro"/>
            </a:endParaRPr>
          </a:p>
          <a:p>
            <a:pPr indent="0" lvl="0" marL="0" rtl="0" algn="ctr">
              <a:spcBef>
                <a:spcPts val="0"/>
              </a:spcBef>
              <a:spcAft>
                <a:spcPts val="0"/>
              </a:spcAft>
              <a:buNone/>
            </a:pPr>
            <a:r>
              <a:rPr i="1" lang="en" sz="1200">
                <a:latin typeface="Source Code Pro"/>
                <a:ea typeface="Source Code Pro"/>
                <a:cs typeface="Source Code Pro"/>
                <a:sym typeface="Source Code Pro"/>
              </a:rPr>
              <a:t>Whitfield, Kathryn L. . A Changing Canada . Edited by Jill Colyer, Rubicon, 2021.</a:t>
            </a:r>
            <a:endParaRPr i="1" sz="1200">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b="1" lang="en">
                <a:latin typeface="Source Code Pro"/>
                <a:ea typeface="Source Code Pro"/>
                <a:cs typeface="Source Code Pro"/>
                <a:sym typeface="Source Code Pro"/>
              </a:rPr>
              <a:t>Primary Source Letter:</a:t>
            </a:r>
            <a:endParaRPr b="1">
              <a:latin typeface="Source Code Pro"/>
              <a:ea typeface="Source Code Pro"/>
              <a:cs typeface="Source Code Pro"/>
              <a:sym typeface="Source Code Pro"/>
            </a:endParaRPr>
          </a:p>
          <a:p>
            <a:pPr indent="0" lvl="0" marL="0" rtl="0" algn="ctr">
              <a:spcBef>
                <a:spcPts val="0"/>
              </a:spcBef>
              <a:spcAft>
                <a:spcPts val="0"/>
              </a:spcAft>
              <a:buNone/>
            </a:pPr>
            <a:r>
              <a:t/>
            </a:r>
            <a:endParaRPr b="1">
              <a:latin typeface="Source Code Pro"/>
              <a:ea typeface="Source Code Pro"/>
              <a:cs typeface="Source Code Pro"/>
              <a:sym typeface="Source Code Pro"/>
            </a:endParaRPr>
          </a:p>
          <a:p>
            <a:pPr indent="0" lvl="0" marL="0" rtl="0" algn="ctr">
              <a:spcBef>
                <a:spcPts val="0"/>
              </a:spcBef>
              <a:spcAft>
                <a:spcPts val="0"/>
              </a:spcAft>
              <a:buNone/>
            </a:pPr>
            <a:r>
              <a:rPr i="1" lang="en" sz="1200">
                <a:latin typeface="Source Code Pro"/>
                <a:ea typeface="Source Code Pro"/>
                <a:cs typeface="Source Code Pro"/>
                <a:sym typeface="Source Code Pro"/>
              </a:rPr>
              <a:t>Special thank your to Ms Cheryl and her family for sharing this piece of family history to make this </a:t>
            </a:r>
            <a:r>
              <a:rPr i="1" lang="en" sz="1200">
                <a:latin typeface="Source Code Pro"/>
                <a:ea typeface="Source Code Pro"/>
                <a:cs typeface="Source Code Pro"/>
                <a:sym typeface="Source Code Pro"/>
              </a:rPr>
              <a:t>assignment</a:t>
            </a:r>
            <a:r>
              <a:rPr i="1" lang="en" sz="1200">
                <a:latin typeface="Source Code Pro"/>
                <a:ea typeface="Source Code Pro"/>
                <a:cs typeface="Source Code Pro"/>
                <a:sym typeface="Source Code Pro"/>
              </a:rPr>
              <a:t> possible.</a:t>
            </a:r>
            <a:endParaRPr i="1" sz="1200">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
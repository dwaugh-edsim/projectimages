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d9bd3114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d9bd3114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9bd3114f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9bd3114f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d9bd3114f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d9bd3114f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d9bd3114f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d9bd3114f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Paragraph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3-5 sentences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 with a hook, which can be in the form of a question or or just stating an interesting fact on the subject in order to get your reader interested on the topic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brief summary of what the reader will be reading about in your essay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Thesis statement - which is what the </a:t>
            </a:r>
            <a:r>
              <a:rPr lang="en"/>
              <a:t>purpose</a:t>
            </a:r>
            <a:r>
              <a:rPr lang="en"/>
              <a:t>  of writing this essay is.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/>
              <a:t>Organizational tip</a:t>
            </a:r>
            <a:r>
              <a:rPr lang="en" sz="1600"/>
              <a:t> - pay attention to the order of your points in the introduction </a:t>
            </a:r>
            <a:r>
              <a:rPr lang="en" sz="1600"/>
              <a:t>paragraph, and keep this order true for your body paragraphs (see example)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64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575850"/>
            <a:ext cx="8520600" cy="15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Thesis statement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Battle of France was a low point for the Allies during the war and there were three key locations which greatly impacted its outcome;  The Maginot Line,  The Ardennes Forest, and Dunkirk.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311700" y="2176225"/>
            <a:ext cx="1403700" cy="2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Body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sz="1300"/>
              <a:t>Paragraph 1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Paragraph 2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Paragraph 3</a:t>
            </a:r>
            <a:endParaRPr sz="1300"/>
          </a:p>
        </p:txBody>
      </p:sp>
      <p:sp>
        <p:nvSpPr>
          <p:cNvPr id="63" name="Google Shape;63;p14"/>
          <p:cNvSpPr txBox="1"/>
          <p:nvPr/>
        </p:nvSpPr>
        <p:spPr>
          <a:xfrm>
            <a:off x="2193525" y="2176225"/>
            <a:ext cx="1859100" cy="2177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Option 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The Ardennes Forest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Dunkirk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The Maginot Line</a:t>
            </a:r>
            <a:endParaRPr sz="1300"/>
          </a:p>
        </p:txBody>
      </p:sp>
      <p:sp>
        <p:nvSpPr>
          <p:cNvPr id="64" name="Google Shape;64;p14"/>
          <p:cNvSpPr txBox="1"/>
          <p:nvPr/>
        </p:nvSpPr>
        <p:spPr>
          <a:xfrm>
            <a:off x="4530750" y="2176225"/>
            <a:ext cx="2062500" cy="21777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Option B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The Maginot Line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The Ardennes Forest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Dunkirk</a:t>
            </a:r>
            <a:endParaRPr sz="1300"/>
          </a:p>
        </p:txBody>
      </p:sp>
      <p:sp>
        <p:nvSpPr>
          <p:cNvPr id="65" name="Google Shape;65;p14"/>
          <p:cNvSpPr txBox="1"/>
          <p:nvPr/>
        </p:nvSpPr>
        <p:spPr>
          <a:xfrm>
            <a:off x="6880475" y="2176225"/>
            <a:ext cx="1859100" cy="21777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Option C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Dunkirk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The Maginot Line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The Ardennes Forest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Paragraph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67425" y="1285275"/>
            <a:ext cx="8520600" cy="36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Its like your intro paragraph, just shorter and in reverse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Remind the reader what the point of the essay was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Touch on the “meat” (or body) of the essay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Finish with a </a:t>
            </a:r>
            <a:r>
              <a:rPr lang="en"/>
              <a:t>strong</a:t>
            </a:r>
            <a:r>
              <a:rPr lang="en"/>
              <a:t> statement that </a:t>
            </a:r>
            <a:r>
              <a:rPr lang="en"/>
              <a:t>reflects your original introduction “hook”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Time to edit and fix stuff!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editing look like?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152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755" u="sng"/>
              <a:t>Punctuation </a:t>
            </a:r>
            <a:endParaRPr sz="1755" u="sng"/>
          </a:p>
          <a:p>
            <a:pPr indent="-340043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755"/>
              <a:buChar char="-"/>
            </a:pPr>
            <a:r>
              <a:rPr lang="en" sz="1755"/>
              <a:t>periods.</a:t>
            </a:r>
            <a:endParaRPr sz="1755"/>
          </a:p>
          <a:p>
            <a:pPr indent="-34004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55"/>
              <a:buChar char="-"/>
            </a:pPr>
            <a:r>
              <a:rPr lang="en" sz="1755"/>
              <a:t>comas,</a:t>
            </a:r>
            <a:endParaRPr sz="1755"/>
          </a:p>
          <a:p>
            <a:pPr indent="-34004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55"/>
              <a:buChar char="-"/>
            </a:pPr>
            <a:r>
              <a:rPr lang="en" sz="1755"/>
              <a:t>question marks?</a:t>
            </a:r>
            <a:endParaRPr sz="1755"/>
          </a:p>
          <a:p>
            <a:pPr indent="-34004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55"/>
              <a:buChar char="-"/>
            </a:pPr>
            <a:r>
              <a:rPr lang="en" sz="1755"/>
              <a:t>exclamation points! </a:t>
            </a:r>
            <a:endParaRPr sz="1755"/>
          </a:p>
          <a:p>
            <a:pPr indent="-34004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55"/>
              <a:buChar char="-"/>
            </a:pPr>
            <a:r>
              <a:rPr lang="en" sz="1755"/>
              <a:t>quotation marks””</a:t>
            </a:r>
            <a:endParaRPr sz="17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755" u="sng"/>
              <a:t>Capitalization</a:t>
            </a:r>
            <a:endParaRPr sz="1755" u="sng"/>
          </a:p>
          <a:p>
            <a:pPr indent="-340043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755"/>
              <a:buChar char="-"/>
            </a:pPr>
            <a:r>
              <a:rPr lang="en" sz="1755"/>
              <a:t>beginning of a sentence</a:t>
            </a:r>
            <a:endParaRPr sz="1755"/>
          </a:p>
          <a:p>
            <a:pPr indent="-34004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55"/>
              <a:buChar char="-"/>
            </a:pPr>
            <a:r>
              <a:rPr lang="en" sz="1755"/>
              <a:t>name (person, place, brand, title)</a:t>
            </a:r>
            <a:endParaRPr sz="1755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955"/>
          </a:p>
        </p:txBody>
      </p:sp>
      <p:sp>
        <p:nvSpPr>
          <p:cNvPr id="78" name="Google Shape;78;p16"/>
          <p:cNvSpPr txBox="1"/>
          <p:nvPr/>
        </p:nvSpPr>
        <p:spPr>
          <a:xfrm>
            <a:off x="4722100" y="1165025"/>
            <a:ext cx="4110300" cy="4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755" u="sng">
                <a:solidFill>
                  <a:schemeClr val="dk2"/>
                </a:solidFill>
              </a:rPr>
              <a:t>Run on sentence</a:t>
            </a:r>
            <a:endParaRPr sz="1755" u="sng">
              <a:solidFill>
                <a:schemeClr val="dk2"/>
              </a:solidFill>
            </a:endParaRPr>
          </a:p>
          <a:p>
            <a:pPr indent="-340043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55"/>
              <a:buChar char="-"/>
            </a:pPr>
            <a:r>
              <a:rPr lang="en" sz="1755">
                <a:solidFill>
                  <a:schemeClr val="dk2"/>
                </a:solidFill>
              </a:rPr>
              <a:t>When 2 complete sentences are </a:t>
            </a:r>
            <a:r>
              <a:rPr b="1" lang="en" sz="1755">
                <a:solidFill>
                  <a:schemeClr val="dk2"/>
                </a:solidFill>
              </a:rPr>
              <a:t>NOT</a:t>
            </a:r>
            <a:r>
              <a:rPr lang="en" sz="1755">
                <a:solidFill>
                  <a:schemeClr val="dk2"/>
                </a:solidFill>
              </a:rPr>
              <a:t> connected properly </a:t>
            </a:r>
            <a:endParaRPr sz="1755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755">
                <a:solidFill>
                  <a:schemeClr val="dk2"/>
                </a:solidFill>
              </a:rPr>
              <a:t>I love writing short stories I don’t have time to write everyday.</a:t>
            </a:r>
            <a:endParaRPr sz="1755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755" u="sng">
                <a:solidFill>
                  <a:schemeClr val="dk2"/>
                </a:solidFill>
              </a:rPr>
              <a:t>Sentence Fragments</a:t>
            </a:r>
            <a:endParaRPr sz="1755" u="sng">
              <a:solidFill>
                <a:schemeClr val="dk2"/>
              </a:solidFill>
            </a:endParaRPr>
          </a:p>
          <a:p>
            <a:pPr indent="-340043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55"/>
              <a:buChar char="-"/>
            </a:pPr>
            <a:r>
              <a:rPr lang="en" sz="1755">
                <a:solidFill>
                  <a:schemeClr val="dk2"/>
                </a:solidFill>
              </a:rPr>
              <a:t>A string of words that does </a:t>
            </a:r>
            <a:r>
              <a:rPr b="1" lang="en" sz="1755">
                <a:solidFill>
                  <a:schemeClr val="dk2"/>
                </a:solidFill>
              </a:rPr>
              <a:t>NOT</a:t>
            </a:r>
            <a:r>
              <a:rPr lang="en" sz="1755">
                <a:solidFill>
                  <a:schemeClr val="dk2"/>
                </a:solidFill>
              </a:rPr>
              <a:t> form a complete sentence</a:t>
            </a:r>
            <a:endParaRPr sz="1755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755">
                <a:solidFill>
                  <a:schemeClr val="dk2"/>
                </a:solidFill>
              </a:rPr>
              <a:t>Played basketball and then went home.</a:t>
            </a:r>
            <a:endParaRPr sz="1755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
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EB Garamond"/>
      <p:regular r:id="rId13"/>
      <p:bold r:id="rId14"/>
      <p:italic r:id="rId15"/>
      <p:boldItalic r:id="rId16"/>
    </p:embeddedFont>
    <p:embeddedFont>
      <p:font typeface="Candara"/>
      <p:regular r:id="rId17"/>
      <p:bold r:id="rId18"/>
      <p:italic r:id="rId19"/>
      <p:boldItalic r:id="rId20"/>
    </p:embeddedFont>
    <p:embeddedFont>
      <p:font typeface="Lexen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ndara-boldItalic.fntdata"/><Relationship Id="rId11" Type="http://schemas.openxmlformats.org/officeDocument/2006/relationships/slide" Target="slides/slide6.xml"/><Relationship Id="rId22" Type="http://schemas.openxmlformats.org/officeDocument/2006/relationships/font" Target="fonts/Lexend-bold.fntdata"/><Relationship Id="rId10" Type="http://schemas.openxmlformats.org/officeDocument/2006/relationships/slide" Target="slides/slide5.xml"/><Relationship Id="rId21" Type="http://schemas.openxmlformats.org/officeDocument/2006/relationships/font" Target="fonts/Lexend-regular.fntdata"/><Relationship Id="rId13" Type="http://schemas.openxmlformats.org/officeDocument/2006/relationships/font" Target="fonts/EBGaramond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BGaramond-italic.fntdata"/><Relationship Id="rId14" Type="http://schemas.openxmlformats.org/officeDocument/2006/relationships/font" Target="fonts/EBGaramond-bold.fntdata"/><Relationship Id="rId17" Type="http://schemas.openxmlformats.org/officeDocument/2006/relationships/font" Target="fonts/Candara-regular.fntdata"/><Relationship Id="rId16" Type="http://schemas.openxmlformats.org/officeDocument/2006/relationships/font" Target="fonts/EBGaramon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andara-italic.fntdata"/><Relationship Id="rId6" Type="http://schemas.openxmlformats.org/officeDocument/2006/relationships/slide" Target="slides/slide1.xml"/><Relationship Id="rId18" Type="http://schemas.openxmlformats.org/officeDocument/2006/relationships/font" Target="fonts/Candar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4bd95a0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4bd95a0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zankia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4bd95a05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4bd95a0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Kendra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4bd95a05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4bd95a05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zankia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d092f5b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d092f5b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kendra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d092f5bf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d092f5bf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zankia,kendra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d092f5bf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d092f5bf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Kendra,zankia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imf.org/en/blogs/articles/2017/10/11/inequality-fiscal-policy-can-make-the-differenc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imf.org/en/news/articles/2020/01/29/na012820six-charts-on-south-africas-persistent-and-multi-faceted-inequali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75" y="117125"/>
            <a:ext cx="7927000" cy="126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282925" y="43517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</a:rPr>
              <a:t>By: Kendra, and Zankia</a:t>
            </a:r>
            <a:endParaRPr b="1" sz="31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93363" y="117122"/>
            <a:ext cx="7927015" cy="126002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FFFF"/>
                </a:solidFill>
                <a:latin typeface="Zilla Slab Highlight"/>
              </a:rPr>
              <a:t>SOUTH AFRICA</a:t>
            </a:r>
          </a:p>
        </p:txBody>
      </p:sp>
      <p:pic>
        <p:nvPicPr>
          <p:cNvPr id="57" name="Google Shape;57;p13" title="download.jpg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25750"/>
            <a:ext cx="9144000" cy="50919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68400" y="89450"/>
            <a:ext cx="4112400" cy="57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 u="sng">
                <a:latin typeface="EB Garamond"/>
                <a:ea typeface="EB Garamond"/>
                <a:cs typeface="EB Garamond"/>
                <a:sym typeface="EB Garamond"/>
              </a:rPr>
              <a:t>Country background</a:t>
            </a:r>
            <a:r>
              <a:rPr b="1" lang="en" sz="3220" u="sng"/>
              <a:t> </a:t>
            </a:r>
            <a:endParaRPr b="1" sz="3220" u="sng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0" y="772300"/>
            <a:ext cx="2997000" cy="4165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Language 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South Africa is one of the countries known for language diversity, they have 12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official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languages. They are divided into 3 main groups Bantu language, Germanic language, and sign language.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107400" y="772300"/>
            <a:ext cx="3107400" cy="4165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Ethnicity</a:t>
            </a:r>
            <a:endParaRPr b="1"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black 75.2%, white 13.6%, Racialized person 8.6%, Indian 2.6%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Religions: Christian 68% (includes most whites and Coloreds, about 60% of blacks and about  40% of Indians), Muslim 2%, Hindu 1.5% (60% of Indians), indigenous beliefs and animist 28.5%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1"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1825" y="0"/>
            <a:ext cx="2872175" cy="159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6325200" y="1784675"/>
            <a:ext cx="2607900" cy="11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South Africa is known as one of the most beautiful countries in the world</a:t>
            </a:r>
            <a:endParaRPr sz="1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1825" y="3010650"/>
            <a:ext cx="2739600" cy="207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174900" y="68400"/>
            <a:ext cx="277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 u="sng">
                <a:latin typeface="EB Garamond"/>
                <a:ea typeface="EB Garamond"/>
                <a:cs typeface="EB Garamond"/>
                <a:sym typeface="EB Garamond"/>
              </a:rPr>
              <a:t>Global Issue</a:t>
            </a:r>
            <a:endParaRPr b="1" sz="3420" u="sng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2664925" y="68400"/>
            <a:ext cx="53244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Income Inequality &amp; Poverty</a:t>
            </a:r>
            <a:endParaRPr b="1" sz="3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0" y="762600"/>
            <a:ext cx="5142600" cy="41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rPr>
              <a:t>The top 20 percent of the population in south africa holds over 68 percent of income (compared to a median of 47 percent in other countries). The bottom 40 percent of the population holds 7 percent of income (compared to 16 percent in other countries). Similar trends can be observed across other measures, such as the income share of the top 1 percent. South Africa's unemployment rate is much larger than in other emerging markets. Youth unemployment rates going over 50 percent. This creates more low-skilled jobs to improve labor force participation. The unemployment rates exceed 30%, and systemic barriers persist. This leaves about 60% of the population living below the upper-middle-income poverty line.</a:t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75" name="Google Shape;75;p15" title="01302020-eng-jan-21-2-south-afric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6884" y="641100"/>
            <a:ext cx="3876041" cy="451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134175" y="-46950"/>
            <a:ext cx="436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 u="sng">
                <a:latin typeface="EB Garamond"/>
                <a:ea typeface="EB Garamond"/>
                <a:cs typeface="EB Garamond"/>
                <a:sym typeface="EB Garamond"/>
              </a:rPr>
              <a:t>Country’s response</a:t>
            </a:r>
            <a:r>
              <a:rPr lang="en"/>
              <a:t> 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6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C2825"/>
                </a:solidFill>
                <a:highlight>
                  <a:srgbClr val="FFFFFF"/>
                </a:highlight>
              </a:rPr>
              <a:t>The South African government has used different </a:t>
            </a:r>
            <a:r>
              <a:rPr lang="en" sz="1700">
                <a:solidFill>
                  <a:srgbClr val="2C2825"/>
                </a:solidFill>
                <a:highlight>
                  <a:srgbClr val="FFFFFF"/>
                </a:highlight>
              </a:rPr>
              <a:t>techniques</a:t>
            </a:r>
            <a:r>
              <a:rPr lang="en" sz="1700">
                <a:solidFill>
                  <a:srgbClr val="2C2825"/>
                </a:solidFill>
                <a:highlight>
                  <a:srgbClr val="FFFFFF"/>
                </a:highlight>
              </a:rPr>
              <a:t> to deal with the stubborn levels of inequality that have worried the country. Including through progressive fiscal redistribution, </a:t>
            </a:r>
            <a:endParaRPr sz="1700">
              <a:solidFill>
                <a:srgbClr val="2C282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C282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C2825"/>
                </a:solidFill>
                <a:highlight>
                  <a:srgbClr val="FFFFFF"/>
                </a:highlight>
              </a:rPr>
              <a:t> (</a:t>
            </a:r>
            <a:r>
              <a:rPr lang="en" sz="1700">
                <a:solidFill>
                  <a:schemeClr val="dk1"/>
                </a:solidFill>
              </a:rPr>
              <a:t>Progressive fiscal redistribution refers to the process of reducing economic inequality by combining a progressive tax system (where tax rates increase as income increases) with targeted social spending and transfers. Governments collect higher revenues from high-earning individuals and corporations, using these funds to provide services, subsidies, and income-support programs for marginalized communities</a:t>
            </a:r>
            <a:r>
              <a:rPr lang="en" sz="1700">
                <a:solidFill>
                  <a:srgbClr val="2C2825"/>
                </a:solidFill>
                <a:highlight>
                  <a:srgbClr val="FFFFFF"/>
                </a:highlight>
              </a:rPr>
              <a:t>)</a:t>
            </a:r>
            <a:endParaRPr sz="1700">
              <a:solidFill>
                <a:srgbClr val="2C282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https://www.imf.org/en/blogs/articles/2017/10/11/inequality-fiscal-policy-can-make-the-difference</a:t>
            </a:r>
            <a:endParaRPr sz="1700">
              <a:solidFill>
                <a:srgbClr val="2C282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2C282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0" y="0"/>
            <a:ext cx="292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11" u="sng">
                <a:latin typeface="EB Garamond"/>
                <a:ea typeface="EB Garamond"/>
                <a:cs typeface="EB Garamond"/>
                <a:sym typeface="EB Garamond"/>
              </a:rPr>
              <a:t>Consequences</a:t>
            </a:r>
            <a:r>
              <a:rPr lang="en"/>
              <a:t> 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67100" y="0"/>
            <a:ext cx="450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 u="sng">
                <a:latin typeface="EB Garamond"/>
                <a:ea typeface="EB Garamond"/>
                <a:cs typeface="EB Garamond"/>
                <a:sym typeface="EB Garamond"/>
              </a:rPr>
              <a:t>Canadian C</a:t>
            </a:r>
            <a:r>
              <a:rPr b="1" lang="en" sz="3800" u="sng">
                <a:latin typeface="EB Garamond"/>
                <a:ea typeface="EB Garamond"/>
                <a:cs typeface="EB Garamond"/>
                <a:sym typeface="EB Garamond"/>
              </a:rPr>
              <a:t>omparison</a:t>
            </a:r>
            <a:r>
              <a:rPr lang="en"/>
              <a:t> 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Sites!!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https://www.imf.org/en/news/articles/2020/01/29/na012820six-charts-on-south-africas-persistent-and-multi-faceted-inequality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
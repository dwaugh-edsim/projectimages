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erriweather Light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Open Sans SemiBold"/>
      <p:regular r:id="rId21"/>
      <p:bold r:id="rId22"/>
      <p:italic r:id="rId23"/>
      <p:boldItalic r:id="rId24"/>
    </p:embeddedFont>
    <p:embeddedFont>
      <p:font typeface="Vidaloka"/>
      <p:regular r:id="rId25"/>
    </p:embeddedFont>
    <p:embeddedFont>
      <p:font typeface="Russo One"/>
      <p:regular r:id="rId26"/>
    </p:embeddedFont>
    <p:embeddedFont>
      <p:font typeface="Mako"/>
      <p:regular r:id="rId27"/>
    </p:embeddedFont>
    <p:embeddedFont>
      <p:font typeface="Crimson Text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rimsonText-boldItalic.fntdata"/><Relationship Id="rId30" Type="http://schemas.openxmlformats.org/officeDocument/2006/relationships/font" Target="fonts/CrimsonText-italic.fntdata"/><Relationship Id="rId33" Type="http://schemas.openxmlformats.org/officeDocument/2006/relationships/font" Target="fonts/OpenSans-bold.fntdata"/><Relationship Id="rId32" Type="http://schemas.openxmlformats.org/officeDocument/2006/relationships/font" Target="fonts/OpenSans-regular.fntdata"/><Relationship Id="rId35" Type="http://schemas.openxmlformats.org/officeDocument/2006/relationships/font" Target="fonts/OpenSans-boldItalic.fntdata"/><Relationship Id="rId34" Type="http://schemas.openxmlformats.org/officeDocument/2006/relationships/font" Target="fonts/OpenSans-italic.fntdata"/><Relationship Id="rId20" Type="http://schemas.openxmlformats.org/officeDocument/2006/relationships/font" Target="fonts/Montserrat-boldItalic.fntdata"/><Relationship Id="rId22" Type="http://schemas.openxmlformats.org/officeDocument/2006/relationships/font" Target="fonts/OpenSansSemiBold-bold.fntdata"/><Relationship Id="rId21" Type="http://schemas.openxmlformats.org/officeDocument/2006/relationships/font" Target="fonts/OpenSansSemiBold-regular.fntdata"/><Relationship Id="rId24" Type="http://schemas.openxmlformats.org/officeDocument/2006/relationships/font" Target="fonts/OpenSansSemiBold-boldItalic.fntdata"/><Relationship Id="rId23" Type="http://schemas.openxmlformats.org/officeDocument/2006/relationships/font" Target="fonts/OpenSansSemiBold-italic.fntdata"/><Relationship Id="rId26" Type="http://schemas.openxmlformats.org/officeDocument/2006/relationships/font" Target="fonts/RussoOne-regular.fntdata"/><Relationship Id="rId25" Type="http://schemas.openxmlformats.org/officeDocument/2006/relationships/font" Target="fonts/Vidaloka-regular.fntdata"/><Relationship Id="rId28" Type="http://schemas.openxmlformats.org/officeDocument/2006/relationships/font" Target="fonts/CrimsonText-regular.fntdata"/><Relationship Id="rId27" Type="http://schemas.openxmlformats.org/officeDocument/2006/relationships/font" Target="fonts/Mako-regular.fntdata"/><Relationship Id="rId29" Type="http://schemas.openxmlformats.org/officeDocument/2006/relationships/font" Target="fonts/CrimsonTex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erriweatherLight-regular.fntdata"/><Relationship Id="rId12" Type="http://schemas.openxmlformats.org/officeDocument/2006/relationships/slide" Target="slides/slide8.xml"/><Relationship Id="rId15" Type="http://schemas.openxmlformats.org/officeDocument/2006/relationships/font" Target="fonts/MerriweatherLight-italic.fntdata"/><Relationship Id="rId14" Type="http://schemas.openxmlformats.org/officeDocument/2006/relationships/font" Target="fonts/MerriweatherLight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erriweatherLight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cc7554a04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cc7554a04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05aad17dc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05aad17d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cd8a80d6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cd8a80d6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05aad17dc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05aad17dc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cd8a80d6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cd8a80d6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05aad17dc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05aad17dc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cc7554a04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cc7554a04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6" name="Google Shape;76;p13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8" name="Google Shape;78;p13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0" name="Google Shape;80;p13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4"/>
          <p:cNvSpPr txBox="1"/>
          <p:nvPr>
            <p:ph hasCustomPrompt="1"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4"/>
          <p:cNvSpPr txBox="1"/>
          <p:nvPr>
            <p:ph hasCustomPrompt="1"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hasCustomPrompt="1"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hasCustomPrompt="1"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SECTION_TITLE_AND_DESCRIPTION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5" name="Google Shape;145;p20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1"/>
          <p:cNvSpPr txBox="1"/>
          <p:nvPr>
            <p:ph hasCustomPrompt="1"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/>
          <p:nvPr>
            <p:ph idx="1" type="subTitle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6" name="Google Shape;156;p21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2" name="Google Shape;162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6" name="Google Shape;176;p24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8" name="Google Shape;178;p24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0" name="Google Shape;180;p24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2" name="Google Shape;182;p24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hasCustomPrompt="1"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4" name="Google Shape;194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0" name="Google Shape;200;p27"/>
          <p:cNvSpPr txBox="1"/>
          <p:nvPr>
            <p:ph hasCustomPrompt="1" idx="2" type="title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/>
          <p:nvPr>
            <p:ph idx="1" type="subTitle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2" name="Google Shape;202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7" name="Google Shape;207;p28"/>
          <p:cNvSpPr txBox="1"/>
          <p:nvPr>
            <p:ph hasCustomPrompt="1"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0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24" name="Google Shape;224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2" name="Google Shape;232;p31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4" name="Google Shape;234;p31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8" name="Google Shape;23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6" name="Google Shape;246;p32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2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8" name="Google Shape;248;p32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9" name="Google Shape;249;p32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2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2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4" name="Google Shape;25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6" name="Google Shape;266;p33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3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3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72" name="Google Shape;27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4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4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4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4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92" name="Google Shape;29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6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6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2" name="Google Shape;302;p36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4" name="Google Shape;304;p36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6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8" name="Google Shape;308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2" name="Google Shape;312;p37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37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4" name="Google Shape;314;p37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37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6" name="Google Shape;316;p37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7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8" name="Google Shape;318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7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8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9" name="Google Shape;329;p38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0" name="Google Shape;330;p38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8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2" name="Google Shape;332;p38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8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4" name="Google Shape;334;p38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8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6" name="Google Shape;336;p38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38"/>
          <p:cNvSpPr txBox="1"/>
          <p:nvPr>
            <p:ph hasCustomPrompt="1"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/>
          <p:nvPr>
            <p:ph hasCustomPrompt="1"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/>
          <p:nvPr>
            <p:ph hasCustomPrompt="1"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/>
          <p:nvPr>
            <p:ph hasCustomPrompt="1"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4" name="Google Shape;344;p39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5" name="Google Shape;345;p39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9" name="Google Shape;349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0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0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7" name="Google Shape;357;p40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0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9" name="Google Shape;359;p40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0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61" name="Google Shape;361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1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1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1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3" name="Google Shape;373;p41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42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2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2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42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4" name="Google Shape;384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3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0" name="Google Shape;390;p43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43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2" name="Google Shape;392;p43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3" name="Google Shape;393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43"/>
          <p:cNvSpPr txBox="1"/>
          <p:nvPr>
            <p:ph hasCustomPrompt="1"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43"/>
          <p:cNvSpPr txBox="1"/>
          <p:nvPr>
            <p:ph hasCustomPrompt="1"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43"/>
          <p:cNvSpPr txBox="1"/>
          <p:nvPr>
            <p:ph hasCustomPrompt="1"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4" name="Google Shape;404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9" name="Google Shape;409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/>
          <p:nvPr>
            <p:ph idx="1" type="subTitle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3" name="Google Shape;413;p46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14" name="Google Shape;414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47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9" name="Google Shape;429;p48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8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33" name="Google Shape;433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7" name="Google Shape;437;p49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8" name="Google Shape;438;p49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0" name="Google Shape;440;p49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9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2" name="Google Shape;442;p49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3" name="Google Shape;443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9" name="Google Shape;449;p50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50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0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type="ctrTitle"/>
          </p:nvPr>
        </p:nvSpPr>
        <p:spPr>
          <a:xfrm>
            <a:off x="1172550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      The Finland Education System </a:t>
            </a:r>
            <a:endParaRPr/>
          </a:p>
        </p:txBody>
      </p:sp>
      <p:sp>
        <p:nvSpPr>
          <p:cNvPr id="479" name="Google Shape;479;p55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By Natalia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/>
          <p:nvPr>
            <p:ph type="title"/>
          </p:nvPr>
        </p:nvSpPr>
        <p:spPr>
          <a:xfrm>
            <a:off x="3306900" y="436175"/>
            <a:ext cx="253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Finland</a:t>
            </a:r>
            <a:endParaRPr/>
          </a:p>
        </p:txBody>
      </p:sp>
      <p:sp>
        <p:nvSpPr>
          <p:cNvPr id="485" name="Google Shape;485;p56"/>
          <p:cNvSpPr txBox="1"/>
          <p:nvPr>
            <p:ph idx="1" type="body"/>
          </p:nvPr>
        </p:nvSpPr>
        <p:spPr>
          <a:xfrm>
            <a:off x="589500" y="107957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4748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Geography, culture/language, brief economic context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F172A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Where is the country located? (continent, region, climate)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F172A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What is the population and main cultural traditions?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F172A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What language is spoken and what is the government type?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6" name="Google Shape;486;p56" title="Screenshot 2026-06-02 at 1.2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2001" y="2571775"/>
            <a:ext cx="2672850" cy="220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"/>
          <p:cNvSpPr txBox="1"/>
          <p:nvPr>
            <p:ph idx="21" type="title"/>
          </p:nvPr>
        </p:nvSpPr>
        <p:spPr>
          <a:xfrm>
            <a:off x="2332350" y="48037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Global</a:t>
            </a:r>
            <a:r>
              <a:rPr lang="en"/>
              <a:t> Issue </a:t>
            </a:r>
            <a:endParaRPr/>
          </a:p>
        </p:txBody>
      </p:sp>
      <p:sp>
        <p:nvSpPr>
          <p:cNvPr id="492" name="Google Shape;492;p57"/>
          <p:cNvSpPr txBox="1"/>
          <p:nvPr/>
        </p:nvSpPr>
        <p:spPr>
          <a:xfrm>
            <a:off x="397700" y="1290300"/>
            <a:ext cx="83517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Click to add text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8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498" name="Google Shape;498;p58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“This is a quote. Words full of wisdom that someone important said and can make the reader get inspired.”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9"/>
          <p:cNvSpPr txBox="1"/>
          <p:nvPr>
            <p:ph type="title"/>
          </p:nvPr>
        </p:nvSpPr>
        <p:spPr>
          <a:xfrm>
            <a:off x="2109600" y="470500"/>
            <a:ext cx="49248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Finland Responding?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0"/>
          <p:cNvSpPr txBox="1"/>
          <p:nvPr>
            <p:ph idx="1" type="subTitle"/>
          </p:nvPr>
        </p:nvSpPr>
        <p:spPr>
          <a:xfrm>
            <a:off x="1249475" y="1575950"/>
            <a:ext cx="6280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0"/>
          <p:cNvSpPr txBox="1"/>
          <p:nvPr>
            <p:ph type="title"/>
          </p:nvPr>
        </p:nvSpPr>
        <p:spPr>
          <a:xfrm>
            <a:off x="1963650" y="471550"/>
            <a:ext cx="521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</a:t>
            </a:r>
            <a:r>
              <a:rPr lang="en"/>
              <a:t> the </a:t>
            </a:r>
            <a:r>
              <a:rPr lang="en"/>
              <a:t>Consequences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1"/>
          <p:cNvSpPr txBox="1"/>
          <p:nvPr>
            <p:ph idx="1" type="subTitle"/>
          </p:nvPr>
        </p:nvSpPr>
        <p:spPr>
          <a:xfrm>
            <a:off x="1113550" y="1682000"/>
            <a:ext cx="70701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5" name="Google Shape;515;p61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Canada &amp; Finland Reflection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21" name="Google Shape;521;p62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
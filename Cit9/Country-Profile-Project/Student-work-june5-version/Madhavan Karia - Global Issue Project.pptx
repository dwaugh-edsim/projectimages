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Proxima Nova"/>
      <p:regular r:id="rId10"/>
      <p:bold r:id="rId11"/>
      <p:italic r:id="rId12"/>
      <p:boldItalic r:id="rId13"/>
    </p:embeddedFont>
    <p:embeddedFont>
      <p:font typeface="Proxima Nova Extrabold"/>
      <p:bold r:id="rId14"/>
    </p:embeddedFont>
    <p:embeddedFont>
      <p:font typeface="Aleo"/>
      <p:regular r:id="rId15"/>
      <p:bold r:id="rId16"/>
      <p:italic r:id="rId17"/>
      <p:boldItalic r:id="rId18"/>
    </p:embeddedFont>
    <p:embeddedFont>
      <p:font typeface="Passion One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assionOne-bold.fntdata"/><Relationship Id="rId11" Type="http://schemas.openxmlformats.org/officeDocument/2006/relationships/font" Target="fonts/ProximaNova-bold.fntdata"/><Relationship Id="rId10" Type="http://schemas.openxmlformats.org/officeDocument/2006/relationships/font" Target="fonts/ProximaNova-regular.fntdata"/><Relationship Id="rId13" Type="http://schemas.openxmlformats.org/officeDocument/2006/relationships/font" Target="fonts/ProximaNova-boldItalic.fntdata"/><Relationship Id="rId12" Type="http://schemas.openxmlformats.org/officeDocument/2006/relationships/font" Target="fonts/ProximaNova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Aleo-regular.fntdata"/><Relationship Id="rId14" Type="http://schemas.openxmlformats.org/officeDocument/2006/relationships/font" Target="fonts/ProximaNovaExtrabold-bold.fntdata"/><Relationship Id="rId17" Type="http://schemas.openxmlformats.org/officeDocument/2006/relationships/font" Target="fonts/Aleo-italic.fntdata"/><Relationship Id="rId16" Type="http://schemas.openxmlformats.org/officeDocument/2006/relationships/font" Target="fonts/Aleo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assionOne-regular.fntdata"/><Relationship Id="rId6" Type="http://schemas.openxmlformats.org/officeDocument/2006/relationships/slide" Target="slides/slide1.xml"/><Relationship Id="rId18" Type="http://schemas.openxmlformats.org/officeDocument/2006/relationships/font" Target="fonts/Ale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577d364fd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e577d364fd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85a139f14_2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e85a139f14_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85a139f14_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85a139f14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71398" y="-665366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leo"/>
                <a:ea typeface="Aleo"/>
                <a:cs typeface="Aleo"/>
                <a:sym typeface="Aleo"/>
              </a:rPr>
              <a:t>Indiaaaaaaaaaaaaa</a:t>
            </a:r>
            <a:endParaRPr>
              <a:latin typeface="Aleo"/>
              <a:ea typeface="Aleo"/>
              <a:cs typeface="Aleo"/>
              <a:sym typeface="Aleo"/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6540000" y="0"/>
            <a:ext cx="2604000" cy="2478300"/>
          </a:xfrm>
          <a:prstGeom prst="snip2DiagRect">
            <a:avLst>
              <a:gd fmla="val 0" name="adj1"/>
              <a:gd fmla="val 37266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24610" y="1146574"/>
            <a:ext cx="5340300" cy="18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"/>
              <a:buChar char="●"/>
            </a:pPr>
            <a:r>
              <a:rPr lang="en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Most populous country</a:t>
            </a:r>
            <a:endParaRPr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"/>
              <a:buChar char="●"/>
            </a:pPr>
            <a:r>
              <a:rPr lang="en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Most Indians are Hindu</a:t>
            </a:r>
            <a:endParaRPr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"/>
              <a:buChar char="●"/>
            </a:pPr>
            <a:r>
              <a:rPr lang="en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Most, if not all, speak Hindi and English fluently</a:t>
            </a:r>
            <a:endParaRPr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"/>
              <a:buChar char="●"/>
            </a:pPr>
            <a:r>
              <a:rPr lang="en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The geography is so big that it is considered a subcontinent</a:t>
            </a:r>
            <a:endParaRPr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"/>
              <a:buChar char="●"/>
            </a:pPr>
            <a:r>
              <a:rPr lang="en" sz="1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Every single climate is possible in its borders</a:t>
            </a:r>
            <a:endParaRPr sz="1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62" name="Google Shape;62;p13"/>
          <p:cNvCxnSpPr/>
          <p:nvPr/>
        </p:nvCxnSpPr>
        <p:spPr>
          <a:xfrm rot="10800000">
            <a:off x="-1217175" y="3002254"/>
            <a:ext cx="713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" name="Google Shape;63;p13"/>
          <p:cNvSpPr txBox="1"/>
          <p:nvPr/>
        </p:nvSpPr>
        <p:spPr>
          <a:xfrm>
            <a:off x="226575" y="3376125"/>
            <a:ext cx="8667000" cy="16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rgbClr val="63D297"/>
                </a:solidFill>
                <a:latin typeface="Passion One"/>
                <a:ea typeface="Passion One"/>
                <a:cs typeface="Passion One"/>
                <a:sym typeface="Passion One"/>
              </a:rPr>
              <a:t>By - Madhavan And Leo</a:t>
            </a:r>
            <a:endParaRPr b="1" sz="5200">
              <a:solidFill>
                <a:srgbClr val="63D297"/>
              </a:solidFill>
              <a:latin typeface="Passion One"/>
              <a:ea typeface="Passion One"/>
              <a:cs typeface="Passion One"/>
              <a:sym typeface="Passion On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/>
          <p:nvPr/>
        </p:nvSpPr>
        <p:spPr>
          <a:xfrm>
            <a:off x="-355800" y="2906200"/>
            <a:ext cx="9610200" cy="282900"/>
          </a:xfrm>
          <a:prstGeom prst="rect">
            <a:avLst/>
          </a:prstGeom>
          <a:solidFill>
            <a:srgbClr val="2027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9" name="Google Shape;69;p14"/>
          <p:cNvSpPr txBox="1"/>
          <p:nvPr>
            <p:ph type="title"/>
          </p:nvPr>
        </p:nvSpPr>
        <p:spPr>
          <a:xfrm>
            <a:off x="226575" y="424373"/>
            <a:ext cx="5797500" cy="21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The issue that is going on in India and has been going on for a long time is Air Pollution and Public Health and this matters a lot to other countries, especially to its direct neighbors because the pollution can spread and has spread.</a:t>
            </a:r>
            <a:endParaRPr sz="1800"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6540000" y="0"/>
            <a:ext cx="2604000" cy="2478300"/>
          </a:xfrm>
          <a:prstGeom prst="snip2DiagRect">
            <a:avLst>
              <a:gd fmla="val 0" name="adj1"/>
              <a:gd fmla="val 37266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226575" y="3376125"/>
            <a:ext cx="8667000" cy="16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rPr>
              <a:t>Air Pollution And Public Health</a:t>
            </a:r>
            <a:endParaRPr b="1" sz="5200">
              <a:solidFill>
                <a:schemeClr val="dk1"/>
              </a:solidFill>
              <a:latin typeface="Passion One"/>
              <a:ea typeface="Passion One"/>
              <a:cs typeface="Passion One"/>
              <a:sym typeface="Passion On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/>
          <p:nvPr/>
        </p:nvSpPr>
        <p:spPr>
          <a:xfrm>
            <a:off x="-355800" y="2906200"/>
            <a:ext cx="9610200" cy="282900"/>
          </a:xfrm>
          <a:prstGeom prst="rect">
            <a:avLst/>
          </a:prstGeom>
          <a:solidFill>
            <a:srgbClr val="2027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7" name="Google Shape;77;p15"/>
          <p:cNvSpPr txBox="1"/>
          <p:nvPr>
            <p:ph type="title"/>
          </p:nvPr>
        </p:nvSpPr>
        <p:spPr>
          <a:xfrm>
            <a:off x="226575" y="424373"/>
            <a:ext cx="5797500" cy="21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India has done things to fight air pollution by launching a nationwide </a:t>
            </a:r>
            <a:endParaRPr sz="1800"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6540000" y="0"/>
            <a:ext cx="2604000" cy="2478300"/>
          </a:xfrm>
          <a:prstGeom prst="snip2DiagRect">
            <a:avLst>
              <a:gd fmla="val 0" name="adj1"/>
              <a:gd fmla="val 37266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226575" y="3376125"/>
            <a:ext cx="8667000" cy="16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rPr>
              <a:t>The Response</a:t>
            </a:r>
            <a:endParaRPr b="1" sz="5200">
              <a:solidFill>
                <a:schemeClr val="dk1"/>
              </a:solidFill>
              <a:latin typeface="Passion One"/>
              <a:ea typeface="Passion One"/>
              <a:cs typeface="Passion One"/>
              <a:sym typeface="Passion On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-355800" y="2906200"/>
            <a:ext cx="9610200" cy="282900"/>
          </a:xfrm>
          <a:prstGeom prst="rect">
            <a:avLst/>
          </a:prstGeom>
          <a:solidFill>
            <a:srgbClr val="2027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5" name="Google Shape;85;p16"/>
          <p:cNvSpPr txBox="1"/>
          <p:nvPr>
            <p:ph type="title"/>
          </p:nvPr>
        </p:nvSpPr>
        <p:spPr>
          <a:xfrm>
            <a:off x="226575" y="424373"/>
            <a:ext cx="5797500" cy="21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6540000" y="0"/>
            <a:ext cx="2604000" cy="2478300"/>
          </a:xfrm>
          <a:prstGeom prst="snip2DiagRect">
            <a:avLst>
              <a:gd fmla="val 0" name="adj1"/>
              <a:gd fmla="val 37266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226575" y="3376125"/>
            <a:ext cx="8667000" cy="16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rPr>
              <a:t>Is This Affecting Canada?</a:t>
            </a:r>
            <a:endParaRPr b="1" sz="5200">
              <a:solidFill>
                <a:schemeClr val="dk1"/>
              </a:solidFill>
              <a:latin typeface="Passion One"/>
              <a:ea typeface="Passion One"/>
              <a:cs typeface="Passion One"/>
              <a:sym typeface="Passion On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
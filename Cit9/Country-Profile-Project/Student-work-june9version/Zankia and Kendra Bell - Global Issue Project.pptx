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SemiBold"/>
      <p:regular r:id="rId14"/>
      <p:bold r:id="rId15"/>
    </p:embeddedFont>
    <p:embeddedFont>
      <p:font typeface="EB Garamond SemiBold"/>
      <p:regular r:id="rId16"/>
      <p:bold r:id="rId17"/>
      <p:italic r:id="rId18"/>
      <p:boldItalic r:id="rId19"/>
    </p:embeddedFont>
    <p:embeddedFont>
      <p:font typeface="EB Garamond"/>
      <p:regular r:id="rId20"/>
      <p:bold r:id="rId21"/>
      <p:italic r:id="rId22"/>
      <p:boldItalic r:id="rId23"/>
    </p:embeddedFont>
    <p:embeddedFont>
      <p:font typeface="Candara"/>
      <p:regular r:id="rId24"/>
      <p:bold r:id="rId25"/>
      <p:italic r:id="rId26"/>
      <p:boldItalic r:id="rId27"/>
    </p:embeddedFon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regular.fntdata"/><Relationship Id="rId22" Type="http://schemas.openxmlformats.org/officeDocument/2006/relationships/font" Target="fonts/EBGaramond-italic.fntdata"/><Relationship Id="rId21" Type="http://schemas.openxmlformats.org/officeDocument/2006/relationships/font" Target="fonts/EBGaramond-bold.fntdata"/><Relationship Id="rId24" Type="http://schemas.openxmlformats.org/officeDocument/2006/relationships/font" Target="fonts/Candara-regular.fntdata"/><Relationship Id="rId23" Type="http://schemas.openxmlformats.org/officeDocument/2006/relationships/font" Target="fonts/EBGaramon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ndara-italic.fntdata"/><Relationship Id="rId25" Type="http://schemas.openxmlformats.org/officeDocument/2006/relationships/font" Target="fonts/Candara-bold.fntdata"/><Relationship Id="rId28" Type="http://schemas.openxmlformats.org/officeDocument/2006/relationships/font" Target="fonts/Lexend-regular.fntdata"/><Relationship Id="rId27"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SemiBold-bold.fntdata"/><Relationship Id="rId14" Type="http://schemas.openxmlformats.org/officeDocument/2006/relationships/font" Target="fonts/LexendSemiBold-regular.fntdata"/><Relationship Id="rId17" Type="http://schemas.openxmlformats.org/officeDocument/2006/relationships/font" Target="fonts/EBGaramondSemiBold-bold.fntdata"/><Relationship Id="rId16" Type="http://schemas.openxmlformats.org/officeDocument/2006/relationships/font" Target="fonts/EBGaramondSemiBold-regular.fntdata"/><Relationship Id="rId19" Type="http://schemas.openxmlformats.org/officeDocument/2006/relationships/font" Target="fonts/EBGaramondSemiBold-boldItalic.fntdata"/><Relationship Id="rId18" Type="http://schemas.openxmlformats.org/officeDocument/2006/relationships/font" Target="fonts/EBGaramond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95a0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95a0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4bd95a05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4bd95a05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95a05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95a05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d092f5b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d092f5b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092f5b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092f5b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zankia,kendra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bb5a682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8bb5a682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092f5b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092f5b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Kendra,zankia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imf.org/en/news/articles/2020/01/29/na012820six-charts-on-south-africas-persistent-and-multi-faceted-inequality" TargetMode="External"/><Relationship Id="rId4" Type="http://schemas.openxmlformats.org/officeDocument/2006/relationships/hyperlink" Target="https://www.tandfonline.com/author/Mateko%2C+Freeman+Munisi" TargetMode="External"/><Relationship Id="rId9" Type="http://schemas.openxmlformats.org/officeDocument/2006/relationships/hyperlink" Target="https://ca.finance.yahoo.com/news/statistics-canada-confirms-4-5-143000949.html" TargetMode="External"/><Relationship Id="rId5" Type="http://schemas.openxmlformats.org/officeDocument/2006/relationships/hyperlink" Target="https://www.tandfonline.com/doi/full/10.1080/13504509.2026.2635053#d1e301" TargetMode="External"/><Relationship Id="rId6" Type="http://schemas.openxmlformats.org/officeDocument/2006/relationships/hyperlink" Target="https://globaldialogue.isa-sociology.org/articles/poverty-and-inequality-south-africa-as-a-warning-to-africa" TargetMode="External"/><Relationship Id="rId7" Type="http://schemas.openxmlformats.org/officeDocument/2006/relationships/hyperlink" Target="https://worldpopulationreview.com/country-rankings/gini-coefficient-by-country" TargetMode="External"/><Relationship Id="rId8" Type="http://schemas.openxmlformats.org/officeDocument/2006/relationships/hyperlink" Target="https://www.theglobeandmail.com/world/article-world-bank-study-on-south-africa-exposes-ancs-failure-to-redu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3375" y="117125"/>
            <a:ext cx="7927000" cy="1260025"/>
          </a:xfrm>
          <a:prstGeom prst="rect">
            <a:avLst/>
          </a:prstGeom>
          <a:noFill/>
          <a:ln>
            <a:noFill/>
          </a:ln>
        </p:spPr>
      </p:pic>
      <p:sp>
        <p:nvSpPr>
          <p:cNvPr id="55" name="Google Shape;55;p13"/>
          <p:cNvSpPr txBox="1"/>
          <p:nvPr>
            <p:ph idx="1" type="subTitle"/>
          </p:nvPr>
        </p:nvSpPr>
        <p:spPr>
          <a:xfrm>
            <a:off x="1282925" y="4351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100">
                <a:solidFill>
                  <a:schemeClr val="dk1"/>
                </a:solidFill>
              </a:rPr>
              <a:t>By: Kendra, and Zankia</a:t>
            </a:r>
            <a:endParaRPr b="1" sz="3100">
              <a:solidFill>
                <a:schemeClr val="dk1"/>
              </a:solidFill>
            </a:endParaRPr>
          </a:p>
        </p:txBody>
      </p:sp>
      <p:sp>
        <p:nvSpPr>
          <p:cNvPr id="56" name="Google Shape;56;p13"/>
          <p:cNvSpPr/>
          <p:nvPr/>
        </p:nvSpPr>
        <p:spPr>
          <a:xfrm>
            <a:off x="93363" y="117122"/>
            <a:ext cx="7927015" cy="1260026"/>
          </a:xfrm>
          <a:prstGeom prst="rect">
            <a:avLst/>
          </a:prstGeom>
        </p:spPr>
        <p:txBody>
          <a:bodyPr>
            <a:prstTxWarp prst="textPlain"/>
          </a:bodyPr>
          <a:lstStyle/>
          <a:p>
            <a:pPr lvl="0" algn="ctr"/>
            <a:r>
              <a:rPr b="1" i="0">
                <a:ln cap="flat" cmpd="sng" w="9525">
                  <a:solidFill>
                    <a:schemeClr val="dk1"/>
                  </a:solidFill>
                  <a:prstDash val="solid"/>
                  <a:round/>
                  <a:headEnd len="sm" w="sm" type="none"/>
                  <a:tailEnd len="sm" w="sm" type="none"/>
                </a:ln>
                <a:solidFill>
                  <a:srgbClr val="FFFFFF"/>
                </a:solidFill>
                <a:latin typeface="Zilla Slab Highlight"/>
              </a:rPr>
              <a:t>SOUTH AFRICA</a:t>
            </a:r>
          </a:p>
        </p:txBody>
      </p:sp>
      <p:pic>
        <p:nvPicPr>
          <p:cNvPr id="57" name="Google Shape;57;p13" title="download.jpg"/>
          <p:cNvPicPr preferRelativeResize="0"/>
          <p:nvPr/>
        </p:nvPicPr>
        <p:blipFill>
          <a:blip r:embed="rId4">
            <a:alphaModFix amt="27000"/>
          </a:blip>
          <a:stretch>
            <a:fillRect/>
          </a:stretch>
        </p:blipFill>
        <p:spPr>
          <a:xfrm>
            <a:off x="0" y="25750"/>
            <a:ext cx="9144000" cy="5091975"/>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68400" y="89450"/>
            <a:ext cx="4112400" cy="572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Country background</a:t>
            </a:r>
            <a:r>
              <a:rPr b="1" lang="en" sz="3220" u="sng"/>
              <a:t> </a:t>
            </a:r>
            <a:endParaRPr b="1" sz="3220" u="sng"/>
          </a:p>
        </p:txBody>
      </p:sp>
      <p:sp>
        <p:nvSpPr>
          <p:cNvPr id="63" name="Google Shape;63;p14"/>
          <p:cNvSpPr txBox="1"/>
          <p:nvPr>
            <p:ph idx="1" type="body"/>
          </p:nvPr>
        </p:nvSpPr>
        <p:spPr>
          <a:xfrm>
            <a:off x="0" y="772300"/>
            <a:ext cx="2997000" cy="4165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1"/>
                </a:solidFill>
                <a:latin typeface="Lexend"/>
                <a:ea typeface="Lexend"/>
                <a:cs typeface="Lexend"/>
                <a:sym typeface="Lexend"/>
              </a:rPr>
              <a:t>Language </a:t>
            </a:r>
            <a:endParaRPr b="1" sz="2400">
              <a:solidFill>
                <a:schemeClr val="dk1"/>
              </a:solidFill>
              <a:latin typeface="Lexend"/>
              <a:ea typeface="Lexend"/>
              <a:cs typeface="Lexend"/>
              <a:sym typeface="Lexend"/>
            </a:endParaRPr>
          </a:p>
          <a:p>
            <a:pPr indent="0" lvl="0" marL="0" rtl="0" algn="l">
              <a:spcBef>
                <a:spcPts val="1200"/>
              </a:spcBef>
              <a:spcAft>
                <a:spcPts val="1200"/>
              </a:spcAft>
              <a:buNone/>
            </a:pPr>
            <a:r>
              <a:rPr lang="en">
                <a:solidFill>
                  <a:schemeClr val="dk1"/>
                </a:solidFill>
                <a:latin typeface="Lexend"/>
                <a:ea typeface="Lexend"/>
                <a:cs typeface="Lexend"/>
                <a:sym typeface="Lexend"/>
              </a:rPr>
              <a:t>South Africa is one of the countries known for language diversity, they have 12 </a:t>
            </a:r>
            <a:r>
              <a:rPr lang="en">
                <a:solidFill>
                  <a:schemeClr val="dk1"/>
                </a:solidFill>
                <a:latin typeface="Lexend"/>
                <a:ea typeface="Lexend"/>
                <a:cs typeface="Lexend"/>
                <a:sym typeface="Lexend"/>
              </a:rPr>
              <a:t>official</a:t>
            </a:r>
            <a:r>
              <a:rPr lang="en">
                <a:solidFill>
                  <a:schemeClr val="dk1"/>
                </a:solidFill>
                <a:latin typeface="Lexend"/>
                <a:ea typeface="Lexend"/>
                <a:cs typeface="Lexend"/>
                <a:sym typeface="Lexend"/>
              </a:rPr>
              <a:t> languages. They are divided into 3 main groups Bantu language, Germanic language, and sign language. </a:t>
            </a:r>
            <a:endParaRPr>
              <a:solidFill>
                <a:schemeClr val="dk1"/>
              </a:solidFill>
              <a:latin typeface="Lexend"/>
              <a:ea typeface="Lexend"/>
              <a:cs typeface="Lexend"/>
              <a:sym typeface="Lexend"/>
            </a:endParaRPr>
          </a:p>
        </p:txBody>
      </p:sp>
      <p:sp>
        <p:nvSpPr>
          <p:cNvPr id="64" name="Google Shape;64;p14"/>
          <p:cNvSpPr txBox="1"/>
          <p:nvPr/>
        </p:nvSpPr>
        <p:spPr>
          <a:xfrm>
            <a:off x="3107400" y="772300"/>
            <a:ext cx="3107400" cy="416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Lexend"/>
                <a:ea typeface="Lexend"/>
                <a:cs typeface="Lexend"/>
                <a:sym typeface="Lexend"/>
              </a:rPr>
              <a:t>Ethnicity</a:t>
            </a:r>
            <a:endParaRPr b="1" sz="2100">
              <a:solidFill>
                <a:schemeClr val="dk1"/>
              </a:solidFill>
              <a:latin typeface="Lexend"/>
              <a:ea typeface="Lexend"/>
              <a:cs typeface="Lexend"/>
              <a:sym typeface="Lexend"/>
            </a:endParaRPr>
          </a:p>
          <a:p>
            <a:pPr indent="0" lvl="0" marL="0" rtl="0" algn="l">
              <a:spcBef>
                <a:spcPts val="0"/>
              </a:spcBef>
              <a:spcAft>
                <a:spcPts val="0"/>
              </a:spcAft>
              <a:buNone/>
            </a:pPr>
            <a:r>
              <a:t/>
            </a:r>
            <a:endParaRPr b="1" sz="21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black 75.2%, white 13.6%, Racialized person 8.6%, Indian 2.6%</a:t>
            </a:r>
            <a:endParaRPr sz="1800">
              <a:solidFill>
                <a:schemeClr val="dk1"/>
              </a:solidFill>
              <a:latin typeface="Lexend"/>
              <a:ea typeface="Lexend"/>
              <a:cs typeface="Lexend"/>
              <a:sym typeface="Lexend"/>
            </a:endParaRPr>
          </a:p>
          <a:p>
            <a:pPr indent="0" lvl="0" marL="0" rtl="0" algn="l">
              <a:lnSpc>
                <a:spcPct val="115000"/>
              </a:lnSpc>
              <a:spcBef>
                <a:spcPts val="1100"/>
              </a:spcBef>
              <a:spcAft>
                <a:spcPts val="0"/>
              </a:spcAft>
              <a:buClr>
                <a:schemeClr val="dk1"/>
              </a:buClr>
              <a:buSzPts val="1100"/>
              <a:buFont typeface="Arial"/>
              <a:buNone/>
            </a:pPr>
            <a:r>
              <a:rPr lang="en" sz="1800">
                <a:solidFill>
                  <a:schemeClr val="dk1"/>
                </a:solidFill>
                <a:latin typeface="Lexend"/>
                <a:ea typeface="Lexend"/>
                <a:cs typeface="Lexend"/>
                <a:sym typeface="Lexend"/>
              </a:rPr>
              <a:t>Religions: Christian 68% (includes most whites and Coloreds, about 60% of blacks and about  40% of Indians), Muslim 2%, Hindu 1.5% (60% of Indians), indigenous beliefs and animist 28.5%</a:t>
            </a:r>
            <a:endParaRPr sz="1800">
              <a:solidFill>
                <a:schemeClr val="dk1"/>
              </a:solidFill>
              <a:latin typeface="Lexend"/>
              <a:ea typeface="Lexend"/>
              <a:cs typeface="Lexend"/>
              <a:sym typeface="Lexend"/>
            </a:endParaRPr>
          </a:p>
          <a:p>
            <a:pPr indent="0" lvl="0" marL="0" rtl="0" algn="l">
              <a:spcBef>
                <a:spcPts val="1100"/>
              </a:spcBef>
              <a:spcAft>
                <a:spcPts val="0"/>
              </a:spcAft>
              <a:buNone/>
            </a:pPr>
            <a:r>
              <a:rPr b="1" lang="en" sz="2100">
                <a:solidFill>
                  <a:schemeClr val="dk1"/>
                </a:solidFill>
                <a:latin typeface="Lexend"/>
                <a:ea typeface="Lexend"/>
                <a:cs typeface="Lexend"/>
                <a:sym typeface="Lexend"/>
              </a:rPr>
              <a:t> </a:t>
            </a:r>
            <a:endParaRPr b="1" sz="2100">
              <a:solidFill>
                <a:schemeClr val="dk1"/>
              </a:solidFill>
              <a:latin typeface="Lexend"/>
              <a:ea typeface="Lexend"/>
              <a:cs typeface="Lexend"/>
              <a:sym typeface="Lexend"/>
            </a:endParaRPr>
          </a:p>
        </p:txBody>
      </p:sp>
      <p:pic>
        <p:nvPicPr>
          <p:cNvPr id="65" name="Google Shape;65;p14"/>
          <p:cNvPicPr preferRelativeResize="0"/>
          <p:nvPr/>
        </p:nvPicPr>
        <p:blipFill>
          <a:blip r:embed="rId3">
            <a:alphaModFix/>
          </a:blip>
          <a:stretch>
            <a:fillRect/>
          </a:stretch>
        </p:blipFill>
        <p:spPr>
          <a:xfrm>
            <a:off x="6271825" y="0"/>
            <a:ext cx="2872175" cy="1598400"/>
          </a:xfrm>
          <a:prstGeom prst="rect">
            <a:avLst/>
          </a:prstGeom>
          <a:noFill/>
          <a:ln>
            <a:noFill/>
          </a:ln>
        </p:spPr>
      </p:pic>
      <p:sp>
        <p:nvSpPr>
          <p:cNvPr id="66" name="Google Shape;66;p14"/>
          <p:cNvSpPr txBox="1"/>
          <p:nvPr/>
        </p:nvSpPr>
        <p:spPr>
          <a:xfrm>
            <a:off x="6325200" y="1784675"/>
            <a:ext cx="2607900" cy="11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mic Sans MS"/>
                <a:ea typeface="Comic Sans MS"/>
                <a:cs typeface="Comic Sans MS"/>
                <a:sym typeface="Comic Sans MS"/>
              </a:rPr>
              <a:t>South Africa is known as one of the most beautiful countries in the world</a:t>
            </a:r>
            <a:endParaRPr sz="1800">
              <a:solidFill>
                <a:schemeClr val="dk1"/>
              </a:solidFill>
              <a:latin typeface="Comic Sans MS"/>
              <a:ea typeface="Comic Sans MS"/>
              <a:cs typeface="Comic Sans MS"/>
              <a:sym typeface="Comic Sans MS"/>
            </a:endParaRPr>
          </a:p>
        </p:txBody>
      </p:sp>
      <p:pic>
        <p:nvPicPr>
          <p:cNvPr id="67" name="Google Shape;67;p14"/>
          <p:cNvPicPr preferRelativeResize="0"/>
          <p:nvPr/>
        </p:nvPicPr>
        <p:blipFill>
          <a:blip r:embed="rId4">
            <a:alphaModFix/>
          </a:blip>
          <a:stretch>
            <a:fillRect/>
          </a:stretch>
        </p:blipFill>
        <p:spPr>
          <a:xfrm>
            <a:off x="6271825" y="3010650"/>
            <a:ext cx="2739600" cy="20718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174900" y="68400"/>
            <a:ext cx="27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Global Issue</a:t>
            </a:r>
            <a:endParaRPr b="1" sz="3420" u="sng">
              <a:latin typeface="EB Garamond"/>
              <a:ea typeface="EB Garamond"/>
              <a:cs typeface="EB Garamond"/>
              <a:sym typeface="EB Garamond"/>
            </a:endParaRPr>
          </a:p>
        </p:txBody>
      </p:sp>
      <p:sp>
        <p:nvSpPr>
          <p:cNvPr id="73" name="Google Shape;73;p15"/>
          <p:cNvSpPr txBox="1"/>
          <p:nvPr>
            <p:ph idx="1" type="body"/>
          </p:nvPr>
        </p:nvSpPr>
        <p:spPr>
          <a:xfrm>
            <a:off x="3282550" y="68400"/>
            <a:ext cx="5324400" cy="694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3300" u="sng">
                <a:solidFill>
                  <a:schemeClr val="dk1"/>
                </a:solidFill>
                <a:latin typeface="EB Garamond"/>
                <a:ea typeface="EB Garamond"/>
                <a:cs typeface="EB Garamond"/>
                <a:sym typeface="EB Garamond"/>
              </a:rPr>
              <a:t>Income Inequality &amp; Poverty</a:t>
            </a:r>
            <a:endParaRPr b="1" sz="3300" u="sng">
              <a:solidFill>
                <a:schemeClr val="dk1"/>
              </a:solidFill>
              <a:latin typeface="EB Garamond"/>
              <a:ea typeface="EB Garamond"/>
              <a:cs typeface="EB Garamond"/>
              <a:sym typeface="EB Garamond"/>
            </a:endParaRPr>
          </a:p>
        </p:txBody>
      </p:sp>
      <p:sp>
        <p:nvSpPr>
          <p:cNvPr id="74" name="Google Shape;74;p15"/>
          <p:cNvSpPr txBox="1"/>
          <p:nvPr/>
        </p:nvSpPr>
        <p:spPr>
          <a:xfrm>
            <a:off x="74275" y="762600"/>
            <a:ext cx="5142600" cy="422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ndara"/>
                <a:ea typeface="Candara"/>
                <a:cs typeface="Candara"/>
                <a:sym typeface="Candara"/>
              </a:rPr>
              <a:t>The top 20 percent of the population in south africa holds over 68 percent of income (compared to a median of 47 percent in other countries). The bottom 40 percent of the population holds 7 percent of income (compared to 16 percent in other countries). Similar trends can be observed across other measures, such as the income share of the top 1 percent. South Africa's unemployment rate is much larger than in other emerging markets. Youth unemployment rates going over 50 percent. This creates more low-skilled jobs to improve labor force participation. The unemployment rates exceed 30%, and systemic barriers persist. This leaves about 60% of the population living below the upper-middle-income poverty line.</a:t>
            </a:r>
            <a:endParaRPr sz="1800">
              <a:solidFill>
                <a:schemeClr val="dk1"/>
              </a:solidFill>
              <a:latin typeface="Candara"/>
              <a:ea typeface="Candara"/>
              <a:cs typeface="Candara"/>
              <a:sym typeface="Candara"/>
            </a:endParaRPr>
          </a:p>
        </p:txBody>
      </p:sp>
      <p:pic>
        <p:nvPicPr>
          <p:cNvPr id="75" name="Google Shape;75;p15" title="01302020-eng-jan-21-2-south-africa.png"/>
          <p:cNvPicPr preferRelativeResize="0"/>
          <p:nvPr/>
        </p:nvPicPr>
        <p:blipFill>
          <a:blip r:embed="rId3">
            <a:alphaModFix/>
          </a:blip>
          <a:stretch>
            <a:fillRect/>
          </a:stretch>
        </p:blipFill>
        <p:spPr>
          <a:xfrm>
            <a:off x="5216884" y="641100"/>
            <a:ext cx="3876041" cy="451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34175" y="-46950"/>
            <a:ext cx="4361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Country’s response</a:t>
            </a:r>
            <a:r>
              <a:rPr lang="en"/>
              <a:t> </a:t>
            </a:r>
            <a:endParaRPr/>
          </a:p>
        </p:txBody>
      </p:sp>
      <p:sp>
        <p:nvSpPr>
          <p:cNvPr id="81" name="Google Shape;81;p16"/>
          <p:cNvSpPr txBox="1"/>
          <p:nvPr>
            <p:ph idx="1" type="body"/>
          </p:nvPr>
        </p:nvSpPr>
        <p:spPr>
          <a:xfrm>
            <a:off x="244625" y="861775"/>
            <a:ext cx="5859600" cy="3595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319">
                <a:solidFill>
                  <a:schemeClr val="dk1"/>
                </a:solidFill>
                <a:latin typeface="Lexend SemiBold"/>
                <a:ea typeface="Lexend SemiBold"/>
                <a:cs typeface="Lexend SemiBold"/>
                <a:sym typeface="Lexend SemiBold"/>
              </a:rPr>
              <a:t>The South African government has used different </a:t>
            </a:r>
            <a:r>
              <a:rPr lang="en" sz="6319">
                <a:solidFill>
                  <a:schemeClr val="dk1"/>
                </a:solidFill>
                <a:latin typeface="Lexend SemiBold"/>
                <a:ea typeface="Lexend SemiBold"/>
                <a:cs typeface="Lexend SemiBold"/>
                <a:sym typeface="Lexend SemiBold"/>
              </a:rPr>
              <a:t>techniques</a:t>
            </a:r>
            <a:r>
              <a:rPr lang="en" sz="6319">
                <a:solidFill>
                  <a:schemeClr val="dk1"/>
                </a:solidFill>
                <a:latin typeface="Lexend SemiBold"/>
                <a:ea typeface="Lexend SemiBold"/>
                <a:cs typeface="Lexend SemiBold"/>
                <a:sym typeface="Lexend SemiBold"/>
              </a:rPr>
              <a:t> to deal with the stubborn levels of inequality that have worried the country. Including through progressive fiscal redistribution.In advanced economies, fiscal policy offsets about a third of income inequality before taxes and transfers, </a:t>
            </a:r>
            <a:r>
              <a:rPr lang="en" sz="6319">
                <a:solidFill>
                  <a:schemeClr val="dk1"/>
                </a:solidFill>
                <a:latin typeface="Lexend SemiBold"/>
                <a:ea typeface="Lexend SemiBold"/>
                <a:cs typeface="Lexend SemiBold"/>
                <a:sym typeface="Lexend SemiBold"/>
              </a:rPr>
              <a:t>commonly</a:t>
            </a:r>
            <a:r>
              <a:rPr lang="en" sz="6319">
                <a:solidFill>
                  <a:schemeClr val="dk1"/>
                </a:solidFill>
                <a:latin typeface="Lexend SemiBold"/>
                <a:ea typeface="Lexend SemiBold"/>
                <a:cs typeface="Lexend SemiBold"/>
                <a:sym typeface="Lexend SemiBold"/>
              </a:rPr>
              <a:t> known as market income inequality,with 75% coming from transfers. Spending on education and health also affects market income inequality over time by promoting social mobility, including across generations. In developing economies, fiscal redistribution is much weaker, given lower and less progressive taxes and spending.South Africa is focusing on more job </a:t>
            </a:r>
            <a:r>
              <a:rPr lang="en" sz="6319">
                <a:solidFill>
                  <a:schemeClr val="dk1"/>
                </a:solidFill>
                <a:latin typeface="Lexend SemiBold"/>
                <a:ea typeface="Lexend SemiBold"/>
                <a:cs typeface="Lexend SemiBold"/>
                <a:sym typeface="Lexend SemiBold"/>
              </a:rPr>
              <a:t>opportunities</a:t>
            </a:r>
            <a:r>
              <a:rPr lang="en" sz="6319">
                <a:solidFill>
                  <a:schemeClr val="dk1"/>
                </a:solidFill>
                <a:latin typeface="Lexend SemiBold"/>
                <a:ea typeface="Lexend SemiBold"/>
                <a:cs typeface="Lexend SemiBold"/>
                <a:sym typeface="Lexend SemiBold"/>
              </a:rPr>
              <a:t> and working on making jobs more available for all people.</a:t>
            </a:r>
            <a:endParaRPr sz="6319">
              <a:solidFill>
                <a:schemeClr val="dk1"/>
              </a:solidFill>
              <a:latin typeface="Lexend SemiBold"/>
              <a:ea typeface="Lexend SemiBold"/>
              <a:cs typeface="Lexend SemiBold"/>
              <a:sym typeface="Lexend SemiBold"/>
            </a:endParaRPr>
          </a:p>
          <a:p>
            <a:pPr indent="0" lvl="0" marL="0" rtl="0" algn="l">
              <a:spcBef>
                <a:spcPts val="1200"/>
              </a:spcBef>
              <a:spcAft>
                <a:spcPts val="0"/>
              </a:spcAft>
              <a:buNone/>
            </a:pPr>
            <a:r>
              <a:t/>
            </a:r>
            <a:endParaRPr sz="1500">
              <a:solidFill>
                <a:schemeClr val="dk1"/>
              </a:solidFill>
              <a:highlight>
                <a:srgbClr val="FFFFFF"/>
              </a:highlight>
              <a:latin typeface="EB Garamond SemiBold"/>
              <a:ea typeface="EB Garamond SemiBold"/>
              <a:cs typeface="EB Garamond SemiBold"/>
              <a:sym typeface="EB Garamond SemiBold"/>
            </a:endParaRPr>
          </a:p>
          <a:p>
            <a:pPr indent="0" lvl="0" marL="0" rtl="0" algn="l">
              <a:spcBef>
                <a:spcPts val="1200"/>
              </a:spcBef>
              <a:spcAft>
                <a:spcPts val="1200"/>
              </a:spcAft>
              <a:buNone/>
            </a:pPr>
            <a:r>
              <a:rPr lang="en" sz="1700">
                <a:solidFill>
                  <a:srgbClr val="2C2825"/>
                </a:solidFill>
                <a:highlight>
                  <a:srgbClr val="FFFFFF"/>
                </a:highlight>
              </a:rPr>
              <a:t> </a:t>
            </a:r>
            <a:endParaRPr sz="1700">
              <a:solidFill>
                <a:srgbClr val="2C2825"/>
              </a:solidFill>
              <a:highlight>
                <a:srgbClr val="FFFFFF"/>
              </a:highlight>
            </a:endParaRPr>
          </a:p>
        </p:txBody>
      </p:sp>
      <p:pic>
        <p:nvPicPr>
          <p:cNvPr id="82" name="Google Shape;82;p16"/>
          <p:cNvPicPr preferRelativeResize="0"/>
          <p:nvPr/>
        </p:nvPicPr>
        <p:blipFill>
          <a:blip r:embed="rId3">
            <a:alphaModFix/>
          </a:blip>
          <a:stretch>
            <a:fillRect/>
          </a:stretch>
        </p:blipFill>
        <p:spPr>
          <a:xfrm>
            <a:off x="6248750" y="2571750"/>
            <a:ext cx="2814000" cy="1848000"/>
          </a:xfrm>
          <a:prstGeom prst="roundRect">
            <a:avLst>
              <a:gd fmla="val 16667" name="adj"/>
            </a:avLst>
          </a:prstGeom>
          <a:noFill/>
          <a:ln>
            <a:noFill/>
          </a:ln>
        </p:spPr>
      </p:pic>
      <p:pic>
        <p:nvPicPr>
          <p:cNvPr id="83" name="Google Shape;83;p16" title="download.jpg"/>
          <p:cNvPicPr preferRelativeResize="0"/>
          <p:nvPr/>
        </p:nvPicPr>
        <p:blipFill>
          <a:blip r:embed="rId4">
            <a:alphaModFix/>
          </a:blip>
          <a:stretch>
            <a:fillRect/>
          </a:stretch>
        </p:blipFill>
        <p:spPr>
          <a:xfrm>
            <a:off x="6177875" y="260055"/>
            <a:ext cx="2814000" cy="21078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931500" y="0"/>
            <a:ext cx="29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911" u="sng">
                <a:latin typeface="EB Garamond"/>
                <a:ea typeface="EB Garamond"/>
                <a:cs typeface="EB Garamond"/>
                <a:sym typeface="EB Garamond"/>
              </a:rPr>
              <a:t>Consequences</a:t>
            </a:r>
            <a:r>
              <a:rPr lang="en"/>
              <a:t> </a:t>
            </a:r>
            <a:endParaRPr/>
          </a:p>
        </p:txBody>
      </p:sp>
      <p:sp>
        <p:nvSpPr>
          <p:cNvPr id="89" name="Google Shape;89;p17"/>
          <p:cNvSpPr txBox="1"/>
          <p:nvPr>
            <p:ph idx="1" type="body"/>
          </p:nvPr>
        </p:nvSpPr>
        <p:spPr>
          <a:xfrm>
            <a:off x="87450" y="654950"/>
            <a:ext cx="4686000" cy="4355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sz="1600">
                <a:solidFill>
                  <a:schemeClr val="dk1"/>
                </a:solidFill>
              </a:rPr>
              <a:t>In south Africa poverty surged from 55.5% to 62.7% (2020–2023). This is </a:t>
            </a:r>
            <a:r>
              <a:rPr lang="en" sz="1600">
                <a:solidFill>
                  <a:schemeClr val="dk1"/>
                </a:solidFill>
              </a:rPr>
              <a:t>stopping</a:t>
            </a:r>
            <a:r>
              <a:rPr lang="en" sz="1600">
                <a:solidFill>
                  <a:schemeClr val="dk1"/>
                </a:solidFill>
              </a:rPr>
              <a:t> millions access to jobs, water, healthcare, education, and food. This keeps them in a cycle of reliance on cheap, polluting energy. Many low-income workers endure long, expensive commutes from remote townships to city centers. </a:t>
            </a:r>
            <a:r>
              <a:rPr lang="en" sz="1600">
                <a:solidFill>
                  <a:schemeClr val="dk1"/>
                </a:solidFill>
              </a:rPr>
              <a:t>This</a:t>
            </a:r>
            <a:r>
              <a:rPr lang="en" sz="1600">
                <a:solidFill>
                  <a:schemeClr val="dk1"/>
                </a:solidFill>
              </a:rPr>
              <a:t> is only further draining their limited household budgets. Chronic unemployment, deep set racial divisions, severe strain social flow, and unequal access to opportunities. This economic divide keeps millions trapped in underfunded, impoverished(poor) townships, limited access to quality healthcare and education, and triggers widespread political instability. </a:t>
            </a:r>
            <a:endParaRPr sz="1600">
              <a:solidFill>
                <a:schemeClr val="dk1"/>
              </a:solidFill>
            </a:endParaRPr>
          </a:p>
        </p:txBody>
      </p:sp>
      <p:pic>
        <p:nvPicPr>
          <p:cNvPr id="90" name="Google Shape;90;p17" title="2447-20-seekings-web.jpg"/>
          <p:cNvPicPr preferRelativeResize="0"/>
          <p:nvPr/>
        </p:nvPicPr>
        <p:blipFill>
          <a:blip r:embed="rId3">
            <a:alphaModFix/>
          </a:blip>
          <a:stretch>
            <a:fillRect/>
          </a:stretch>
        </p:blipFill>
        <p:spPr>
          <a:xfrm>
            <a:off x="4830750" y="0"/>
            <a:ext cx="4313100" cy="2730000"/>
          </a:xfrm>
          <a:prstGeom prst="roundRect">
            <a:avLst>
              <a:gd fmla="val 16667" name="adj"/>
            </a:avLst>
          </a:prstGeom>
          <a:noFill/>
          <a:ln>
            <a:noFill/>
          </a:ln>
        </p:spPr>
      </p:pic>
      <p:pic>
        <p:nvPicPr>
          <p:cNvPr id="91" name="Google Shape;91;p17" title="download.jpg"/>
          <p:cNvPicPr preferRelativeResize="0"/>
          <p:nvPr/>
        </p:nvPicPr>
        <p:blipFill>
          <a:blip r:embed="rId4">
            <a:alphaModFix/>
          </a:blip>
          <a:stretch>
            <a:fillRect/>
          </a:stretch>
        </p:blipFill>
        <p:spPr>
          <a:xfrm>
            <a:off x="4830750" y="2571750"/>
            <a:ext cx="4313400" cy="25554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67100" y="0"/>
            <a:ext cx="450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Canadian C</a:t>
            </a:r>
            <a:r>
              <a:rPr b="1" lang="en" sz="3800" u="sng">
                <a:latin typeface="EB Garamond"/>
                <a:ea typeface="EB Garamond"/>
                <a:cs typeface="EB Garamond"/>
                <a:sym typeface="EB Garamond"/>
              </a:rPr>
              <a:t>omparison</a:t>
            </a:r>
            <a:r>
              <a:rPr lang="en"/>
              <a:t> </a:t>
            </a:r>
            <a:endParaRPr/>
          </a:p>
        </p:txBody>
      </p:sp>
      <p:sp>
        <p:nvSpPr>
          <p:cNvPr id="97" name="Google Shape;97;p18"/>
          <p:cNvSpPr txBox="1"/>
          <p:nvPr>
            <p:ph idx="1" type="body"/>
          </p:nvPr>
        </p:nvSpPr>
        <p:spPr>
          <a:xfrm>
            <a:off x="222000" y="861775"/>
            <a:ext cx="4350000" cy="366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Characterized by a severe structural divide, South Africa holds the highest gini </a:t>
            </a:r>
            <a:r>
              <a:rPr lang="en" sz="1300">
                <a:solidFill>
                  <a:schemeClr val="dk1"/>
                </a:solidFill>
                <a:latin typeface="Lexend SemiBold"/>
                <a:ea typeface="Lexend SemiBold"/>
                <a:cs typeface="Lexend SemiBold"/>
                <a:sym typeface="Lexend SemiBold"/>
              </a:rPr>
              <a:t>coefficient</a:t>
            </a:r>
            <a:r>
              <a:rPr lang="en" sz="1300">
                <a:solidFill>
                  <a:schemeClr val="dk1"/>
                </a:solidFill>
                <a:latin typeface="Lexend SemiBold"/>
                <a:ea typeface="Lexend SemiBold"/>
                <a:cs typeface="Lexend SemiBold"/>
                <a:sym typeface="Lexend SemiBold"/>
              </a:rPr>
              <a:t> globally (often exceeding 0.63). Wealth and income remain intensely polarized along racial lines, with a small, wealthy elite contrasting sharply with mass unemployment.</a:t>
            </a:r>
            <a:endParaRPr sz="1300">
              <a:solidFill>
                <a:schemeClr val="dk1"/>
              </a:solidFill>
              <a:latin typeface="Lexend SemiBold"/>
              <a:ea typeface="Lexend SemiBold"/>
              <a:cs typeface="Lexend SemiBold"/>
              <a:sym typeface="Lexend SemiBold"/>
            </a:endParaRPr>
          </a:p>
          <a:p>
            <a:pPr indent="0" lvl="0" marL="0" rtl="0" algn="l">
              <a:spcBef>
                <a:spcPts val="1200"/>
              </a:spcBef>
              <a:spcAft>
                <a:spcPts val="1200"/>
              </a:spcAft>
              <a:buNone/>
            </a:pPr>
            <a:r>
              <a:rPr lang="en" sz="1400">
                <a:solidFill>
                  <a:schemeClr val="dk1"/>
                </a:solidFill>
                <a:latin typeface="Lexend SemiBold"/>
                <a:ea typeface="Lexend SemiBold"/>
                <a:cs typeface="Lexend SemiBold"/>
                <a:sym typeface="Lexend SemiBold"/>
              </a:rPr>
              <a:t>Canada:</a:t>
            </a:r>
            <a:r>
              <a:rPr lang="en" sz="1300">
                <a:solidFill>
                  <a:schemeClr val="dk1"/>
                </a:solidFill>
                <a:latin typeface="Lexend SemiBold"/>
                <a:ea typeface="Lexend SemiBold"/>
                <a:cs typeface="Lexend SemiBold"/>
                <a:sym typeface="Lexend SemiBold"/>
              </a:rPr>
              <a:t> Canada enjoys a significantly lower Gini coefficient (around 0.31 for disposable income), backed by a robust middle class and comprehensive progressive tax brackets that actively redistribute wealth. However, Canada faces growing wealth gaps at the very top, with significant billionaire accumulation alongside working-class struggles</a:t>
            </a:r>
            <a:endParaRPr sz="1300">
              <a:solidFill>
                <a:schemeClr val="dk1"/>
              </a:solidFill>
              <a:latin typeface="Lexend SemiBold"/>
              <a:ea typeface="Lexend SemiBold"/>
              <a:cs typeface="Lexend SemiBold"/>
              <a:sym typeface="Lexend SemiBold"/>
            </a:endParaRPr>
          </a:p>
        </p:txBody>
      </p:sp>
      <p:sp>
        <p:nvSpPr>
          <p:cNvPr id="98" name="Google Shape;98;p18"/>
          <p:cNvSpPr txBox="1"/>
          <p:nvPr/>
        </p:nvSpPr>
        <p:spPr>
          <a:xfrm>
            <a:off x="4829400" y="861775"/>
            <a:ext cx="4148400" cy="366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Poverty is highly absolute, multidimensional, and widespread. It impacts a massive portion of the population with immense deficits in basic infrastructure like sanitation and electricity. Mass unemployment (regularly hovering near 30%) leaves millions without any income, severely limiting upward mobility for the Black majority.</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Canada: Poverty in Canada is usually relative, measured by the Market Basket Measure. Around 11% of Canadians live below the poverty line, but their hardships generally revolve around the skyrocketing cost of living (particularly housing) and challenges accessing adequate social and disability benefits.</a:t>
            </a:r>
            <a:endParaRPr sz="1300">
              <a:solidFill>
                <a:schemeClr val="dk1"/>
              </a:solidFill>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222250" y="176675"/>
            <a:ext cx="8520600" cy="7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220">
                <a:latin typeface="Comic Sans MS"/>
                <a:ea typeface="Comic Sans MS"/>
                <a:cs typeface="Comic Sans MS"/>
                <a:sym typeface="Comic Sans MS"/>
              </a:rPr>
              <a:t>Thank you!!!!</a:t>
            </a:r>
            <a:endParaRPr b="1" sz="4220">
              <a:latin typeface="Comic Sans MS"/>
              <a:ea typeface="Comic Sans MS"/>
              <a:cs typeface="Comic Sans MS"/>
              <a:sym typeface="Comic Sans MS"/>
            </a:endParaRPr>
          </a:p>
        </p:txBody>
      </p:sp>
      <p:pic>
        <p:nvPicPr>
          <p:cNvPr id="104" name="Google Shape;104;p19"/>
          <p:cNvPicPr preferRelativeResize="0"/>
          <p:nvPr/>
        </p:nvPicPr>
        <p:blipFill>
          <a:blip r:embed="rId3">
            <a:alphaModFix/>
          </a:blip>
          <a:stretch>
            <a:fillRect/>
          </a:stretch>
        </p:blipFill>
        <p:spPr>
          <a:xfrm>
            <a:off x="152400" y="1031375"/>
            <a:ext cx="3729139" cy="3959725"/>
          </a:xfrm>
          <a:prstGeom prst="rect">
            <a:avLst/>
          </a:prstGeom>
          <a:noFill/>
          <a:ln>
            <a:noFill/>
          </a:ln>
        </p:spPr>
      </p:pic>
      <p:pic>
        <p:nvPicPr>
          <p:cNvPr id="105" name="Google Shape;105;p19"/>
          <p:cNvPicPr preferRelativeResize="0"/>
          <p:nvPr/>
        </p:nvPicPr>
        <p:blipFill>
          <a:blip r:embed="rId4">
            <a:alphaModFix/>
          </a:blip>
          <a:stretch>
            <a:fillRect/>
          </a:stretch>
        </p:blipFill>
        <p:spPr>
          <a:xfrm>
            <a:off x="4033959" y="1031375"/>
            <a:ext cx="5015250" cy="284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391725" y="0"/>
            <a:ext cx="194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520" u="sng">
                <a:latin typeface="EB Garamond"/>
                <a:ea typeface="EB Garamond"/>
                <a:cs typeface="EB Garamond"/>
                <a:sym typeface="EB Garamond"/>
              </a:rPr>
              <a:t>Sources!!</a:t>
            </a:r>
            <a:endParaRPr b="1" sz="3520" u="sng">
              <a:latin typeface="EB Garamond"/>
              <a:ea typeface="EB Garamond"/>
              <a:cs typeface="EB Garamond"/>
              <a:sym typeface="EB Garamond"/>
            </a:endParaRPr>
          </a:p>
        </p:txBody>
      </p:sp>
      <p:sp>
        <p:nvSpPr>
          <p:cNvPr id="111" name="Google Shape;111;p20"/>
          <p:cNvSpPr txBox="1"/>
          <p:nvPr>
            <p:ph idx="1" type="body"/>
          </p:nvPr>
        </p:nvSpPr>
        <p:spPr>
          <a:xfrm>
            <a:off x="70050" y="775650"/>
            <a:ext cx="9074100" cy="42828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solidFill>
                  <a:schemeClr val="dk1"/>
                </a:solidFill>
              </a:rPr>
              <a:t>International Monetary Fund. (2020). Six Charts Explain South Africa's Inequality. Retrieved from: </a:t>
            </a:r>
            <a:r>
              <a:rPr lang="en" u="sng">
                <a:solidFill>
                  <a:schemeClr val="hlink"/>
                </a:solidFill>
                <a:hlinkClick r:id="rId3"/>
              </a:rPr>
              <a:t>https://www.imf.org/en/news/articles/2020/01/29/na012820six-charts-on-south-africas-persistent-and-multi-faceted-inequality</a:t>
            </a:r>
            <a:r>
              <a:rPr lang="en"/>
              <a:t> </a:t>
            </a:r>
            <a:endParaRPr/>
          </a:p>
          <a:p>
            <a:pPr indent="0" lvl="0" marL="0" rtl="0" algn="l">
              <a:spcBef>
                <a:spcPts val="1200"/>
              </a:spcBef>
              <a:spcAft>
                <a:spcPts val="0"/>
              </a:spcAft>
              <a:buNone/>
            </a:pPr>
            <a:r>
              <a:rPr lang="en" sz="1718">
                <a:solidFill>
                  <a:schemeClr val="dk1"/>
                </a:solidFill>
                <a:uFill>
                  <a:noFill/>
                </a:uFill>
                <a:hlinkClick r:id="rId4">
                  <a:extLst>
                    <a:ext uri="{A12FA001-AC4F-418D-AE19-62706E023703}">
                      <ahyp:hlinkClr val="tx"/>
                    </a:ext>
                  </a:extLst>
                </a:hlinkClick>
              </a:rPr>
              <a:t>Freeman Munisi Mateko</a:t>
            </a:r>
            <a:r>
              <a:rPr lang="en" sz="1718">
                <a:solidFill>
                  <a:schemeClr val="dk1"/>
                </a:solidFill>
              </a:rPr>
              <a:t> etal. </a:t>
            </a:r>
            <a:r>
              <a:rPr lang="en" sz="1718">
                <a:solidFill>
                  <a:srgbClr val="333333"/>
                </a:solidFill>
              </a:rPr>
              <a:t>(</a:t>
            </a:r>
            <a:r>
              <a:rPr lang="en" sz="1718">
                <a:solidFill>
                  <a:schemeClr val="dk1"/>
                </a:solidFill>
              </a:rPr>
              <a:t>2026). Asymmetric effects of poverty and inequality on carbon emissions in South Africa. Retrieved from: </a:t>
            </a:r>
            <a:r>
              <a:rPr lang="en" u="sng">
                <a:solidFill>
                  <a:schemeClr val="hlink"/>
                </a:solidFill>
                <a:hlinkClick r:id="rId5"/>
              </a:rPr>
              <a:t>https://www.tandfonline.com/doi/full/10.1080/13504509.2026.2635053#d1e301</a:t>
            </a:r>
            <a:endParaRPr/>
          </a:p>
          <a:p>
            <a:pPr indent="0" lvl="0" marL="0" rtl="0" algn="l">
              <a:spcBef>
                <a:spcPts val="1200"/>
              </a:spcBef>
              <a:spcAft>
                <a:spcPts val="0"/>
              </a:spcAft>
              <a:buNone/>
            </a:pPr>
            <a:r>
              <a:rPr lang="en" sz="1650">
                <a:solidFill>
                  <a:schemeClr val="dk1"/>
                </a:solidFill>
                <a:highlight>
                  <a:srgbClr val="FAFAFA"/>
                </a:highlight>
              </a:rPr>
              <a:t>Jeremy Seekings. </a:t>
            </a:r>
            <a:r>
              <a:rPr lang="en" sz="1929">
                <a:solidFill>
                  <a:schemeClr val="dk1"/>
                </a:solidFill>
                <a:highlight>
                  <a:srgbClr val="FAFAFA"/>
                </a:highlight>
              </a:rPr>
              <a:t>(</a:t>
            </a:r>
            <a:r>
              <a:rPr lang="en" sz="1650">
                <a:solidFill>
                  <a:schemeClr val="dk1"/>
                </a:solidFill>
                <a:highlight>
                  <a:srgbClr val="FAFAFA"/>
                </a:highlight>
              </a:rPr>
              <a:t>2019). </a:t>
            </a:r>
            <a:r>
              <a:rPr lang="en" sz="1650">
                <a:solidFill>
                  <a:schemeClr val="dk1"/>
                </a:solidFill>
                <a:highlight>
                  <a:srgbClr val="FAFAFA"/>
                </a:highlight>
              </a:rPr>
              <a:t>Poverty and Inequality: South Africa as a Warning to Africa. Retrieved from:</a:t>
            </a:r>
            <a:r>
              <a:rPr lang="en" sz="1650">
                <a:solidFill>
                  <a:schemeClr val="dk1"/>
                </a:solidFill>
              </a:rPr>
              <a:t> </a:t>
            </a:r>
            <a:r>
              <a:rPr lang="en" u="sng">
                <a:solidFill>
                  <a:schemeClr val="hlink"/>
                </a:solidFill>
                <a:hlinkClick r:id="rId6"/>
              </a:rPr>
              <a:t>https://globaldialogue.isa-sociology.org/articles/poverty-and-inequality-south-africa-as-a-warning-to-africa</a:t>
            </a:r>
            <a:endParaRPr/>
          </a:p>
          <a:p>
            <a:pPr indent="0" lvl="0" marL="0" rtl="0" algn="l">
              <a:spcBef>
                <a:spcPts val="1200"/>
              </a:spcBef>
              <a:spcAft>
                <a:spcPts val="0"/>
              </a:spcAft>
              <a:buNone/>
            </a:pPr>
            <a:r>
              <a:rPr lang="en">
                <a:solidFill>
                  <a:schemeClr val="dk1"/>
                </a:solidFill>
              </a:rPr>
              <a:t>Gini Coefficient by Country. (2026). Gini Coefficient by Country. Retrieved from</a:t>
            </a:r>
            <a:r>
              <a:rPr lang="en"/>
              <a:t> </a:t>
            </a:r>
            <a:r>
              <a:rPr lang="en" u="sng">
                <a:solidFill>
                  <a:schemeClr val="hlink"/>
                </a:solidFill>
                <a:hlinkClick r:id="rId7"/>
              </a:rPr>
              <a:t>https://worldpopulationreview.com/country-rankings/gini-coefficient-by-country</a:t>
            </a:r>
            <a:r>
              <a:rPr lang="en"/>
              <a:t> </a:t>
            </a:r>
            <a:endParaRPr/>
          </a:p>
          <a:p>
            <a:pPr indent="0" lvl="0" marL="0" rtl="0" algn="l">
              <a:spcBef>
                <a:spcPts val="1200"/>
              </a:spcBef>
              <a:spcAft>
                <a:spcPts val="0"/>
              </a:spcAft>
              <a:buNone/>
            </a:pPr>
            <a:r>
              <a:rPr lang="en">
                <a:solidFill>
                  <a:schemeClr val="dk1"/>
                </a:solidFill>
              </a:rPr>
              <a:t>World Bank. (2018). World Bank study on South Africa exposes ANC’s failure to reduce poverty. Retrieved from </a:t>
            </a:r>
            <a:r>
              <a:rPr lang="en" u="sng">
                <a:solidFill>
                  <a:schemeClr val="hlink"/>
                </a:solidFill>
                <a:hlinkClick r:id="rId8"/>
              </a:rPr>
              <a:t>https://www.theglobeandmail.com/world/article-world-bank-study-on-south-africa-exposes-ancs-failure-to-reduce/</a:t>
            </a:r>
            <a:r>
              <a:rPr lang="en"/>
              <a:t> </a:t>
            </a:r>
            <a:endParaRPr/>
          </a:p>
          <a:p>
            <a:pPr indent="0" lvl="0" marL="0" rtl="0" algn="l">
              <a:spcBef>
                <a:spcPts val="1200"/>
              </a:spcBef>
              <a:spcAft>
                <a:spcPts val="1200"/>
              </a:spcAft>
              <a:buNone/>
            </a:pPr>
            <a:r>
              <a:rPr lang="en">
                <a:solidFill>
                  <a:schemeClr val="dk1"/>
                </a:solidFill>
              </a:rPr>
              <a:t>Statistics Canada. (2020). Statistics Canada confirms 4.5 million Canadians are living in poverty. Retrieved from </a:t>
            </a:r>
            <a:r>
              <a:rPr lang="en" u="sng">
                <a:solidFill>
                  <a:schemeClr val="hlink"/>
                </a:solidFill>
                <a:hlinkClick r:id="rId9"/>
              </a:rPr>
              <a:t>https://ca.finance.yahoo.com/news/statistics-canada-confirms-4-5-143000949.html</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
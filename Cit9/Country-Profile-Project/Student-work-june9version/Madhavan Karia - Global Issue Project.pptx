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roxima Nova"/>
      <p:regular r:id="rId15"/>
      <p:bold r:id="rId16"/>
      <p:italic r:id="rId17"/>
      <p:boldItalic r:id="rId18"/>
    </p:embeddedFont>
    <p:embeddedFont>
      <p:font typeface="Roboto"/>
      <p:regular r:id="rId19"/>
      <p:bold r:id="rId20"/>
      <p:italic r:id="rId21"/>
      <p:boldItalic r:id="rId22"/>
    </p:embeddedFont>
    <p:embeddedFont>
      <p:font typeface="Proxima Nova Extrabold"/>
      <p:bold r:id="rId23"/>
    </p:embeddedFont>
    <p:embeddedFont>
      <p:font typeface="Aleo"/>
      <p:regular r:id="rId24"/>
      <p:bold r:id="rId25"/>
      <p:italic r:id="rId26"/>
      <p:boldItalic r:id="rId27"/>
    </p:embeddedFont>
    <p:embeddedFont>
      <p:font typeface="Passion One"/>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Aleo-regular.fntdata"/><Relationship Id="rId23" Type="http://schemas.openxmlformats.org/officeDocument/2006/relationships/font" Target="fonts/ProximaNovaExtra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leo-italic.fntdata"/><Relationship Id="rId25" Type="http://schemas.openxmlformats.org/officeDocument/2006/relationships/font" Target="fonts/Aleo-bold.fntdata"/><Relationship Id="rId28" Type="http://schemas.openxmlformats.org/officeDocument/2006/relationships/font" Target="fonts/PassionOne-regular.fntdata"/><Relationship Id="rId27" Type="http://schemas.openxmlformats.org/officeDocument/2006/relationships/font" Target="fonts/Ale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assionOne-bold.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ProximaNova-regular.fntdata"/><Relationship Id="rId14" Type="http://schemas.openxmlformats.org/officeDocument/2006/relationships/slide" Target="slides/slide9.xml"/><Relationship Id="rId17" Type="http://schemas.openxmlformats.org/officeDocument/2006/relationships/font" Target="fonts/ProximaNova-italic.fntdata"/><Relationship Id="rId16" Type="http://schemas.openxmlformats.org/officeDocument/2006/relationships/font" Target="fonts/ProximaNova-bold.fntdata"/><Relationship Id="rId19" Type="http://schemas.openxmlformats.org/officeDocument/2006/relationships/font" Target="fonts/Roboto-regular.fntdata"/><Relationship Id="rId18" Type="http://schemas.openxmlformats.org/officeDocument/2006/relationships/font" Target="fonts/ProximaNova-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e577d364f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577d364f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85a139f14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85a139f14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8b07203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8b07203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e85a139f14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e85a139f14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8b072031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8b072031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a3afb6a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a3afb6a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ea3afb6ae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ea3afb6ae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a3afb6ae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a3afb6ae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ppt/slides/slide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ppt/slides/slide8.xml"/><Relationship Id="rId4"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ppt/slides/slide9.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71398" y="-665366"/>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Aleo"/>
                <a:ea typeface="Aleo"/>
                <a:cs typeface="Aleo"/>
                <a:sym typeface="Aleo"/>
              </a:rPr>
              <a:t>Indiaaaaaaaaaaaaa</a:t>
            </a:r>
            <a:endParaRPr>
              <a:latin typeface="Aleo"/>
              <a:ea typeface="Aleo"/>
              <a:cs typeface="Aleo"/>
              <a:sym typeface="Aleo"/>
            </a:endParaRPr>
          </a:p>
        </p:txBody>
      </p:sp>
      <p:sp>
        <p:nvSpPr>
          <p:cNvPr id="60" name="Google Shape;60;p13"/>
          <p:cNvSpPr/>
          <p:nvPr/>
        </p:nvSpPr>
        <p:spPr>
          <a:xfrm>
            <a:off x="6540000" y="0"/>
            <a:ext cx="2604000" cy="2478300"/>
          </a:xfrm>
          <a:prstGeom prst="snip2DiagRect">
            <a:avLst>
              <a:gd fmla="val 0" name="adj1"/>
              <a:gd fmla="val 37266"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61" name="Google Shape;61;p13"/>
          <p:cNvSpPr txBox="1"/>
          <p:nvPr/>
        </p:nvSpPr>
        <p:spPr>
          <a:xfrm>
            <a:off x="24610" y="1146574"/>
            <a:ext cx="5340300" cy="1895100"/>
          </a:xfrm>
          <a:prstGeom prst="rect">
            <a:avLst/>
          </a:prstGeom>
          <a:noFill/>
          <a:ln>
            <a:noFill/>
          </a:ln>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Most populous country</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Most Indians are Hindu</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Most, if not all, speak Hindi and English fluently</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The geography is so big that it is considered a subcontinent</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Every single climate is possible in its borders</a:t>
            </a:r>
            <a:endParaRPr sz="1800">
              <a:solidFill>
                <a:schemeClr val="lt1"/>
              </a:solidFill>
              <a:latin typeface="Proxima Nova"/>
              <a:ea typeface="Proxima Nova"/>
              <a:cs typeface="Proxima Nova"/>
              <a:sym typeface="Proxima Nova"/>
            </a:endParaRPr>
          </a:p>
        </p:txBody>
      </p:sp>
      <p:cxnSp>
        <p:nvCxnSpPr>
          <p:cNvPr id="62" name="Google Shape;62;p13"/>
          <p:cNvCxnSpPr/>
          <p:nvPr/>
        </p:nvCxnSpPr>
        <p:spPr>
          <a:xfrm rot="10800000">
            <a:off x="-1217175" y="3002254"/>
            <a:ext cx="713700" cy="0"/>
          </a:xfrm>
          <a:prstGeom prst="straightConnector1">
            <a:avLst/>
          </a:prstGeom>
          <a:noFill/>
          <a:ln cap="flat" cmpd="sng" w="9525">
            <a:solidFill>
              <a:schemeClr val="dk2"/>
            </a:solidFill>
            <a:prstDash val="solid"/>
            <a:round/>
            <a:headEnd len="med" w="med" type="none"/>
            <a:tailEnd len="med" w="med" type="none"/>
          </a:ln>
        </p:spPr>
      </p:cxnSp>
      <p:sp>
        <p:nvSpPr>
          <p:cNvPr id="63" name="Google Shape;63;p13"/>
          <p:cNvSpPr txBox="1"/>
          <p:nvPr/>
        </p:nvSpPr>
        <p:spPr>
          <a:xfrm>
            <a:off x="226575" y="3376125"/>
            <a:ext cx="8667000" cy="1676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5200">
                <a:solidFill>
                  <a:srgbClr val="63D297"/>
                </a:solidFill>
                <a:latin typeface="Passion One"/>
                <a:ea typeface="Passion One"/>
                <a:cs typeface="Passion One"/>
                <a:sym typeface="Passion One"/>
              </a:rPr>
              <a:t>By - Madhavan And Leo</a:t>
            </a:r>
            <a:endParaRPr b="1" sz="5200">
              <a:solidFill>
                <a:srgbClr val="63D297"/>
              </a:solidFill>
              <a:latin typeface="Passion One"/>
              <a:ea typeface="Passion One"/>
              <a:cs typeface="Passion One"/>
              <a:sym typeface="Passion On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p:nvPr/>
        </p:nvSpPr>
        <p:spPr>
          <a:xfrm>
            <a:off x="6435050" y="90650"/>
            <a:ext cx="2604000" cy="2288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69" name="Google Shape;69;p14"/>
          <p:cNvSpPr/>
          <p:nvPr/>
        </p:nvSpPr>
        <p:spPr>
          <a:xfrm>
            <a:off x="-355800" y="2906200"/>
            <a:ext cx="9610200" cy="282900"/>
          </a:xfrm>
          <a:prstGeom prst="rect">
            <a:avLst/>
          </a:prstGeom>
          <a:solidFill>
            <a:srgbClr val="2027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70" name="Google Shape;70;p14"/>
          <p:cNvSpPr txBox="1"/>
          <p:nvPr>
            <p:ph type="title"/>
          </p:nvPr>
        </p:nvSpPr>
        <p:spPr>
          <a:xfrm>
            <a:off x="226575" y="424373"/>
            <a:ext cx="5797500" cy="2147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800">
                <a:latin typeface="Proxima Nova Extrabold"/>
                <a:ea typeface="Proxima Nova Extrabold"/>
                <a:cs typeface="Proxima Nova Extrabold"/>
                <a:sym typeface="Proxima Nova Extrabold"/>
              </a:rPr>
              <a:t>The issue that is going on in India and has been going on for a long time is Air Pollution and Public Health and this matters a lot to other countries, especially to its direct neighbors because the pollution can spread and has spread. This can and majorly has also impacted human lives and taken them in the process.</a:t>
            </a:r>
            <a:endParaRPr sz="1800">
              <a:latin typeface="Proxima Nova Extrabold"/>
              <a:ea typeface="Proxima Nova Extrabold"/>
              <a:cs typeface="Proxima Nova Extrabold"/>
              <a:sym typeface="Proxima Nova Extrabold"/>
            </a:endParaRPr>
          </a:p>
        </p:txBody>
      </p:sp>
      <p:sp>
        <p:nvSpPr>
          <p:cNvPr id="71" name="Google Shape;71;p14"/>
          <p:cNvSpPr/>
          <p:nvPr/>
        </p:nvSpPr>
        <p:spPr>
          <a:xfrm>
            <a:off x="6540000" y="0"/>
            <a:ext cx="2604000" cy="2478300"/>
          </a:xfrm>
          <a:prstGeom prst="snip2DiagRect">
            <a:avLst>
              <a:gd fmla="val 0" name="adj1"/>
              <a:gd fmla="val 37266"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72" name="Google Shape;72;p14"/>
          <p:cNvSpPr txBox="1"/>
          <p:nvPr/>
        </p:nvSpPr>
        <p:spPr>
          <a:xfrm>
            <a:off x="226575" y="3376125"/>
            <a:ext cx="8667000" cy="1676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5200">
                <a:solidFill>
                  <a:schemeClr val="dk1"/>
                </a:solidFill>
                <a:latin typeface="Passion One"/>
                <a:ea typeface="Passion One"/>
                <a:cs typeface="Passion One"/>
                <a:sym typeface="Passion One"/>
              </a:rPr>
              <a:t>Air Pollution And Public Health</a:t>
            </a:r>
            <a:endParaRPr b="1" sz="5200">
              <a:solidFill>
                <a:schemeClr val="dk1"/>
              </a:solidFill>
              <a:latin typeface="Passion One"/>
              <a:ea typeface="Passion One"/>
              <a:cs typeface="Passion One"/>
              <a:sym typeface="Passion One"/>
            </a:endParaRPr>
          </a:p>
          <a:p>
            <a:pPr indent="0" lvl="0" marL="0" rtl="0" algn="l">
              <a:spcBef>
                <a:spcPts val="0"/>
              </a:spcBef>
              <a:spcAft>
                <a:spcPts val="0"/>
              </a:spcAft>
              <a:buNone/>
            </a:pPr>
            <a:r>
              <a:rPr b="1" lang="en" sz="1800">
                <a:solidFill>
                  <a:schemeClr val="dk1"/>
                </a:solidFill>
                <a:latin typeface="Passion One"/>
                <a:ea typeface="Passion One"/>
                <a:cs typeface="Passion One"/>
                <a:sym typeface="Passion One"/>
              </a:rPr>
              <a:t>Citations : </a:t>
            </a:r>
            <a:r>
              <a:rPr b="1" lang="en" sz="1800" u="sng">
                <a:solidFill>
                  <a:schemeClr val="hlink"/>
                </a:solidFill>
                <a:latin typeface="Passion One"/>
                <a:ea typeface="Passion One"/>
                <a:cs typeface="Passion One"/>
                <a:sym typeface="Passion One"/>
                <a:hlinkClick action="ppaction://hlinksldjump" r:id="rId3"/>
              </a:rPr>
              <a:t>.</a:t>
            </a:r>
            <a:endParaRPr b="1" sz="1800">
              <a:solidFill>
                <a:schemeClr val="dk1"/>
              </a:solidFill>
              <a:latin typeface="Passion One"/>
              <a:ea typeface="Passion One"/>
              <a:cs typeface="Passion One"/>
              <a:sym typeface="Passion One"/>
            </a:endParaRPr>
          </a:p>
        </p:txBody>
      </p:sp>
      <p:pic>
        <p:nvPicPr>
          <p:cNvPr id="73" name="Google Shape;73;p14" title="816.jpg"/>
          <p:cNvPicPr preferRelativeResize="0"/>
          <p:nvPr/>
        </p:nvPicPr>
        <p:blipFill>
          <a:blip r:embed="rId4">
            <a:alphaModFix/>
          </a:blip>
          <a:stretch>
            <a:fillRect/>
          </a:stretch>
        </p:blipFill>
        <p:spPr>
          <a:xfrm>
            <a:off x="6517341" y="200400"/>
            <a:ext cx="2459726" cy="20774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p:nvPr/>
        </p:nvSpPr>
        <p:spPr>
          <a:xfrm>
            <a:off x="-355800" y="2906200"/>
            <a:ext cx="9610200" cy="282900"/>
          </a:xfrm>
          <a:prstGeom prst="rect">
            <a:avLst/>
          </a:prstGeom>
          <a:solidFill>
            <a:srgbClr val="2027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79" name="Google Shape;79;p15"/>
          <p:cNvSpPr txBox="1"/>
          <p:nvPr>
            <p:ph type="title"/>
          </p:nvPr>
        </p:nvSpPr>
        <p:spPr>
          <a:xfrm>
            <a:off x="226575" y="424373"/>
            <a:ext cx="5797500" cy="2147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800">
                <a:latin typeface="Proxima Nova Extrabold"/>
                <a:ea typeface="Proxima Nova Extrabold"/>
                <a:cs typeface="Proxima Nova Extrabold"/>
                <a:sym typeface="Proxima Nova Extrabold"/>
              </a:rPr>
              <a:t>India has done things to fight air pollution by launching a nationwide limit on how much air pollution industrialists can cause and enforcing that starting in 1981. Next, they have tried to completely halt sulphur emissions and convert all their vehicles to be electric instead of gas powered.</a:t>
            </a:r>
            <a:endParaRPr sz="1800">
              <a:latin typeface="Proxima Nova Extrabold"/>
              <a:ea typeface="Proxima Nova Extrabold"/>
              <a:cs typeface="Proxima Nova Extrabold"/>
              <a:sym typeface="Proxima Nova Extrabold"/>
            </a:endParaRPr>
          </a:p>
        </p:txBody>
      </p:sp>
      <p:sp>
        <p:nvSpPr>
          <p:cNvPr id="80" name="Google Shape;80;p15"/>
          <p:cNvSpPr/>
          <p:nvPr/>
        </p:nvSpPr>
        <p:spPr>
          <a:xfrm>
            <a:off x="6540000" y="0"/>
            <a:ext cx="2604000" cy="2478300"/>
          </a:xfrm>
          <a:prstGeom prst="snip2DiagRect">
            <a:avLst>
              <a:gd fmla="val 0" name="adj1"/>
              <a:gd fmla="val 37266"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81" name="Google Shape;81;p15"/>
          <p:cNvSpPr txBox="1"/>
          <p:nvPr/>
        </p:nvSpPr>
        <p:spPr>
          <a:xfrm>
            <a:off x="226575" y="3376125"/>
            <a:ext cx="8667000" cy="1676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5200">
                <a:solidFill>
                  <a:schemeClr val="dk1"/>
                </a:solidFill>
                <a:latin typeface="Passion One"/>
                <a:ea typeface="Passion One"/>
                <a:cs typeface="Passion One"/>
                <a:sym typeface="Passion One"/>
              </a:rPr>
              <a:t>The Response</a:t>
            </a:r>
            <a:endParaRPr b="1" sz="5200">
              <a:solidFill>
                <a:schemeClr val="dk1"/>
              </a:solidFill>
              <a:latin typeface="Passion One"/>
              <a:ea typeface="Passion One"/>
              <a:cs typeface="Passion One"/>
              <a:sym typeface="Passion One"/>
            </a:endParaRPr>
          </a:p>
          <a:p>
            <a:pPr indent="0" lvl="0" marL="0" rtl="0" algn="l">
              <a:spcBef>
                <a:spcPts val="0"/>
              </a:spcBef>
              <a:spcAft>
                <a:spcPts val="0"/>
              </a:spcAft>
              <a:buNone/>
            </a:pPr>
            <a:r>
              <a:rPr b="1" lang="en" sz="1800">
                <a:solidFill>
                  <a:schemeClr val="dk1"/>
                </a:solidFill>
                <a:latin typeface="Passion One"/>
                <a:ea typeface="Passion One"/>
                <a:cs typeface="Passion One"/>
                <a:sym typeface="Passion One"/>
              </a:rPr>
              <a:t>Citations : </a:t>
            </a:r>
            <a:r>
              <a:rPr b="1" lang="en" sz="1800" u="sng">
                <a:solidFill>
                  <a:schemeClr val="hlink"/>
                </a:solidFill>
                <a:latin typeface="Passion One"/>
                <a:ea typeface="Passion One"/>
                <a:cs typeface="Passion One"/>
                <a:sym typeface="Passion One"/>
                <a:hlinkClick action="ppaction://hlinksldjump" r:id="rId3"/>
              </a:rPr>
              <a:t>.</a:t>
            </a:r>
            <a:endParaRPr b="1" sz="1800">
              <a:solidFill>
                <a:schemeClr val="dk1"/>
              </a:solidFill>
              <a:latin typeface="Passion One"/>
              <a:ea typeface="Passion One"/>
              <a:cs typeface="Passion One"/>
              <a:sym typeface="Passion One"/>
            </a:endParaRPr>
          </a:p>
        </p:txBody>
      </p:sp>
      <p:sp>
        <p:nvSpPr>
          <p:cNvPr id="82" name="Google Shape;82;p15"/>
          <p:cNvSpPr/>
          <p:nvPr/>
        </p:nvSpPr>
        <p:spPr>
          <a:xfrm>
            <a:off x="6117825" y="90650"/>
            <a:ext cx="2932500" cy="1835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83" name="Google Shape;83;p15" title="download.jpg"/>
          <p:cNvPicPr preferRelativeResize="0"/>
          <p:nvPr/>
        </p:nvPicPr>
        <p:blipFill>
          <a:blip r:embed="rId4">
            <a:alphaModFix/>
          </a:blip>
          <a:stretch>
            <a:fillRect/>
          </a:stretch>
        </p:blipFill>
        <p:spPr>
          <a:xfrm>
            <a:off x="6208824" y="178041"/>
            <a:ext cx="2762250" cy="1657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p:nvPr/>
        </p:nvSpPr>
        <p:spPr>
          <a:xfrm>
            <a:off x="6219775" y="90650"/>
            <a:ext cx="2819400" cy="1959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89" name="Google Shape;89;p16"/>
          <p:cNvSpPr/>
          <p:nvPr/>
        </p:nvSpPr>
        <p:spPr>
          <a:xfrm>
            <a:off x="-355800" y="2906200"/>
            <a:ext cx="9610200" cy="282900"/>
          </a:xfrm>
          <a:prstGeom prst="rect">
            <a:avLst/>
          </a:prstGeom>
          <a:solidFill>
            <a:srgbClr val="2027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90" name="Google Shape;90;p16"/>
          <p:cNvSpPr txBox="1"/>
          <p:nvPr>
            <p:ph type="title"/>
          </p:nvPr>
        </p:nvSpPr>
        <p:spPr>
          <a:xfrm>
            <a:off x="226575" y="424373"/>
            <a:ext cx="5797500" cy="21474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1800">
                <a:latin typeface="Proxima Nova Extrabold"/>
                <a:ea typeface="Proxima Nova Extrabold"/>
                <a:cs typeface="Proxima Nova Extrabold"/>
                <a:sym typeface="Proxima Nova Extrabold"/>
              </a:rPr>
              <a:t>Many people have noticed that trying to reduce pollution in some of these more populated and more polluted cities leaves the towns, villages, rural areas, and more over the less populated and less polluted areas to be almost completely ungoverned. And the polluted areas lead to bans on certain things like </a:t>
            </a:r>
            <a:r>
              <a:rPr lang="en" sz="1800">
                <a:latin typeface="Proxima Nova Extrabold"/>
                <a:ea typeface="Proxima Nova Extrabold"/>
                <a:cs typeface="Proxima Nova Extrabold"/>
                <a:sym typeface="Proxima Nova Extrabold"/>
              </a:rPr>
              <a:t>construction work for a certain amount of time, or closure of schools for such, but that leads to millions being stranded with no way of making money got the time being.</a:t>
            </a:r>
            <a:endParaRPr sz="1800">
              <a:latin typeface="Proxima Nova Extrabold"/>
              <a:ea typeface="Proxima Nova Extrabold"/>
              <a:cs typeface="Proxima Nova Extrabold"/>
              <a:sym typeface="Proxima Nova Extrabold"/>
            </a:endParaRPr>
          </a:p>
        </p:txBody>
      </p:sp>
      <p:sp>
        <p:nvSpPr>
          <p:cNvPr id="91" name="Google Shape;91;p16"/>
          <p:cNvSpPr/>
          <p:nvPr/>
        </p:nvSpPr>
        <p:spPr>
          <a:xfrm>
            <a:off x="6540000" y="0"/>
            <a:ext cx="2604000" cy="2478300"/>
          </a:xfrm>
          <a:prstGeom prst="snip2DiagRect">
            <a:avLst>
              <a:gd fmla="val 0" name="adj1"/>
              <a:gd fmla="val 37266"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92" name="Google Shape;92;p16"/>
          <p:cNvSpPr txBox="1"/>
          <p:nvPr/>
        </p:nvSpPr>
        <p:spPr>
          <a:xfrm>
            <a:off x="226575" y="3376125"/>
            <a:ext cx="8667000" cy="1676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5200">
                <a:solidFill>
                  <a:schemeClr val="dk1"/>
                </a:solidFill>
                <a:latin typeface="Passion One"/>
                <a:ea typeface="Passion One"/>
                <a:cs typeface="Passion One"/>
                <a:sym typeface="Passion One"/>
              </a:rPr>
              <a:t>The </a:t>
            </a:r>
            <a:r>
              <a:rPr b="1" lang="en" sz="5200">
                <a:solidFill>
                  <a:schemeClr val="dk1"/>
                </a:solidFill>
                <a:latin typeface="Passion One"/>
                <a:ea typeface="Passion One"/>
                <a:cs typeface="Passion One"/>
                <a:sym typeface="Passion One"/>
              </a:rPr>
              <a:t>Consequences </a:t>
            </a:r>
            <a:endParaRPr b="1" sz="5200">
              <a:solidFill>
                <a:schemeClr val="dk1"/>
              </a:solidFill>
              <a:latin typeface="Passion One"/>
              <a:ea typeface="Passion One"/>
              <a:cs typeface="Passion One"/>
              <a:sym typeface="Passion One"/>
            </a:endParaRPr>
          </a:p>
          <a:p>
            <a:pPr indent="0" lvl="0" marL="0" rtl="0" algn="l">
              <a:spcBef>
                <a:spcPts val="0"/>
              </a:spcBef>
              <a:spcAft>
                <a:spcPts val="0"/>
              </a:spcAft>
              <a:buNone/>
            </a:pPr>
            <a:r>
              <a:rPr b="1" lang="en" sz="1800">
                <a:solidFill>
                  <a:schemeClr val="dk1"/>
                </a:solidFill>
                <a:latin typeface="Passion One"/>
                <a:ea typeface="Passion One"/>
                <a:cs typeface="Passion One"/>
                <a:sym typeface="Passion One"/>
              </a:rPr>
              <a:t>Citations : </a:t>
            </a:r>
            <a:r>
              <a:rPr b="1" lang="en" sz="1800" u="sng">
                <a:solidFill>
                  <a:schemeClr val="hlink"/>
                </a:solidFill>
                <a:latin typeface="Passion One"/>
                <a:ea typeface="Passion One"/>
                <a:cs typeface="Passion One"/>
                <a:sym typeface="Passion One"/>
                <a:hlinkClick action="ppaction://hlinksldjump" r:id="rId3"/>
              </a:rPr>
              <a:t>.</a:t>
            </a:r>
            <a:endParaRPr b="1" sz="1800">
              <a:solidFill>
                <a:schemeClr val="dk1"/>
              </a:solidFill>
              <a:latin typeface="Passion One"/>
              <a:ea typeface="Passion One"/>
              <a:cs typeface="Passion One"/>
              <a:sym typeface="Passion One"/>
            </a:endParaRPr>
          </a:p>
        </p:txBody>
      </p:sp>
      <p:pic>
        <p:nvPicPr>
          <p:cNvPr id="93" name="Google Shape;93;p16" title="download.jpg"/>
          <p:cNvPicPr preferRelativeResize="0"/>
          <p:nvPr/>
        </p:nvPicPr>
        <p:blipFill>
          <a:blip r:embed="rId4">
            <a:alphaModFix/>
          </a:blip>
          <a:stretch>
            <a:fillRect/>
          </a:stretch>
        </p:blipFill>
        <p:spPr>
          <a:xfrm>
            <a:off x="6309335" y="206878"/>
            <a:ext cx="2657475" cy="1724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p:nvPr/>
        </p:nvSpPr>
        <p:spPr>
          <a:xfrm>
            <a:off x="-355800" y="2906200"/>
            <a:ext cx="9610200" cy="282900"/>
          </a:xfrm>
          <a:prstGeom prst="rect">
            <a:avLst/>
          </a:prstGeom>
          <a:solidFill>
            <a:srgbClr val="2027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99" name="Google Shape;99;p17"/>
          <p:cNvSpPr txBox="1"/>
          <p:nvPr>
            <p:ph type="title"/>
          </p:nvPr>
        </p:nvSpPr>
        <p:spPr>
          <a:xfrm>
            <a:off x="226575" y="424373"/>
            <a:ext cx="5797500" cy="21474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1800">
                <a:latin typeface="Proxima Nova Extrabold"/>
                <a:ea typeface="Proxima Nova Extrabold"/>
                <a:cs typeface="Proxima Nova Extrabold"/>
                <a:sym typeface="Proxima Nova Extrabold"/>
              </a:rPr>
              <a:t>Yes, this is very similar to the Canadian way of doing </a:t>
            </a:r>
            <a:r>
              <a:rPr lang="en" sz="1800">
                <a:latin typeface="Proxima Nova Extrabold"/>
                <a:ea typeface="Proxima Nova Extrabold"/>
                <a:cs typeface="Proxima Nova Extrabold"/>
                <a:sym typeface="Proxima Nova Extrabold"/>
              </a:rPr>
              <a:t>things</a:t>
            </a:r>
            <a:r>
              <a:rPr lang="en" sz="1800">
                <a:latin typeface="Proxima Nova Extrabold"/>
                <a:ea typeface="Proxima Nova Extrabold"/>
                <a:cs typeface="Proxima Nova Extrabold"/>
                <a:sym typeface="Proxima Nova Extrabold"/>
              </a:rPr>
              <a:t>, using a tiered prioritization system, leading to more polluted areas being dealt with first. Plus the fact that both have to use many methods to control the smoke that rises every year, be it crop stubble burning in India in the winter, or wildfires in Canada more during the summertime, this drives up the seasonal rate of air pollution by a lot.</a:t>
            </a:r>
            <a:endParaRPr sz="1800">
              <a:latin typeface="Proxima Nova Extrabold"/>
              <a:ea typeface="Proxima Nova Extrabold"/>
              <a:cs typeface="Proxima Nova Extrabold"/>
              <a:sym typeface="Proxima Nova Extrabold"/>
            </a:endParaRPr>
          </a:p>
        </p:txBody>
      </p:sp>
      <p:sp>
        <p:nvSpPr>
          <p:cNvPr id="100" name="Google Shape;100;p17"/>
          <p:cNvSpPr/>
          <p:nvPr/>
        </p:nvSpPr>
        <p:spPr>
          <a:xfrm>
            <a:off x="6540000" y="0"/>
            <a:ext cx="2604000" cy="2478300"/>
          </a:xfrm>
          <a:prstGeom prst="snip2DiagRect">
            <a:avLst>
              <a:gd fmla="val 0" name="adj1"/>
              <a:gd fmla="val 37266"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01" name="Google Shape;101;p17"/>
          <p:cNvSpPr txBox="1"/>
          <p:nvPr/>
        </p:nvSpPr>
        <p:spPr>
          <a:xfrm>
            <a:off x="226575" y="3376125"/>
            <a:ext cx="8667000" cy="1676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5200">
                <a:solidFill>
                  <a:schemeClr val="dk1"/>
                </a:solidFill>
                <a:latin typeface="Passion One"/>
                <a:ea typeface="Passion One"/>
                <a:cs typeface="Passion One"/>
                <a:sym typeface="Passion One"/>
              </a:rPr>
              <a:t>Does Canada do This?</a:t>
            </a:r>
            <a:endParaRPr b="1" sz="5200">
              <a:solidFill>
                <a:schemeClr val="dk1"/>
              </a:solidFill>
              <a:latin typeface="Passion One"/>
              <a:ea typeface="Passion One"/>
              <a:cs typeface="Passion One"/>
              <a:sym typeface="Passion One"/>
            </a:endParaRPr>
          </a:p>
        </p:txBody>
      </p:sp>
      <p:sp>
        <p:nvSpPr>
          <p:cNvPr id="102" name="Google Shape;102;p17"/>
          <p:cNvSpPr/>
          <p:nvPr/>
        </p:nvSpPr>
        <p:spPr>
          <a:xfrm>
            <a:off x="6967525" y="90650"/>
            <a:ext cx="2071500" cy="2549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103" name="Google Shape;103;p17" title="images.jpg"/>
          <p:cNvPicPr preferRelativeResize="0"/>
          <p:nvPr/>
        </p:nvPicPr>
        <p:blipFill>
          <a:blip r:embed="rId3">
            <a:alphaModFix/>
          </a:blip>
          <a:stretch>
            <a:fillRect/>
          </a:stretch>
        </p:blipFill>
        <p:spPr>
          <a:xfrm>
            <a:off x="7043974" y="175118"/>
            <a:ext cx="1914525" cy="2390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p:nvPr/>
        </p:nvSpPr>
        <p:spPr>
          <a:xfrm>
            <a:off x="-355800" y="2906200"/>
            <a:ext cx="9610200" cy="282900"/>
          </a:xfrm>
          <a:prstGeom prst="rect">
            <a:avLst/>
          </a:prstGeom>
          <a:solidFill>
            <a:srgbClr val="2027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09" name="Google Shape;109;p18"/>
          <p:cNvSpPr txBox="1"/>
          <p:nvPr>
            <p:ph type="title"/>
          </p:nvPr>
        </p:nvSpPr>
        <p:spPr>
          <a:xfrm>
            <a:off x="226575" y="424373"/>
            <a:ext cx="5797500" cy="21474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1800">
                <a:latin typeface="Proxima Nova Extrabold"/>
                <a:ea typeface="Proxima Nova Extrabold"/>
                <a:cs typeface="Proxima Nova Extrabold"/>
                <a:sym typeface="Proxima Nova Extrabold"/>
              </a:rPr>
              <a:t>The reason that India has these air pollution problems is because of the fact that the people </a:t>
            </a:r>
            <a:r>
              <a:rPr lang="en" sz="1800">
                <a:latin typeface="Proxima Nova Extrabold"/>
                <a:ea typeface="Proxima Nova Extrabold"/>
                <a:cs typeface="Proxima Nova Extrabold"/>
                <a:sym typeface="Proxima Nova Extrabold"/>
              </a:rPr>
              <a:t>don't</a:t>
            </a:r>
            <a:r>
              <a:rPr lang="en" sz="1800">
                <a:latin typeface="Proxima Nova Extrabold"/>
                <a:ea typeface="Proxima Nova Extrabold"/>
                <a:cs typeface="Proxima Nova Extrabold"/>
                <a:sym typeface="Proxima Nova Extrabold"/>
              </a:rPr>
              <a:t> comply. Canada’s air pollution stems from a different reason, one of the environment, of nature. If Canada can’t realize that even though the smoke is not </a:t>
            </a:r>
            <a:r>
              <a:rPr lang="en" sz="1800">
                <a:latin typeface="Proxima Nova Extrabold"/>
                <a:ea typeface="Proxima Nova Extrabold"/>
                <a:cs typeface="Proxima Nova Extrabold"/>
                <a:sym typeface="Proxima Nova Extrabold"/>
              </a:rPr>
              <a:t>their</a:t>
            </a:r>
            <a:r>
              <a:rPr lang="en" sz="1800">
                <a:latin typeface="Proxima Nova Extrabold"/>
                <a:ea typeface="Proxima Nova Extrabold"/>
                <a:cs typeface="Proxima Nova Extrabold"/>
                <a:sym typeface="Proxima Nova Extrabold"/>
              </a:rPr>
              <a:t>, it’s THERE, they will always have smoke problems, just like India is having problems with trying to figure out which state is responsible for the crop stubble burning even though they should be trying to mitigate </a:t>
            </a:r>
            <a:r>
              <a:rPr lang="en" sz="1800">
                <a:latin typeface="Proxima Nova Extrabold"/>
                <a:ea typeface="Proxima Nova Extrabold"/>
                <a:cs typeface="Proxima Nova Extrabold"/>
                <a:sym typeface="Proxima Nova Extrabold"/>
              </a:rPr>
              <a:t>the</a:t>
            </a:r>
            <a:r>
              <a:rPr lang="en" sz="1800">
                <a:latin typeface="Proxima Nova Extrabold"/>
                <a:ea typeface="Proxima Nova Extrabold"/>
                <a:cs typeface="Proxima Nova Extrabold"/>
                <a:sym typeface="Proxima Nova Extrabold"/>
              </a:rPr>
              <a:t> process. WHO doesn’t matter in this situation, it’s the “HOW do we get rid of this” that matters.</a:t>
            </a:r>
            <a:endParaRPr sz="1800">
              <a:latin typeface="Proxima Nova Extrabold"/>
              <a:ea typeface="Proxima Nova Extrabold"/>
              <a:cs typeface="Proxima Nova Extrabold"/>
              <a:sym typeface="Proxima Nova Extrabold"/>
            </a:endParaRPr>
          </a:p>
        </p:txBody>
      </p:sp>
      <p:sp>
        <p:nvSpPr>
          <p:cNvPr id="110" name="Google Shape;110;p18"/>
          <p:cNvSpPr/>
          <p:nvPr/>
        </p:nvSpPr>
        <p:spPr>
          <a:xfrm>
            <a:off x="6540000" y="0"/>
            <a:ext cx="2604000" cy="2478300"/>
          </a:xfrm>
          <a:prstGeom prst="snip2DiagRect">
            <a:avLst>
              <a:gd fmla="val 0" name="adj1"/>
              <a:gd fmla="val 37266"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11" name="Google Shape;111;p18"/>
          <p:cNvSpPr txBox="1"/>
          <p:nvPr/>
        </p:nvSpPr>
        <p:spPr>
          <a:xfrm>
            <a:off x="226575" y="3376125"/>
            <a:ext cx="8667000" cy="1676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5200">
                <a:solidFill>
                  <a:schemeClr val="dk1"/>
                </a:solidFill>
                <a:latin typeface="Passion One"/>
                <a:ea typeface="Passion One"/>
                <a:cs typeface="Passion One"/>
                <a:sym typeface="Passion One"/>
              </a:rPr>
              <a:t>Why the hell should Canada care?</a:t>
            </a:r>
            <a:endParaRPr b="1" sz="5200">
              <a:solidFill>
                <a:schemeClr val="dk1"/>
              </a:solidFill>
              <a:latin typeface="Passion One"/>
              <a:ea typeface="Passion One"/>
              <a:cs typeface="Passion One"/>
              <a:sym typeface="Passion On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5" name="Shape 115"/>
        <p:cNvGrpSpPr/>
        <p:nvPr/>
      </p:nvGrpSpPr>
      <p:grpSpPr>
        <a:xfrm>
          <a:off x="0" y="0"/>
          <a:ext cx="0" cy="0"/>
          <a:chOff x="0" y="0"/>
          <a:chExt cx="0" cy="0"/>
        </a:xfrm>
      </p:grpSpPr>
      <p:sp>
        <p:nvSpPr>
          <p:cNvPr id="116" name="Google Shape;116;p19"/>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p>
            <a:pPr indent="-457200" lvl="0" marL="0" rtl="0" algn="l">
              <a:lnSpc>
                <a:spcPct val="200000"/>
              </a:lnSpc>
              <a:spcBef>
                <a:spcPts val="0"/>
              </a:spcBef>
              <a:spcAft>
                <a:spcPts val="0"/>
              </a:spcAft>
              <a:buNone/>
            </a:pPr>
            <a:r>
              <a:rPr lang="en" sz="1200">
                <a:solidFill>
                  <a:srgbClr val="000000"/>
                </a:solidFill>
                <a:latin typeface="Times New Roman"/>
                <a:ea typeface="Times New Roman"/>
                <a:cs typeface="Times New Roman"/>
                <a:sym typeface="Times New Roman"/>
              </a:rPr>
              <a:t>            Balakrishnan, K., Dey, S., Gupta, T., Dhaliwal, R. S., Brauer, M., Cohen, A. J., Stanaway, J. D., Beig, G., Joshi, T. K., Aggarwal, A. N., Sabde, Y., Sadhu, H., Frostad, J., Causey, K., Godwin, W., Shukla, D. K., Kumar, G. A., Varghese, C. M., Muraleedharan, P., . . . Dandona, L. (2018). The impact of air pollution on deaths, disease burden, and life expectancy across the states of India: the Global Burden of Disease Study 2017. </a:t>
            </a:r>
            <a:r>
              <a:rPr i="1" lang="en" sz="1200">
                <a:solidFill>
                  <a:srgbClr val="000000"/>
                </a:solidFill>
                <a:latin typeface="Times New Roman"/>
                <a:ea typeface="Times New Roman"/>
                <a:cs typeface="Times New Roman"/>
                <a:sym typeface="Times New Roman"/>
              </a:rPr>
              <a:t>The Lancet Planetary Health</a:t>
            </a:r>
            <a:r>
              <a:rPr lang="en" sz="1200">
                <a:solidFill>
                  <a:srgbClr val="000000"/>
                </a:solidFill>
                <a:latin typeface="Times New Roman"/>
                <a:ea typeface="Times New Roman"/>
                <a:cs typeface="Times New Roman"/>
                <a:sym typeface="Times New Roman"/>
              </a:rPr>
              <a:t>, </a:t>
            </a:r>
            <a:r>
              <a:rPr i="1" lang="en" sz="1200">
                <a:solidFill>
                  <a:srgbClr val="000000"/>
                </a:solidFill>
                <a:latin typeface="Times New Roman"/>
                <a:ea typeface="Times New Roman"/>
                <a:cs typeface="Times New Roman"/>
                <a:sym typeface="Times New Roman"/>
              </a:rPr>
              <a:t>3</a:t>
            </a:r>
            <a:r>
              <a:rPr lang="en" sz="1200">
                <a:solidFill>
                  <a:srgbClr val="000000"/>
                </a:solidFill>
                <a:latin typeface="Times New Roman"/>
                <a:ea typeface="Times New Roman"/>
                <a:cs typeface="Times New Roman"/>
                <a:sym typeface="Times New Roman"/>
              </a:rPr>
              <a:t>(1), e26–e39. https://doi.org/10.1016/s2542-5196(18)30261-4</a:t>
            </a:r>
            <a:endParaRPr sz="12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 name="Shape 120"/>
        <p:cNvGrpSpPr/>
        <p:nvPr/>
      </p:nvGrpSpPr>
      <p:grpSpPr>
        <a:xfrm>
          <a:off x="0" y="0"/>
          <a:ext cx="0" cy="0"/>
          <a:chOff x="0" y="0"/>
          <a:chExt cx="0" cy="0"/>
        </a:xfrm>
      </p:grpSpPr>
      <p:sp>
        <p:nvSpPr>
          <p:cNvPr id="121" name="Google Shape;121;p20"/>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p>
            <a:pPr indent="-457200" lvl="0" marL="0" rtl="0" algn="l">
              <a:lnSpc>
                <a:spcPct val="200000"/>
              </a:lnSpc>
              <a:spcBef>
                <a:spcPts val="0"/>
              </a:spcBef>
              <a:spcAft>
                <a:spcPts val="0"/>
              </a:spcAft>
              <a:buNone/>
            </a:pPr>
            <a:r>
              <a:rPr lang="en" sz="1200">
                <a:solidFill>
                  <a:srgbClr val="000000"/>
                </a:solidFill>
                <a:latin typeface="Times New Roman"/>
                <a:ea typeface="Times New Roman"/>
                <a:cs typeface="Times New Roman"/>
                <a:sym typeface="Times New Roman"/>
              </a:rPr>
              <a:t>            Sharma, D., &amp; Mauzerall, D. (2021). Analysis of Air Pollution Data in India between 2015 and 2019. </a:t>
            </a:r>
            <a:r>
              <a:rPr i="1" lang="en" sz="1200">
                <a:solidFill>
                  <a:srgbClr val="000000"/>
                </a:solidFill>
                <a:latin typeface="Times New Roman"/>
                <a:ea typeface="Times New Roman"/>
                <a:cs typeface="Times New Roman"/>
                <a:sym typeface="Times New Roman"/>
              </a:rPr>
              <a:t>Aerosol and Air Quality Research</a:t>
            </a:r>
            <a:r>
              <a:rPr lang="en" sz="1200">
                <a:solidFill>
                  <a:srgbClr val="000000"/>
                </a:solidFill>
                <a:latin typeface="Times New Roman"/>
                <a:ea typeface="Times New Roman"/>
                <a:cs typeface="Times New Roman"/>
                <a:sym typeface="Times New Roman"/>
              </a:rPr>
              <a:t>, </a:t>
            </a:r>
            <a:r>
              <a:rPr i="1" lang="en" sz="1200">
                <a:solidFill>
                  <a:srgbClr val="000000"/>
                </a:solidFill>
                <a:latin typeface="Times New Roman"/>
                <a:ea typeface="Times New Roman"/>
                <a:cs typeface="Times New Roman"/>
                <a:sym typeface="Times New Roman"/>
              </a:rPr>
              <a:t>22</a:t>
            </a:r>
            <a:r>
              <a:rPr lang="en" sz="1200">
                <a:solidFill>
                  <a:srgbClr val="000000"/>
                </a:solidFill>
                <a:latin typeface="Times New Roman"/>
                <a:ea typeface="Times New Roman"/>
                <a:cs typeface="Times New Roman"/>
                <a:sym typeface="Times New Roman"/>
              </a:rPr>
              <a:t>(2), 210204. https://doi.org/10.4209/aaqr.210204</a:t>
            </a:r>
            <a:endParaRPr sz="12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100">
                <a:solidFill>
                  <a:srgbClr val="000000"/>
                </a:solidFill>
                <a:latin typeface="Arial"/>
                <a:ea typeface="Arial"/>
                <a:cs typeface="Arial"/>
                <a:sym typeface="Arial"/>
              </a:rPr>
              <a:t>Ministry of Environment, Forest and Climate Change. (2025). </a:t>
            </a:r>
            <a:r>
              <a:rPr i="1" lang="en" sz="1200">
                <a:solidFill>
                  <a:srgbClr val="000000"/>
                </a:solidFill>
                <a:latin typeface="Roboto"/>
                <a:ea typeface="Roboto"/>
                <a:cs typeface="Roboto"/>
                <a:sym typeface="Roboto"/>
              </a:rPr>
              <a:t>National Clean Air Programme (NCAP): Progress report and fund utilization for non-attainment cities</a:t>
            </a:r>
            <a:r>
              <a:rPr lang="en" sz="1100">
                <a:solidFill>
                  <a:srgbClr val="000000"/>
                </a:solidFill>
                <a:latin typeface="Arial"/>
                <a:ea typeface="Arial"/>
                <a:cs typeface="Arial"/>
                <a:sym typeface="Arial"/>
              </a:rPr>
              <a:t> (Unstarred Question No. 1422). Rajya Sabha, Parliament of India.</a:t>
            </a:r>
            <a:endParaRPr sz="1200">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
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0907da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ed0907da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ed0907dab3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ed0907dab3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d0907dab3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d0907dab3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d0907dab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d0907dab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4a74e3e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74a74e3e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85bc4da3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e85bc4da3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d0907dab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ed0907dab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hyperlink" Target="https://en.wikipedia.org/wiki/Economy_of_North_Korea" TargetMode="External"/><Relationship Id="rId4" Type="http://schemas.openxmlformats.org/officeDocument/2006/relationships/hyperlink" Target="https://en.wikipedia.org/wiki/North_Korea_and_weapons_of_mass_destruction" TargetMode="External"/><Relationship Id="rId9" Type="http://schemas.openxmlformats.org/officeDocument/2006/relationships/image" Target="../media/image10.png"/><Relationship Id="rId5" Type="http://schemas.openxmlformats.org/officeDocument/2006/relationships/hyperlink" Target="https://www.cfr.org/global-conflict-tracker/conflict/north-korea-crisis" TargetMode="External"/><Relationship Id="rId6" Type="http://schemas.openxmlformats.org/officeDocument/2006/relationships/hyperlink" Target="https://www.investmentmonitor.ai/features/north-korea-global-isolation-investment/" TargetMode="External"/><Relationship Id="rId7" Type="http://schemas.openxmlformats.org/officeDocument/2006/relationships/hyperlink" Target="https://www.hrw.org/news/2020/01/14/north-korea-systematic-repression" TargetMode="External"/><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83" name="Google Shape;483;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4" name="Google Shape;484;p53"/>
          <p:cNvSpPr txBox="1"/>
          <p:nvPr/>
        </p:nvSpPr>
        <p:spPr>
          <a:xfrm>
            <a:off x="311700" y="484050"/>
            <a:ext cx="4025700" cy="14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200">
                <a:solidFill>
                  <a:schemeClr val="lt1"/>
                </a:solidFill>
              </a:rPr>
              <a:t>North Korea </a:t>
            </a:r>
            <a:endParaRPr b="1" sz="5200">
              <a:solidFill>
                <a:schemeClr val="lt1"/>
              </a:solidFill>
            </a:endParaRPr>
          </a:p>
        </p:txBody>
      </p:sp>
      <p:sp>
        <p:nvSpPr>
          <p:cNvPr id="485" name="Google Shape;485;p53"/>
          <p:cNvSpPr txBox="1"/>
          <p:nvPr/>
        </p:nvSpPr>
        <p:spPr>
          <a:xfrm>
            <a:off x="422300" y="1319550"/>
            <a:ext cx="36027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9900"/>
                </a:solidFill>
              </a:rPr>
              <a:t>A Global Citizenship Case Study </a:t>
            </a:r>
            <a:endParaRPr sz="1800">
              <a:solidFill>
                <a:srgbClr val="FF9900"/>
              </a:solidFill>
            </a:endParaRPr>
          </a:p>
        </p:txBody>
      </p:sp>
      <p:sp>
        <p:nvSpPr>
          <p:cNvPr id="486" name="Google Shape;486;p53"/>
          <p:cNvSpPr txBox="1"/>
          <p:nvPr/>
        </p:nvSpPr>
        <p:spPr>
          <a:xfrm>
            <a:off x="444050" y="2068350"/>
            <a:ext cx="3559200" cy="13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rPr>
              <a:t>By: </a:t>
            </a:r>
            <a:r>
              <a:rPr lang="en" sz="1300">
                <a:solidFill>
                  <a:schemeClr val="lt1"/>
                </a:solidFill>
              </a:rPr>
              <a:t>Lachlan</a:t>
            </a:r>
            <a:r>
              <a:rPr lang="en" sz="1300">
                <a:solidFill>
                  <a:schemeClr val="lt1"/>
                </a:solidFill>
              </a:rPr>
              <a:t> Mcmahon and Lachlan Mackay: </a:t>
            </a:r>
            <a:endParaRPr sz="1300">
              <a:solidFill>
                <a:schemeClr val="lt1"/>
              </a:solidFill>
            </a:endParaRPr>
          </a:p>
          <a:p>
            <a:pPr indent="0" lvl="0" marL="0" rtl="0" algn="l">
              <a:spcBef>
                <a:spcPts val="0"/>
              </a:spcBef>
              <a:spcAft>
                <a:spcPts val="0"/>
              </a:spcAft>
              <a:buNone/>
            </a:pPr>
            <a:r>
              <a:rPr lang="en" sz="1300">
                <a:solidFill>
                  <a:schemeClr val="lt1"/>
                </a:solidFill>
              </a:rPr>
              <a:t>Class: Citizenship 9 </a:t>
            </a:r>
            <a:endParaRPr sz="1300">
              <a:solidFill>
                <a:schemeClr val="lt1"/>
              </a:solidFill>
            </a:endParaRPr>
          </a:p>
          <a:p>
            <a:pPr indent="0" lvl="0" marL="0" rtl="0" algn="l">
              <a:spcBef>
                <a:spcPts val="0"/>
              </a:spcBef>
              <a:spcAft>
                <a:spcPts val="0"/>
              </a:spcAft>
              <a:buNone/>
            </a:pPr>
            <a:r>
              <a:rPr lang="en" sz="1300">
                <a:solidFill>
                  <a:schemeClr val="lt1"/>
                </a:solidFill>
              </a:rPr>
              <a:t>Issue: </a:t>
            </a:r>
            <a:r>
              <a:rPr lang="en" sz="1300">
                <a:solidFill>
                  <a:schemeClr val="lt1"/>
                </a:solidFill>
              </a:rPr>
              <a:t>Nuclear</a:t>
            </a:r>
            <a:r>
              <a:rPr lang="en" sz="1300">
                <a:solidFill>
                  <a:schemeClr val="lt1"/>
                </a:solidFill>
              </a:rPr>
              <a:t> Weapons and Isolation </a:t>
            </a:r>
            <a:endParaRPr sz="1300">
              <a:solidFill>
                <a:schemeClr val="lt1"/>
              </a:solidFill>
            </a:endParaRPr>
          </a:p>
        </p:txBody>
      </p:sp>
      <p:pic>
        <p:nvPicPr>
          <p:cNvPr id="487" name="Google Shape;487;p53"/>
          <p:cNvPicPr preferRelativeResize="0"/>
          <p:nvPr/>
        </p:nvPicPr>
        <p:blipFill>
          <a:blip r:embed="rId4">
            <a:alphaModFix/>
          </a:blip>
          <a:stretch>
            <a:fillRect/>
          </a:stretch>
        </p:blipFill>
        <p:spPr>
          <a:xfrm>
            <a:off x="5316199" y="287975"/>
            <a:ext cx="3414925" cy="4567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228600" y="228600"/>
            <a:ext cx="76161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Country Profile: North Korea</a:t>
            </a:r>
            <a:endParaRPr>
              <a:solidFill>
                <a:schemeClr val="lt1"/>
              </a:solidFill>
            </a:endParaRPr>
          </a:p>
        </p:txBody>
      </p:sp>
      <p:sp>
        <p:nvSpPr>
          <p:cNvPr id="493" name="Google Shape;493;p54"/>
          <p:cNvSpPr txBox="1"/>
          <p:nvPr>
            <p:ph idx="1" type="subTitle"/>
          </p:nvPr>
        </p:nvSpPr>
        <p:spPr>
          <a:xfrm>
            <a:off x="222300" y="92512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Who Are They, Where Are They, </a:t>
            </a:r>
            <a:r>
              <a:rPr lang="en">
                <a:solidFill>
                  <a:srgbClr val="FF9900"/>
                </a:solidFill>
                <a:latin typeface="Urbanist Medium"/>
                <a:ea typeface="Urbanist Medium"/>
                <a:cs typeface="Urbanist Medium"/>
                <a:sym typeface="Urbanist Medium"/>
              </a:rPr>
              <a:t>What's</a:t>
            </a:r>
            <a:r>
              <a:rPr lang="en">
                <a:solidFill>
                  <a:srgbClr val="FF9900"/>
                </a:solidFill>
                <a:latin typeface="Urbanist Medium"/>
                <a:ea typeface="Urbanist Medium"/>
                <a:cs typeface="Urbanist Medium"/>
                <a:sym typeface="Urbanist Medium"/>
              </a:rPr>
              <a:t> it like</a:t>
            </a:r>
            <a:endParaRPr>
              <a:solidFill>
                <a:srgbClr val="FF9900"/>
              </a:solidFill>
              <a:latin typeface="Urbanist Medium"/>
              <a:ea typeface="Urbanist Medium"/>
              <a:cs typeface="Urbanist Medium"/>
              <a:sym typeface="Urbanist Medium"/>
            </a:endParaRPr>
          </a:p>
        </p:txBody>
      </p:sp>
      <p:sp>
        <p:nvSpPr>
          <p:cNvPr id="494" name="Google Shape;494;p5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495" name="Google Shape;495;p5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6" name="Google Shape;496;p5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pic>
        <p:nvPicPr>
          <p:cNvPr id="497" name="Google Shape;497;p54"/>
          <p:cNvPicPr preferRelativeResize="0"/>
          <p:nvPr/>
        </p:nvPicPr>
        <p:blipFill>
          <a:blip r:embed="rId3">
            <a:alphaModFix/>
          </a:blip>
          <a:stretch>
            <a:fillRect/>
          </a:stretch>
        </p:blipFill>
        <p:spPr>
          <a:xfrm>
            <a:off x="4747250" y="1474475"/>
            <a:ext cx="4133600" cy="2723575"/>
          </a:xfrm>
          <a:prstGeom prst="rect">
            <a:avLst/>
          </a:prstGeom>
          <a:noFill/>
          <a:ln>
            <a:noFill/>
          </a:ln>
        </p:spPr>
      </p:pic>
      <p:sp>
        <p:nvSpPr>
          <p:cNvPr id="498" name="Google Shape;498;p54"/>
          <p:cNvSpPr txBox="1"/>
          <p:nvPr/>
        </p:nvSpPr>
        <p:spPr>
          <a:xfrm>
            <a:off x="346325" y="1688550"/>
            <a:ext cx="3841500" cy="27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Geography - North Korea is located in Asia, above South Korea, and borders the Pacific ocean.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Culture - North Korea has a VERY unique culture, where you must praise their leader,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and but his pictures </a:t>
            </a:r>
            <a:r>
              <a:rPr lang="en" sz="1200">
                <a:solidFill>
                  <a:schemeClr val="lt1"/>
                </a:solidFill>
                <a:latin typeface="Urbanist"/>
                <a:ea typeface="Urbanist"/>
                <a:cs typeface="Urbanist"/>
                <a:sym typeface="Urbanist"/>
              </a:rPr>
              <a:t>above</a:t>
            </a:r>
            <a:r>
              <a:rPr lang="en" sz="1200">
                <a:solidFill>
                  <a:schemeClr val="lt1"/>
                </a:solidFill>
                <a:latin typeface="Urbanist"/>
                <a:ea typeface="Urbanist"/>
                <a:cs typeface="Urbanist"/>
                <a:sym typeface="Urbanist"/>
              </a:rPr>
              <a:t> your own life. And if you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obey him a praise him, you will be killed.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Economy - </a:t>
            </a:r>
            <a:r>
              <a:rPr lang="en" sz="1200">
                <a:solidFill>
                  <a:schemeClr val="lt1"/>
                </a:solidFill>
                <a:latin typeface="Urbanist"/>
                <a:ea typeface="Urbanist"/>
                <a:cs typeface="Urbanist"/>
                <a:sym typeface="Urbanist"/>
              </a:rPr>
              <a:t> Since the population is heavily isolated, and controlled, Kim is heavily focused on mass </a:t>
            </a:r>
            <a:r>
              <a:rPr lang="en" sz="1200">
                <a:solidFill>
                  <a:schemeClr val="lt1"/>
                </a:solidFill>
                <a:latin typeface="Urbanist"/>
                <a:ea typeface="Urbanist"/>
                <a:cs typeface="Urbanist"/>
                <a:sym typeface="Urbanist"/>
              </a:rPr>
              <a:t>militarization, thats where majority of funds end up going. This also leads their country to have chronic food shortages, as theirs such strict rules of going in and out. </a:t>
            </a:r>
            <a:endParaRPr sz="12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5"/>
          <p:cNvSpPr txBox="1"/>
          <p:nvPr>
            <p:ph type="title"/>
          </p:nvPr>
        </p:nvSpPr>
        <p:spPr>
          <a:xfrm>
            <a:off x="228600" y="228600"/>
            <a:ext cx="8791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The Issue: Nuclear Weapons &amp; Isolation </a:t>
            </a:r>
            <a:endParaRPr>
              <a:solidFill>
                <a:schemeClr val="lt1"/>
              </a:solidFill>
            </a:endParaRPr>
          </a:p>
        </p:txBody>
      </p:sp>
      <p:sp>
        <p:nvSpPr>
          <p:cNvPr id="504" name="Google Shape;504;p55"/>
          <p:cNvSpPr txBox="1"/>
          <p:nvPr>
            <p:ph idx="1" type="subTitle"/>
          </p:nvPr>
        </p:nvSpPr>
        <p:spPr>
          <a:xfrm>
            <a:off x="297075" y="14542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Why is Nuclear Weapons &amp; Isolation a problem?</a:t>
            </a:r>
            <a:endParaRPr>
              <a:solidFill>
                <a:srgbClr val="FF9900"/>
              </a:solidFill>
              <a:latin typeface="Urbanist Medium"/>
              <a:ea typeface="Urbanist Medium"/>
              <a:cs typeface="Urbanist Medium"/>
              <a:sym typeface="Urbanist Medium"/>
            </a:endParaRPr>
          </a:p>
        </p:txBody>
      </p:sp>
      <p:sp>
        <p:nvSpPr>
          <p:cNvPr id="505" name="Google Shape;505;p5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06" name="Google Shape;506;p5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07" name="Google Shape;507;p5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08" name="Google Shape;508;p55"/>
          <p:cNvSpPr txBox="1"/>
          <p:nvPr/>
        </p:nvSpPr>
        <p:spPr>
          <a:xfrm>
            <a:off x="327425" y="2054025"/>
            <a:ext cx="39087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North Korea’s Nuclear Weapons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SInce Kim Jong Un puts so much of their </a:t>
            </a:r>
            <a:r>
              <a:rPr lang="en" sz="1200">
                <a:solidFill>
                  <a:schemeClr val="lt1"/>
                </a:solidFill>
                <a:latin typeface="Urbanist"/>
                <a:ea typeface="Urbanist"/>
                <a:cs typeface="Urbanist"/>
                <a:sym typeface="Urbanist"/>
              </a:rPr>
              <a:t>country's</a:t>
            </a:r>
            <a:r>
              <a:rPr lang="en" sz="1200">
                <a:solidFill>
                  <a:schemeClr val="lt1"/>
                </a:solidFill>
                <a:latin typeface="Urbanist"/>
                <a:ea typeface="Urbanist"/>
                <a:cs typeface="Urbanist"/>
                <a:sym typeface="Urbanist"/>
              </a:rPr>
              <a:t> funds into the military,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no shocker that they have nuclear weapons and devices.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nuclear program is classified as a “Global Security Crisis” because of the limited communication that comes from North Korea, meaning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exactly how much nuclear threats they have and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their plans are with them. Since we knows </a:t>
            </a:r>
            <a:r>
              <a:rPr lang="en" sz="1200">
                <a:solidFill>
                  <a:schemeClr val="lt1"/>
                </a:solidFill>
                <a:latin typeface="Urbanist"/>
                <a:ea typeface="Urbanist"/>
                <a:cs typeface="Urbanist"/>
                <a:sym typeface="Urbanist"/>
              </a:rPr>
              <a:t>minimal</a:t>
            </a:r>
            <a:r>
              <a:rPr lang="en" sz="1200">
                <a:solidFill>
                  <a:schemeClr val="lt1"/>
                </a:solidFill>
                <a:latin typeface="Urbanist"/>
                <a:ea typeface="Urbanist"/>
                <a:cs typeface="Urbanist"/>
                <a:sym typeface="Urbanist"/>
              </a:rPr>
              <a:t> things about their nuclear tools, other governments have initiated “</a:t>
            </a:r>
            <a:r>
              <a:rPr lang="en" sz="1200">
                <a:solidFill>
                  <a:schemeClr val="lt1"/>
                </a:solidFill>
                <a:latin typeface="Urbanist"/>
                <a:ea typeface="Urbanist"/>
                <a:cs typeface="Urbanist"/>
                <a:sym typeface="Urbanist"/>
              </a:rPr>
              <a:t>heightened</a:t>
            </a:r>
            <a:r>
              <a:rPr lang="en" sz="1200">
                <a:solidFill>
                  <a:schemeClr val="lt1"/>
                </a:solidFill>
                <a:latin typeface="Urbanist"/>
                <a:ea typeface="Urbanist"/>
                <a:cs typeface="Urbanist"/>
                <a:sym typeface="Urbanist"/>
              </a:rPr>
              <a:t> threats”  </a:t>
            </a:r>
            <a:r>
              <a:rPr lang="en" sz="1200">
                <a:solidFill>
                  <a:schemeClr val="lt1"/>
                </a:solidFill>
                <a:latin typeface="Urbanist"/>
                <a:ea typeface="Urbanist"/>
                <a:cs typeface="Urbanist"/>
                <a:sym typeface="Urbanist"/>
              </a:rPr>
              <a:t>protocols and are ready just incase North Korea tries things. </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509" name="Google Shape;509;p55"/>
          <p:cNvSpPr txBox="1"/>
          <p:nvPr/>
        </p:nvSpPr>
        <p:spPr>
          <a:xfrm>
            <a:off x="5111825" y="2054013"/>
            <a:ext cx="37443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Isolation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isolation is a global issue for 2 main reasons that connect with </a:t>
            </a:r>
            <a:r>
              <a:rPr lang="en" sz="1200">
                <a:solidFill>
                  <a:schemeClr val="lt1"/>
                </a:solidFill>
                <a:latin typeface="Urbanist"/>
                <a:ea typeface="Urbanist"/>
                <a:cs typeface="Urbanist"/>
                <a:sym typeface="Urbanist"/>
              </a:rPr>
              <a:t>each other</a:t>
            </a:r>
            <a:r>
              <a:rPr lang="en" sz="1200">
                <a:solidFill>
                  <a:schemeClr val="lt1"/>
                </a:solidFill>
                <a:latin typeface="Urbanist"/>
                <a:ea typeface="Urbanist"/>
                <a:cs typeface="Urbanist"/>
                <a:sym typeface="Urbanist"/>
              </a:rPr>
              <a:t>. Number 1 is when they are making their heavy nuclear weapons as we discussed to the left, we have no way of knowing how safe they are or anything like that. We also cant put any safety measures on them because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they are doing to make them or how they are making them. Another </a:t>
            </a:r>
            <a:r>
              <a:rPr lang="en" sz="1200">
                <a:solidFill>
                  <a:schemeClr val="lt1"/>
                </a:solidFill>
                <a:latin typeface="Urbanist"/>
                <a:ea typeface="Urbanist"/>
                <a:cs typeface="Urbanist"/>
                <a:sym typeface="Urbanist"/>
              </a:rPr>
              <a:t>reason</a:t>
            </a:r>
            <a:r>
              <a:rPr lang="en" sz="1200">
                <a:solidFill>
                  <a:schemeClr val="lt1"/>
                </a:solidFill>
                <a:latin typeface="Urbanist"/>
                <a:ea typeface="Urbanist"/>
                <a:cs typeface="Urbanist"/>
                <a:sym typeface="Urbanist"/>
              </a:rPr>
              <a:t> is because since there is no way to check if human right laws are being violated over there. This means we will never know how sever things are over there for the people, and likely will never be </a:t>
            </a:r>
            <a:r>
              <a:rPr lang="en" sz="1200">
                <a:solidFill>
                  <a:schemeClr val="lt1"/>
                </a:solidFill>
                <a:latin typeface="Urbanist"/>
                <a:ea typeface="Urbanist"/>
                <a:cs typeface="Urbanist"/>
                <a:sym typeface="Urbanist"/>
              </a:rPr>
              <a:t>able</a:t>
            </a:r>
            <a:r>
              <a:rPr lang="en" sz="1200">
                <a:solidFill>
                  <a:schemeClr val="lt1"/>
                </a:solidFill>
                <a:latin typeface="Urbanist"/>
                <a:ea typeface="Urbanist"/>
                <a:cs typeface="Urbanist"/>
                <a:sym typeface="Urbanist"/>
              </a:rPr>
              <a:t> to.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6"/>
          <p:cNvSpPr/>
          <p:nvPr/>
        </p:nvSpPr>
        <p:spPr>
          <a:xfrm>
            <a:off x="205050" y="1101100"/>
            <a:ext cx="8640000" cy="31092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5" name="Google Shape;515;p5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516" name="Google Shape;516;p5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517" name="Google Shape;517;p5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18" name="Google Shape;518;p56"/>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Actions</a:t>
            </a:r>
            <a:endParaRPr/>
          </a:p>
        </p:txBody>
      </p:sp>
      <p:sp>
        <p:nvSpPr>
          <p:cNvPr id="519" name="Google Shape;519;p56"/>
          <p:cNvSpPr txBox="1"/>
          <p:nvPr/>
        </p:nvSpPr>
        <p:spPr>
          <a:xfrm>
            <a:off x="471450" y="1464550"/>
            <a:ext cx="8085000" cy="23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lt1"/>
                </a:solidFill>
                <a:latin typeface="Urbanist"/>
                <a:ea typeface="Urbanist"/>
                <a:cs typeface="Urbanist"/>
                <a:sym typeface="Urbanist"/>
              </a:rPr>
              <a:t>North</a:t>
            </a:r>
            <a:r>
              <a:rPr lang="en" sz="1250">
                <a:solidFill>
                  <a:schemeClr val="lt1"/>
                </a:solidFill>
                <a:latin typeface="Urbanist"/>
                <a:ea typeface="Urbanist"/>
                <a:cs typeface="Urbanist"/>
                <a:sym typeface="Urbanist"/>
              </a:rPr>
              <a:t> </a:t>
            </a:r>
            <a:r>
              <a:rPr lang="en" sz="1250">
                <a:solidFill>
                  <a:schemeClr val="lt1"/>
                </a:solidFill>
                <a:latin typeface="Urbanist"/>
                <a:ea typeface="Urbanist"/>
                <a:cs typeface="Urbanist"/>
                <a:sym typeface="Urbanist"/>
              </a:rPr>
              <a:t>Korea's</a:t>
            </a:r>
            <a:r>
              <a:rPr lang="en" sz="1250">
                <a:solidFill>
                  <a:schemeClr val="lt1"/>
                </a:solidFill>
                <a:latin typeface="Urbanist"/>
                <a:ea typeface="Urbanist"/>
                <a:cs typeface="Urbanist"/>
                <a:sym typeface="Urbanist"/>
              </a:rPr>
              <a:t> goal </a:t>
            </a:r>
            <a:r>
              <a:rPr lang="en" sz="1250">
                <a:solidFill>
                  <a:schemeClr val="lt1"/>
                </a:solidFill>
                <a:latin typeface="Urbanist"/>
                <a:ea typeface="Urbanist"/>
                <a:cs typeface="Urbanist"/>
                <a:sym typeface="Urbanist"/>
              </a:rPr>
              <a:t>isn't</a:t>
            </a:r>
            <a:r>
              <a:rPr lang="en" sz="1250">
                <a:solidFill>
                  <a:schemeClr val="lt1"/>
                </a:solidFill>
                <a:latin typeface="Urbanist"/>
                <a:ea typeface="Urbanist"/>
                <a:cs typeface="Urbanist"/>
                <a:sym typeface="Urbanist"/>
              </a:rPr>
              <a:t> to fix their corrupt country, their goal is to keep it the same, but trick other countries into believing its not corrupt, Kim </a:t>
            </a:r>
            <a:r>
              <a:rPr lang="en" sz="1250">
                <a:solidFill>
                  <a:schemeClr val="lt1"/>
                </a:solidFill>
                <a:latin typeface="Urbanist"/>
                <a:ea typeface="Urbanist"/>
                <a:cs typeface="Urbanist"/>
                <a:sym typeface="Urbanist"/>
              </a:rPr>
              <a:t>Jong</a:t>
            </a:r>
            <a:r>
              <a:rPr lang="en" sz="1250">
                <a:solidFill>
                  <a:schemeClr val="lt1"/>
                </a:solidFill>
                <a:latin typeface="Urbanist"/>
                <a:ea typeface="Urbanist"/>
                <a:cs typeface="Urbanist"/>
                <a:sym typeface="Urbanist"/>
              </a:rPr>
              <a:t> Un has taken actions by </a:t>
            </a:r>
            <a:r>
              <a:rPr lang="en" sz="1250">
                <a:solidFill>
                  <a:schemeClr val="lt1"/>
                </a:solidFill>
                <a:latin typeface="Urbanist"/>
                <a:ea typeface="Urbanist"/>
                <a:cs typeface="Urbanist"/>
                <a:sym typeface="Urbanist"/>
              </a:rPr>
              <a:t>attaching</a:t>
            </a:r>
            <a:r>
              <a:rPr lang="en" sz="1250">
                <a:solidFill>
                  <a:schemeClr val="lt1"/>
                </a:solidFill>
                <a:latin typeface="Urbanist"/>
                <a:ea typeface="Urbanist"/>
                <a:cs typeface="Urbanist"/>
                <a:sym typeface="Urbanist"/>
              </a:rPr>
              <a:t> ties with asian countries such as vietnam and </a:t>
            </a:r>
            <a:r>
              <a:rPr lang="en" sz="1250">
                <a:solidFill>
                  <a:schemeClr val="lt1"/>
                </a:solidFill>
                <a:latin typeface="Urbanist"/>
                <a:ea typeface="Urbanist"/>
                <a:cs typeface="Urbanist"/>
                <a:sym typeface="Urbanist"/>
              </a:rPr>
              <a:t>Indonesia. The only reason these countries agree to spread the good words about North Korea is because they are promised better healthcare and more food and goods. This is an issue for these high population countries, because the people actually believe it and are actually spreading the word. Another action North Korea has done in attempt to get the world off its back, is by reopening the borders to certain  Russian and China tourism to get these large countries and large populations to see the “good” in the country, while hiding the bad. </a:t>
            </a:r>
            <a:endParaRPr sz="1250">
              <a:solidFill>
                <a:schemeClr val="lt1"/>
              </a:solidFill>
              <a:latin typeface="Urbanist"/>
              <a:ea typeface="Urbanist"/>
              <a:cs typeface="Urbanist"/>
              <a:sym typeface="Urbanist"/>
            </a:endParaRPr>
          </a:p>
        </p:txBody>
      </p:sp>
      <p:pic>
        <p:nvPicPr>
          <p:cNvPr descr="File:Border USA Mexico.jpg - Wikipedia" id="520" name="Google Shape;520;p56"/>
          <p:cNvPicPr preferRelativeResize="0"/>
          <p:nvPr/>
        </p:nvPicPr>
        <p:blipFill>
          <a:blip r:embed="rId3">
            <a:alphaModFix/>
          </a:blip>
          <a:stretch>
            <a:fillRect/>
          </a:stretch>
        </p:blipFill>
        <p:spPr>
          <a:xfrm>
            <a:off x="5929974" y="3041476"/>
            <a:ext cx="2626473" cy="1805700"/>
          </a:xfrm>
          <a:prstGeom prst="rect">
            <a:avLst/>
          </a:prstGeom>
          <a:noFill/>
          <a:ln>
            <a:noFill/>
          </a:ln>
        </p:spPr>
      </p:pic>
      <p:pic>
        <p:nvPicPr>
          <p:cNvPr descr="Close-Up of Handshake (Provided by Getty Images)" id="521" name="Google Shape;521;p56"/>
          <p:cNvPicPr preferRelativeResize="0"/>
          <p:nvPr/>
        </p:nvPicPr>
        <p:blipFill>
          <a:blip r:embed="rId4">
            <a:alphaModFix/>
          </a:blip>
          <a:stretch>
            <a:fillRect/>
          </a:stretch>
        </p:blipFill>
        <p:spPr>
          <a:xfrm>
            <a:off x="3898300" y="3104762"/>
            <a:ext cx="1679124" cy="1679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7"/>
          <p:cNvSpPr/>
          <p:nvPr/>
        </p:nvSpPr>
        <p:spPr>
          <a:xfrm>
            <a:off x="2286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7" name="Google Shape;527;p57"/>
          <p:cNvSpPr/>
          <p:nvPr/>
        </p:nvSpPr>
        <p:spPr>
          <a:xfrm>
            <a:off x="24237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8" name="Google Shape;528;p57"/>
          <p:cNvSpPr/>
          <p:nvPr/>
        </p:nvSpPr>
        <p:spPr>
          <a:xfrm>
            <a:off x="46188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9" name="Google Shape;529;p57"/>
          <p:cNvSpPr/>
          <p:nvPr/>
        </p:nvSpPr>
        <p:spPr>
          <a:xfrm>
            <a:off x="68139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0" name="Google Shape;530;p5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31" name="Google Shape;531;p5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32" name="Google Shape;532;p5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33" name="Google Shape;533;p57"/>
          <p:cNvSpPr txBox="1"/>
          <p:nvPr>
            <p:ph idx="5" type="subTitle"/>
          </p:nvPr>
        </p:nvSpPr>
        <p:spPr>
          <a:xfrm>
            <a:off x="369800" y="189660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4" name="Google Shape;534;p57"/>
          <p:cNvSpPr txBox="1"/>
          <p:nvPr>
            <p:ph idx="6" type="subTitle"/>
          </p:nvPr>
        </p:nvSpPr>
        <p:spPr>
          <a:xfrm>
            <a:off x="3982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alliances </a:t>
            </a:r>
            <a:endParaRPr/>
          </a:p>
        </p:txBody>
      </p:sp>
      <p:sp>
        <p:nvSpPr>
          <p:cNvPr id="535" name="Google Shape;535;p57"/>
          <p:cNvSpPr txBox="1"/>
          <p:nvPr>
            <p:ph idx="7" type="body"/>
          </p:nvPr>
        </p:nvSpPr>
        <p:spPr>
          <a:xfrm>
            <a:off x="369675"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With Russia, China, </a:t>
            </a:r>
            <a:r>
              <a:rPr lang="en"/>
              <a:t>Indonesia</a:t>
            </a:r>
            <a:r>
              <a:rPr lang="en"/>
              <a:t>, and Vietnam making deals with North Korea to keep quiet about the bad and talk about the good, citizens of those </a:t>
            </a:r>
            <a:r>
              <a:rPr lang="en"/>
              <a:t>countries</a:t>
            </a:r>
            <a:r>
              <a:rPr lang="en"/>
              <a:t> are believing it to be the truth</a:t>
            </a:r>
            <a:endParaRPr/>
          </a:p>
        </p:txBody>
      </p:sp>
      <p:sp>
        <p:nvSpPr>
          <p:cNvPr id="536" name="Google Shape;536;p57"/>
          <p:cNvSpPr txBox="1"/>
          <p:nvPr>
            <p:ph idx="9" type="subTitle"/>
          </p:nvPr>
        </p:nvSpPr>
        <p:spPr>
          <a:xfrm>
            <a:off x="25933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7" name="Google Shape;537;p57"/>
          <p:cNvSpPr txBox="1"/>
          <p:nvPr>
            <p:ph idx="13" type="subTitle"/>
          </p:nvPr>
        </p:nvSpPr>
        <p:spPr>
          <a:xfrm>
            <a:off x="2593350" y="2250275"/>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population support</a:t>
            </a:r>
            <a:endParaRPr/>
          </a:p>
        </p:txBody>
      </p:sp>
      <p:sp>
        <p:nvSpPr>
          <p:cNvPr id="538" name="Google Shape;538;p57"/>
          <p:cNvSpPr txBox="1"/>
          <p:nvPr>
            <p:ph idx="14" type="body"/>
          </p:nvPr>
        </p:nvSpPr>
        <p:spPr>
          <a:xfrm>
            <a:off x="2603550" y="2855250"/>
            <a:ext cx="17415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widespread population, of a total of 4 countries saying North Korea is all good, this is over 1 billion people in total who are being told this, North Korea knows that this is ⅛ of the population, his plan seems to be working.</a:t>
            </a:r>
            <a:endParaRPr/>
          </a:p>
        </p:txBody>
      </p:sp>
      <p:sp>
        <p:nvSpPr>
          <p:cNvPr id="539" name="Google Shape;539;p57"/>
          <p:cNvSpPr txBox="1"/>
          <p:nvPr>
            <p:ph idx="16" type="subTitle"/>
          </p:nvPr>
        </p:nvSpPr>
        <p:spPr>
          <a:xfrm>
            <a:off x="4788450" y="1896608"/>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0" name="Google Shape;540;p57"/>
          <p:cNvSpPr txBox="1"/>
          <p:nvPr>
            <p:ph idx="17" type="subTitle"/>
          </p:nvPr>
        </p:nvSpPr>
        <p:spPr>
          <a:xfrm>
            <a:off x="47884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Looks like </a:t>
            </a:r>
            <a:r>
              <a:rPr lang="en"/>
              <a:t>they're</a:t>
            </a:r>
            <a:r>
              <a:rPr lang="en"/>
              <a:t> hiding </a:t>
            </a:r>
            <a:r>
              <a:rPr lang="en"/>
              <a:t>something</a:t>
            </a:r>
            <a:endParaRPr/>
          </a:p>
        </p:txBody>
      </p:sp>
      <p:sp>
        <p:nvSpPr>
          <p:cNvPr id="541" name="Google Shape;541;p57"/>
          <p:cNvSpPr txBox="1"/>
          <p:nvPr>
            <p:ph idx="18" type="body"/>
          </p:nvPr>
        </p:nvSpPr>
        <p:spPr>
          <a:xfrm>
            <a:off x="47884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all these under the table deals being made to keep quiet, it raises even more </a:t>
            </a:r>
            <a:r>
              <a:rPr lang="en"/>
              <a:t>suspicious</a:t>
            </a:r>
            <a:r>
              <a:rPr lang="en"/>
              <a:t> about what </a:t>
            </a:r>
            <a:r>
              <a:rPr lang="en"/>
              <a:t>really</a:t>
            </a:r>
            <a:r>
              <a:rPr lang="en"/>
              <a:t> goes on behind those borders, leaving more people to believe </a:t>
            </a:r>
            <a:r>
              <a:rPr lang="en"/>
              <a:t>it's</a:t>
            </a:r>
            <a:r>
              <a:rPr lang="en"/>
              <a:t> heavy </a:t>
            </a:r>
            <a:r>
              <a:rPr lang="en"/>
              <a:t>illegal</a:t>
            </a:r>
            <a:r>
              <a:rPr lang="en"/>
              <a:t> </a:t>
            </a:r>
            <a:r>
              <a:rPr lang="en"/>
              <a:t>business, and human rights violations. </a:t>
            </a:r>
            <a:endParaRPr/>
          </a:p>
        </p:txBody>
      </p:sp>
      <p:sp>
        <p:nvSpPr>
          <p:cNvPr id="542" name="Google Shape;542;p57"/>
          <p:cNvSpPr txBox="1"/>
          <p:nvPr>
            <p:ph idx="20" type="subTitle"/>
          </p:nvPr>
        </p:nvSpPr>
        <p:spPr>
          <a:xfrm>
            <a:off x="69835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3" name="Google Shape;543;p57"/>
          <p:cNvSpPr txBox="1"/>
          <p:nvPr>
            <p:ph idx="21" type="subTitle"/>
          </p:nvPr>
        </p:nvSpPr>
        <p:spPr>
          <a:xfrm>
            <a:off x="69835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More potential </a:t>
            </a:r>
            <a:r>
              <a:rPr lang="en"/>
              <a:t>whistleblowers</a:t>
            </a:r>
            <a:endParaRPr/>
          </a:p>
        </p:txBody>
      </p:sp>
      <p:sp>
        <p:nvSpPr>
          <p:cNvPr id="544" name="Google Shape;544;p57"/>
          <p:cNvSpPr txBox="1"/>
          <p:nvPr>
            <p:ph idx="22" type="body"/>
          </p:nvPr>
        </p:nvSpPr>
        <p:spPr>
          <a:xfrm>
            <a:off x="69937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The more people you have on your side being told your secret (high ups in China, </a:t>
            </a:r>
            <a:r>
              <a:rPr lang="en"/>
              <a:t>Indonesia, Russia, Vietnam) the more people there is too spill it. Many things e know about North Korea is through whistle blowers, which Kim can't really stop. </a:t>
            </a:r>
            <a:endParaRPr/>
          </a:p>
        </p:txBody>
      </p:sp>
      <p:sp>
        <p:nvSpPr>
          <p:cNvPr id="545" name="Google Shape;545;p57"/>
          <p:cNvSpPr txBox="1"/>
          <p:nvPr/>
        </p:nvSpPr>
        <p:spPr>
          <a:xfrm>
            <a:off x="426700" y="1041900"/>
            <a:ext cx="4129200" cy="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INTENDED CONSEQUENCES </a:t>
            </a:r>
            <a:endParaRPr sz="2300">
              <a:solidFill>
                <a:schemeClr val="lt1"/>
              </a:solidFill>
              <a:latin typeface="Urbanist"/>
              <a:ea typeface="Urbanist"/>
              <a:cs typeface="Urbanist"/>
              <a:sym typeface="Urbanist"/>
            </a:endParaRPr>
          </a:p>
        </p:txBody>
      </p:sp>
      <p:sp>
        <p:nvSpPr>
          <p:cNvPr id="546" name="Google Shape;546;p57"/>
          <p:cNvSpPr txBox="1"/>
          <p:nvPr/>
        </p:nvSpPr>
        <p:spPr>
          <a:xfrm>
            <a:off x="4695100" y="1041900"/>
            <a:ext cx="4220100" cy="5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UN</a:t>
            </a:r>
            <a:r>
              <a:rPr lang="en" sz="2300">
                <a:solidFill>
                  <a:schemeClr val="lt1"/>
                </a:solidFill>
                <a:latin typeface="Urbanist"/>
                <a:ea typeface="Urbanist"/>
                <a:cs typeface="Urbanist"/>
                <a:sym typeface="Urbanist"/>
              </a:rPr>
              <a:t>INTENDED</a:t>
            </a:r>
            <a:r>
              <a:rPr lang="en" sz="2300">
                <a:solidFill>
                  <a:schemeClr val="lt1"/>
                </a:solidFill>
                <a:latin typeface="Urbanist"/>
                <a:ea typeface="Urbanist"/>
                <a:cs typeface="Urbanist"/>
                <a:sym typeface="Urbanist"/>
              </a:rPr>
              <a:t> CONSEQUENCES </a:t>
            </a:r>
            <a:endParaRPr sz="23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2" name="Google Shape;552;p5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3" name="Google Shape;553;p5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54" name="Google Shape;554;p5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Canada's</a:t>
            </a:r>
            <a:r>
              <a:rPr lang="en"/>
              <a:t> </a:t>
            </a:r>
            <a:r>
              <a:rPr lang="en"/>
              <a:t>response</a:t>
            </a:r>
            <a:r>
              <a:rPr lang="en"/>
              <a:t> to North </a:t>
            </a:r>
            <a:r>
              <a:rPr lang="en"/>
              <a:t>Korea's</a:t>
            </a:r>
            <a:r>
              <a:rPr lang="en"/>
              <a:t> action</a:t>
            </a:r>
            <a:endParaRPr/>
          </a:p>
        </p:txBody>
      </p:sp>
      <p:sp>
        <p:nvSpPr>
          <p:cNvPr id="555" name="Google Shape;555;p58"/>
          <p:cNvSpPr txBox="1"/>
          <p:nvPr/>
        </p:nvSpPr>
        <p:spPr>
          <a:xfrm>
            <a:off x="356100" y="1793625"/>
            <a:ext cx="5024700" cy="26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Canada </a:t>
            </a:r>
            <a:r>
              <a:rPr lang="en" sz="1200">
                <a:solidFill>
                  <a:schemeClr val="lt1"/>
                </a:solidFill>
                <a:latin typeface="Urbanist"/>
                <a:ea typeface="Urbanist"/>
                <a:cs typeface="Urbanist"/>
                <a:sym typeface="Urbanist"/>
              </a:rPr>
              <a:t>can't</a:t>
            </a:r>
            <a:r>
              <a:rPr lang="en" sz="1200">
                <a:solidFill>
                  <a:schemeClr val="lt1"/>
                </a:solidFill>
                <a:latin typeface="Urbanist"/>
                <a:ea typeface="Urbanist"/>
                <a:cs typeface="Urbanist"/>
                <a:sym typeface="Urbanist"/>
              </a:rPr>
              <a:t> really do all that much for these issues, but we’re </a:t>
            </a:r>
            <a:r>
              <a:rPr lang="en" sz="1200">
                <a:solidFill>
                  <a:schemeClr val="lt1"/>
                </a:solidFill>
                <a:latin typeface="Urbanist"/>
                <a:ea typeface="Urbanist"/>
                <a:cs typeface="Urbanist"/>
                <a:sym typeface="Urbanist"/>
              </a:rPr>
              <a:t>doing</a:t>
            </a:r>
            <a:r>
              <a:rPr lang="en" sz="1200">
                <a:solidFill>
                  <a:schemeClr val="lt1"/>
                </a:solidFill>
                <a:latin typeface="Urbanist"/>
                <a:ea typeface="Urbanist"/>
                <a:cs typeface="Urbanist"/>
                <a:sym typeface="Urbanist"/>
              </a:rPr>
              <a:t> the best we can. This includes creating international connections with countries all over the world, leaving a trace of security and potential information they may have that can benefit us to protect ourselves. We also have deployed Navy and </a:t>
            </a:r>
            <a:r>
              <a:rPr lang="en" sz="1200">
                <a:solidFill>
                  <a:schemeClr val="lt1"/>
                </a:solidFill>
                <a:latin typeface="Urbanist"/>
                <a:ea typeface="Urbanist"/>
                <a:cs typeface="Urbanist"/>
                <a:sym typeface="Urbanist"/>
              </a:rPr>
              <a:t>AIrcraft</a:t>
            </a:r>
            <a:r>
              <a:rPr lang="en" sz="1200">
                <a:solidFill>
                  <a:schemeClr val="lt1"/>
                </a:solidFill>
                <a:latin typeface="Urbanist"/>
                <a:ea typeface="Urbanist"/>
                <a:cs typeface="Urbanist"/>
                <a:sym typeface="Urbanist"/>
              </a:rPr>
              <a:t> vessels to monitor any illegal transactions of </a:t>
            </a:r>
            <a:r>
              <a:rPr lang="en" sz="1200">
                <a:solidFill>
                  <a:schemeClr val="lt1"/>
                </a:solidFill>
                <a:latin typeface="Urbanist"/>
                <a:ea typeface="Urbanist"/>
                <a:cs typeface="Urbanist"/>
                <a:sym typeface="Urbanist"/>
              </a:rPr>
              <a:t>illegal</a:t>
            </a:r>
            <a:r>
              <a:rPr lang="en" sz="1200">
                <a:solidFill>
                  <a:schemeClr val="lt1"/>
                </a:solidFill>
                <a:latin typeface="Urbanist"/>
                <a:ea typeface="Urbanist"/>
                <a:cs typeface="Urbanist"/>
                <a:sym typeface="Urbanist"/>
              </a:rPr>
              <a:t> goods being imported or exported into/out of North Korea. </a:t>
            </a:r>
            <a:r>
              <a:rPr lang="en" sz="1200">
                <a:solidFill>
                  <a:schemeClr val="lt1"/>
                </a:solidFill>
                <a:latin typeface="Urbanist"/>
                <a:ea typeface="Urbanist"/>
                <a:cs typeface="Urbanist"/>
                <a:sym typeface="Urbanist"/>
              </a:rPr>
              <a:t>That's</a:t>
            </a:r>
            <a:r>
              <a:rPr lang="en" sz="1200">
                <a:solidFill>
                  <a:schemeClr val="lt1"/>
                </a:solidFill>
                <a:latin typeface="Urbanist"/>
                <a:ea typeface="Urbanist"/>
                <a:cs typeface="Urbanist"/>
                <a:sym typeface="Urbanist"/>
              </a:rPr>
              <a:t> the most we can do as we don’t have </a:t>
            </a:r>
            <a:r>
              <a:rPr lang="en" sz="1200">
                <a:solidFill>
                  <a:schemeClr val="lt1"/>
                </a:solidFill>
                <a:latin typeface="Urbanist"/>
                <a:ea typeface="Urbanist"/>
                <a:cs typeface="Urbanist"/>
                <a:sym typeface="Urbanist"/>
              </a:rPr>
              <a:t>a lot</a:t>
            </a:r>
            <a:r>
              <a:rPr lang="en" sz="1200">
                <a:solidFill>
                  <a:schemeClr val="lt1"/>
                </a:solidFill>
                <a:latin typeface="Urbanist"/>
                <a:ea typeface="Urbanist"/>
                <a:cs typeface="Urbanist"/>
                <a:sym typeface="Urbanist"/>
              </a:rPr>
              <a:t> of power as to stop them or change things </a:t>
            </a:r>
            <a:endParaRPr sz="1200">
              <a:solidFill>
                <a:schemeClr val="lt1"/>
              </a:solidFill>
              <a:latin typeface="Urbanist"/>
              <a:ea typeface="Urbanist"/>
              <a:cs typeface="Urbanist"/>
              <a:sym typeface="Urbanist"/>
            </a:endParaRPr>
          </a:p>
        </p:txBody>
      </p:sp>
      <p:pic>
        <p:nvPicPr>
          <p:cNvPr descr="Fasciculus:Kim Jong-un April 2019 (cropped).jpg - Vicipaedia" id="556" name="Google Shape;556;p58"/>
          <p:cNvPicPr preferRelativeResize="0"/>
          <p:nvPr/>
        </p:nvPicPr>
        <p:blipFill>
          <a:blip r:embed="rId3">
            <a:alphaModFix/>
          </a:blip>
          <a:stretch>
            <a:fillRect/>
          </a:stretch>
        </p:blipFill>
        <p:spPr>
          <a:xfrm>
            <a:off x="5592625" y="857950"/>
            <a:ext cx="3485450" cy="37518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idx="1" type="subTitle"/>
          </p:nvPr>
        </p:nvSpPr>
        <p:spPr>
          <a:xfrm>
            <a:off x="222300" y="14750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9900"/>
                </a:solidFill>
              </a:rPr>
              <a:t>Canadian Concerns</a:t>
            </a:r>
            <a:endParaRPr>
              <a:solidFill>
                <a:srgbClr val="FF9900"/>
              </a:solidFill>
            </a:endParaRPr>
          </a:p>
        </p:txBody>
      </p:sp>
      <p:sp>
        <p:nvSpPr>
          <p:cNvPr id="562" name="Google Shape;562;p5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3" name="Google Shape;563;p5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4" name="Google Shape;564;p5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65" name="Google Shape;565;p59"/>
          <p:cNvSpPr txBox="1"/>
          <p:nvPr>
            <p:ph type="title"/>
          </p:nvPr>
        </p:nvSpPr>
        <p:spPr>
          <a:xfrm>
            <a:off x="2223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Should Canadians Care?</a:t>
            </a:r>
            <a:endParaRPr/>
          </a:p>
        </p:txBody>
      </p:sp>
      <p:sp>
        <p:nvSpPr>
          <p:cNvPr id="566" name="Google Shape;566;p59"/>
          <p:cNvSpPr txBox="1"/>
          <p:nvPr/>
        </p:nvSpPr>
        <p:spPr>
          <a:xfrm>
            <a:off x="320625" y="2012250"/>
            <a:ext cx="4800600" cy="26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Many Canadians think this is no personal concern to them or their peers, but this is not </a:t>
            </a:r>
            <a:r>
              <a:rPr lang="en" sz="1200">
                <a:solidFill>
                  <a:schemeClr val="lt1"/>
                </a:solidFill>
                <a:latin typeface="Urbanist"/>
                <a:ea typeface="Urbanist"/>
                <a:cs typeface="Urbanist"/>
                <a:sym typeface="Urbanist"/>
              </a:rPr>
              <a:t>entirely</a:t>
            </a:r>
            <a:r>
              <a:rPr lang="en" sz="1200">
                <a:solidFill>
                  <a:schemeClr val="lt1"/>
                </a:solidFill>
                <a:latin typeface="Urbanist"/>
                <a:ea typeface="Urbanist"/>
                <a:cs typeface="Urbanist"/>
                <a:sym typeface="Urbanist"/>
              </a:rPr>
              <a:t> true. As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has the </a:t>
            </a:r>
            <a:r>
              <a:rPr lang="en" sz="1200">
                <a:solidFill>
                  <a:schemeClr val="lt1"/>
                </a:solidFill>
                <a:latin typeface="Urbanist"/>
                <a:ea typeface="Urbanist"/>
                <a:cs typeface="Urbanist"/>
                <a:sym typeface="Urbanist"/>
              </a:rPr>
              <a:t>unauthorized</a:t>
            </a:r>
            <a:r>
              <a:rPr lang="en" sz="1200">
                <a:solidFill>
                  <a:schemeClr val="lt1"/>
                </a:solidFill>
                <a:latin typeface="Urbanist"/>
                <a:ea typeface="Urbanist"/>
                <a:cs typeface="Urbanist"/>
                <a:sym typeface="Urbanist"/>
              </a:rPr>
              <a:t> power to  nuclear and military forces that can do dangerous things. He also has a very strong connection to Russia and Putin, and </a:t>
            </a:r>
            <a:r>
              <a:rPr lang="en" sz="1200">
                <a:solidFill>
                  <a:schemeClr val="lt1"/>
                </a:solidFill>
                <a:latin typeface="Urbanist"/>
                <a:ea typeface="Urbanist"/>
                <a:cs typeface="Urbanist"/>
                <a:sym typeface="Urbanist"/>
              </a:rPr>
              <a:t>Russia's</a:t>
            </a:r>
            <a:r>
              <a:rPr lang="en" sz="1200">
                <a:solidFill>
                  <a:schemeClr val="lt1"/>
                </a:solidFill>
                <a:latin typeface="Urbanist"/>
                <a:ea typeface="Urbanist"/>
                <a:cs typeface="Urbanist"/>
                <a:sym typeface="Urbanist"/>
              </a:rPr>
              <a:t> military is one of the strongest on the globe, so if at anypoint Kim decides he </a:t>
            </a:r>
            <a:r>
              <a:rPr lang="en" sz="1200">
                <a:solidFill>
                  <a:schemeClr val="lt1"/>
                </a:solidFill>
                <a:latin typeface="Urbanist"/>
                <a:ea typeface="Urbanist"/>
                <a:cs typeface="Urbanist"/>
                <a:sym typeface="Urbanist"/>
              </a:rPr>
              <a:t>doesn't</a:t>
            </a:r>
            <a:r>
              <a:rPr lang="en" sz="1200">
                <a:solidFill>
                  <a:schemeClr val="lt1"/>
                </a:solidFill>
                <a:latin typeface="Urbanist"/>
                <a:ea typeface="Urbanist"/>
                <a:cs typeface="Urbanist"/>
                <a:sym typeface="Urbanist"/>
              </a:rPr>
              <a:t> want us around, or sees us a threat or anything like that, he can grab his biggest alliance, Russia, and they could </a:t>
            </a:r>
            <a:r>
              <a:rPr lang="en" sz="1200">
                <a:solidFill>
                  <a:schemeClr val="lt1"/>
                </a:solidFill>
                <a:latin typeface="Urbanist"/>
                <a:ea typeface="Urbanist"/>
                <a:cs typeface="Urbanist"/>
                <a:sym typeface="Urbanist"/>
              </a:rPr>
              <a:t>attempt</a:t>
            </a:r>
            <a:r>
              <a:rPr lang="en" sz="1200">
                <a:solidFill>
                  <a:schemeClr val="lt1"/>
                </a:solidFill>
                <a:latin typeface="Urbanist"/>
                <a:ea typeface="Urbanist"/>
                <a:cs typeface="Urbanist"/>
                <a:sym typeface="Urbanist"/>
              </a:rPr>
              <a:t> to attack us. Now Canada has strong alliances, just as strong if not stronger </a:t>
            </a:r>
            <a:r>
              <a:rPr lang="en" sz="1200">
                <a:solidFill>
                  <a:schemeClr val="lt1"/>
                </a:solidFill>
                <a:latin typeface="Urbanist"/>
                <a:ea typeface="Urbanist"/>
                <a:cs typeface="Urbanist"/>
                <a:sym typeface="Urbanist"/>
              </a:rPr>
              <a:t>than</a:t>
            </a:r>
            <a:r>
              <a:rPr lang="en" sz="1200">
                <a:solidFill>
                  <a:schemeClr val="lt1"/>
                </a:solidFill>
                <a:latin typeface="Urbanist"/>
                <a:ea typeface="Urbanist"/>
                <a:cs typeface="Urbanist"/>
                <a:sym typeface="Urbanist"/>
              </a:rPr>
              <a:t>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but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still a </a:t>
            </a:r>
            <a:r>
              <a:rPr lang="en" sz="1200">
                <a:solidFill>
                  <a:schemeClr val="lt1"/>
                </a:solidFill>
                <a:latin typeface="Urbanist"/>
                <a:ea typeface="Urbanist"/>
                <a:cs typeface="Urbanist"/>
                <a:sym typeface="Urbanist"/>
              </a:rPr>
              <a:t>threatening</a:t>
            </a:r>
            <a:r>
              <a:rPr lang="en" sz="1200">
                <a:solidFill>
                  <a:schemeClr val="lt1"/>
                </a:solidFill>
                <a:latin typeface="Urbanist"/>
                <a:ea typeface="Urbanist"/>
                <a:cs typeface="Urbanist"/>
                <a:sym typeface="Urbanist"/>
              </a:rPr>
              <a:t> thing to us, that they have such power that we know nothing about. </a:t>
            </a:r>
            <a:endParaRPr sz="1200">
              <a:solidFill>
                <a:schemeClr val="lt1"/>
              </a:solidFill>
              <a:latin typeface="Urbanist"/>
              <a:ea typeface="Urbanist"/>
              <a:cs typeface="Urbanist"/>
              <a:sym typeface="Urbanist"/>
            </a:endParaRPr>
          </a:p>
        </p:txBody>
      </p:sp>
      <p:pic>
        <p:nvPicPr>
          <p:cNvPr id="567" name="Google Shape;567;p59"/>
          <p:cNvPicPr preferRelativeResize="0"/>
          <p:nvPr/>
        </p:nvPicPr>
        <p:blipFill>
          <a:blip r:embed="rId3">
            <a:alphaModFix/>
          </a:blip>
          <a:stretch>
            <a:fillRect/>
          </a:stretch>
        </p:blipFill>
        <p:spPr>
          <a:xfrm>
            <a:off x="5003750" y="842307"/>
            <a:ext cx="4140251" cy="1517500"/>
          </a:xfrm>
          <a:prstGeom prst="rect">
            <a:avLst/>
          </a:prstGeom>
          <a:noFill/>
          <a:ln>
            <a:noFill/>
          </a:ln>
        </p:spPr>
      </p:pic>
      <p:pic>
        <p:nvPicPr>
          <p:cNvPr id="568" name="Google Shape;568;p59"/>
          <p:cNvPicPr preferRelativeResize="0"/>
          <p:nvPr/>
        </p:nvPicPr>
        <p:blipFill>
          <a:blip r:embed="rId4">
            <a:alphaModFix/>
          </a:blip>
          <a:stretch>
            <a:fillRect/>
          </a:stretch>
        </p:blipFill>
        <p:spPr>
          <a:xfrm>
            <a:off x="5471475" y="2516082"/>
            <a:ext cx="2821407" cy="20113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74" name="Google Shape;574;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75" name="Google Shape;575;p60"/>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576" name="Google Shape;576;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6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78" name="Google Shape;578;p60"/>
          <p:cNvSpPr txBox="1"/>
          <p:nvPr/>
        </p:nvSpPr>
        <p:spPr>
          <a:xfrm>
            <a:off x="394125" y="1007250"/>
            <a:ext cx="3000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3">
                  <a:extLst>
                    <a:ext uri="{A12FA001-AC4F-418D-AE19-62706E023703}">
                      <ahyp:hlinkClr val="tx"/>
                    </a:ext>
                  </a:extLst>
                </a:hlinkClick>
              </a:rPr>
              <a:t>https://en.wikipedia.org/wiki/Economy_of_North_Korea</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4">
                  <a:extLst>
                    <a:ext uri="{A12FA001-AC4F-418D-AE19-62706E023703}">
                      <ahyp:hlinkClr val="tx"/>
                    </a:ext>
                  </a:extLst>
                </a:hlinkClick>
              </a:rPr>
              <a:t>https://en.wikipedia.org/wiki/North_Korea_and_weapons_of_mass_destruction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5">
                  <a:extLst>
                    <a:ext uri="{A12FA001-AC4F-418D-AE19-62706E023703}">
                      <ahyp:hlinkClr val="tx"/>
                    </a:ext>
                  </a:extLst>
                </a:hlinkClick>
              </a:rPr>
              <a:t>https://www.cfr.org/global-conflict-tracker/conflict/north-korea-crisis</a:t>
            </a:r>
            <a:r>
              <a:rPr lang="en">
                <a:solidFill>
                  <a:schemeClr val="lt1"/>
                </a:solidFill>
              </a:rPr>
              <a:t> </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l">
              <a:spcBef>
                <a:spcPts val="0"/>
              </a:spcBef>
              <a:spcAft>
                <a:spcPts val="0"/>
              </a:spcAft>
              <a:buNone/>
            </a:pPr>
            <a:r>
              <a:rPr lang="en" u="sng">
                <a:solidFill>
                  <a:schemeClr val="lt1"/>
                </a:solidFill>
                <a:hlinkClick r:id="rId6">
                  <a:extLst>
                    <a:ext uri="{A12FA001-AC4F-418D-AE19-62706E023703}">
                      <ahyp:hlinkClr val="tx"/>
                    </a:ext>
                  </a:extLst>
                </a:hlinkClick>
              </a:rPr>
              <a:t>https://www.investmentmonitor.ai/features/north-korea-global-isolation-investment/</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7">
                  <a:extLst>
                    <a:ext uri="{A12FA001-AC4F-418D-AE19-62706E023703}">
                      <ahyp:hlinkClr val="tx"/>
                    </a:ext>
                  </a:extLst>
                </a:hlinkClick>
              </a:rPr>
              <a:t>https://www.hrw.org/news/2020/01/14/north-korea-systematic-repression</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79" name="Google Shape;579;p60"/>
          <p:cNvPicPr preferRelativeResize="0"/>
          <p:nvPr/>
        </p:nvPicPr>
        <p:blipFill>
          <a:blip r:embed="rId8">
            <a:alphaModFix/>
          </a:blip>
          <a:stretch>
            <a:fillRect/>
          </a:stretch>
        </p:blipFill>
        <p:spPr>
          <a:xfrm>
            <a:off x="4159200" y="228593"/>
            <a:ext cx="2700000" cy="2185004"/>
          </a:xfrm>
          <a:prstGeom prst="rect">
            <a:avLst/>
          </a:prstGeom>
          <a:noFill/>
          <a:ln>
            <a:noFill/>
          </a:ln>
        </p:spPr>
      </p:pic>
      <p:pic>
        <p:nvPicPr>
          <p:cNvPr id="580" name="Google Shape;580;p60"/>
          <p:cNvPicPr preferRelativeResize="0"/>
          <p:nvPr/>
        </p:nvPicPr>
        <p:blipFill>
          <a:blip r:embed="rId9">
            <a:alphaModFix/>
          </a:blip>
          <a:stretch>
            <a:fillRect/>
          </a:stretch>
        </p:blipFill>
        <p:spPr>
          <a:xfrm>
            <a:off x="7011449" y="2475448"/>
            <a:ext cx="1961726" cy="218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
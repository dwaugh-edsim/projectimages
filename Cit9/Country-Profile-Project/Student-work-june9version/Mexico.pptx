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d08d660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d08d660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d08d660d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d08d660d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d08d660d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d08d660d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d08d660d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d08d660d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d08d660d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d08d660d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d08d660d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d08d660d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d4176515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d4176515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english.elpais.com/international/2026-01-20/mexicos-crusade-against-fentanyl-reduces-trafficking-to-the-us-and-overdose-deaths.html"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english.elpais.com/international/2026-01-20/mexicos-crusade-against-fentanyl-reduces-trafficking-to-the-us-and-overdose-deaths.html" TargetMode="External"/><Relationship Id="rId4" Type="http://schemas.openxmlformats.org/officeDocument/2006/relationships/hyperlink" Target="https://english.elpais.com/international/2025-12-29/sinaloa-cartel-war-is-taking-its-toll-on-los-chapitos.html" TargetMode="External"/><Relationship Id="rId5" Type="http://schemas.openxmlformats.org/officeDocument/2006/relationships/hyperlink" Target="https://gemini.google.com/app/" TargetMode="External"/><Relationship Id="rId6" Type="http://schemas.openxmlformats.org/officeDocument/2006/relationships/hyperlink" Target="https://www.google.com/search?q=ai+overvie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Mexico</a:t>
            </a:r>
            <a:endParaRPr/>
          </a:p>
          <a:p>
            <a:pPr indent="0" lvl="0" marL="0" rtl="0" algn="l">
              <a:spcBef>
                <a:spcPts val="0"/>
              </a:spcBef>
              <a:spcAft>
                <a:spcPts val="0"/>
              </a:spcAft>
              <a:buNone/>
            </a:pPr>
            <a:r>
              <a:rPr lang="en" sz="2500"/>
              <a:t>Drug Cartels &amp; Public Safety</a:t>
            </a:r>
            <a:endParaRPr sz="2500"/>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Nolan and Joshua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Country background</a:t>
            </a:r>
            <a:endParaRPr/>
          </a:p>
        </p:txBody>
      </p:sp>
      <p:sp>
        <p:nvSpPr>
          <p:cNvPr id="141" name="Google Shape;141;p14"/>
          <p:cNvSpPr txBox="1"/>
          <p:nvPr>
            <p:ph idx="1" type="body"/>
          </p:nvPr>
        </p:nvSpPr>
        <p:spPr>
          <a:xfrm>
            <a:off x="750750" y="1486550"/>
            <a:ext cx="3403200" cy="29112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spcBef>
                <a:spcPts val="0"/>
              </a:spcBef>
              <a:spcAft>
                <a:spcPts val="0"/>
              </a:spcAft>
              <a:buNone/>
            </a:pPr>
            <a:r>
              <a:rPr lang="en" sz="1600"/>
              <a:t>Mexico on Map:</a:t>
            </a:r>
            <a:endParaRPr sz="1600"/>
          </a:p>
          <a:p>
            <a:pPr indent="0" lvl="0" marL="0" rtl="0" algn="l">
              <a:spcBef>
                <a:spcPts val="1200"/>
              </a:spcBef>
              <a:spcAft>
                <a:spcPts val="1200"/>
              </a:spcAft>
              <a:buNone/>
            </a:pPr>
            <a:r>
              <a:t/>
            </a:r>
            <a:endParaRPr/>
          </a:p>
        </p:txBody>
      </p:sp>
      <p:sp>
        <p:nvSpPr>
          <p:cNvPr id="142" name="Google Shape;142;p14"/>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400"/>
              <a:t>Mexico is located in North America and is the 13th largest  country in the world covering by land mass. Mexico has a population of over 130 million making it the most populous Spanish speaking country, culture and nation  with about 10 million of that huge population English speakers. Mexican culture is a vibrant, cultural mosaic shaped by a profound blend of ancient indigenous roots and Spanish colonial influence. Mexico’s economy is the 13th largest globally.</a:t>
            </a:r>
            <a:endParaRPr sz="1400"/>
          </a:p>
        </p:txBody>
      </p:sp>
      <p:pic>
        <p:nvPicPr>
          <p:cNvPr id="143" name="Google Shape;143;p14"/>
          <p:cNvPicPr preferRelativeResize="0"/>
          <p:nvPr/>
        </p:nvPicPr>
        <p:blipFill>
          <a:blip r:embed="rId3">
            <a:alphaModFix/>
          </a:blip>
          <a:stretch>
            <a:fillRect/>
          </a:stretch>
        </p:blipFill>
        <p:spPr>
          <a:xfrm>
            <a:off x="869779" y="1867075"/>
            <a:ext cx="2863550" cy="2850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Global Issue </a:t>
            </a:r>
            <a:endParaRPr/>
          </a:p>
        </p:txBody>
      </p:sp>
      <p:sp>
        <p:nvSpPr>
          <p:cNvPr id="149" name="Google Shape;149;p15"/>
          <p:cNvSpPr txBox="1"/>
          <p:nvPr>
            <p:ph idx="1" type="body"/>
          </p:nvPr>
        </p:nvSpPr>
        <p:spPr>
          <a:xfrm>
            <a:off x="184350" y="1514075"/>
            <a:ext cx="3964500" cy="3321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Mexico has many </a:t>
            </a:r>
            <a:r>
              <a:rPr lang="en"/>
              <a:t>global</a:t>
            </a:r>
            <a:r>
              <a:rPr lang="en"/>
              <a:t> issues but the more important ones are the Drug Cartels and Public s</a:t>
            </a:r>
            <a:r>
              <a:rPr lang="en"/>
              <a:t>afety</a:t>
            </a:r>
            <a:r>
              <a:rPr lang="en"/>
              <a:t>. Drug Cartels in Mexico are </a:t>
            </a:r>
            <a:r>
              <a:rPr lang="en"/>
              <a:t>highly</a:t>
            </a:r>
            <a:r>
              <a:rPr lang="en"/>
              <a:t> </a:t>
            </a:r>
            <a:r>
              <a:rPr lang="en"/>
              <a:t>organized</a:t>
            </a:r>
            <a:r>
              <a:rPr lang="en"/>
              <a:t>, underground criminals that control large portions of the </a:t>
            </a:r>
            <a:r>
              <a:rPr lang="en"/>
              <a:t>country, a</a:t>
            </a:r>
            <a:r>
              <a:rPr lang="en"/>
              <a:t>nd they dominate the global </a:t>
            </a:r>
            <a:r>
              <a:rPr lang="en"/>
              <a:t>synthetic</a:t>
            </a:r>
            <a:r>
              <a:rPr lang="en"/>
              <a:t> drug trade. They particularly trade in Fentanyl and Meth. Public safety in Mexico is a bad issue </a:t>
            </a:r>
            <a:r>
              <a:rPr lang="en"/>
              <a:t>because</a:t>
            </a:r>
            <a:r>
              <a:rPr lang="en"/>
              <a:t> they have high rates of violent crimes. These violent crimes include homicide, armed robbery, kidnapping and extortion. This is a big global issue to fix to better the community in Mexico and to increase tourists visiting rates. </a:t>
            </a:r>
            <a:endParaRPr/>
          </a:p>
        </p:txBody>
      </p:sp>
      <p:pic>
        <p:nvPicPr>
          <p:cNvPr id="150" name="Google Shape;150;p15"/>
          <p:cNvPicPr preferRelativeResize="0"/>
          <p:nvPr/>
        </p:nvPicPr>
        <p:blipFill>
          <a:blip r:embed="rId3">
            <a:alphaModFix/>
          </a:blip>
          <a:stretch>
            <a:fillRect/>
          </a:stretch>
        </p:blipFill>
        <p:spPr>
          <a:xfrm>
            <a:off x="4050052" y="1182750"/>
            <a:ext cx="4981897" cy="3321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Country</a:t>
            </a:r>
            <a:r>
              <a:rPr lang="en"/>
              <a:t> Responses</a:t>
            </a:r>
            <a:endParaRPr/>
          </a:p>
        </p:txBody>
      </p:sp>
      <p:sp>
        <p:nvSpPr>
          <p:cNvPr id="156" name="Google Shape;156;p16"/>
          <p:cNvSpPr txBox="1"/>
          <p:nvPr>
            <p:ph idx="1" type="body"/>
          </p:nvPr>
        </p:nvSpPr>
        <p:spPr>
          <a:xfrm>
            <a:off x="205725" y="1664600"/>
            <a:ext cx="49377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Mexico’s government, Claudia Sheinbaum, is </a:t>
            </a:r>
            <a:r>
              <a:rPr lang="en"/>
              <a:t>aggressively</a:t>
            </a:r>
            <a:r>
              <a:rPr lang="en"/>
              <a:t> working on identifying the main causes for these global problems, most </a:t>
            </a:r>
            <a:r>
              <a:rPr lang="en"/>
              <a:t>addressed being drug trafficking. Claudia has launched Operation Northern Border, solely focused on breaking the chain of commands in the cartel groups such as the Sinaloa Cartel and CJNG. This operation resulted in over </a:t>
            </a:r>
            <a:r>
              <a:rPr lang="en" u="sng">
                <a:solidFill>
                  <a:schemeClr val="hlink"/>
                </a:solidFill>
                <a:hlinkClick r:id="rId3"/>
              </a:rPr>
              <a:t>41,000 traffickers and suppliers arrested, 1,900 drug labs seized and destroyed, and seized over 1.8 tons worth of fentanyl. </a:t>
            </a:r>
            <a:r>
              <a:rPr lang="en"/>
              <a:t>Although these operations seem to be doing a lot, Mexico is still suffering from trafficking through undiscovered territory, stashing and storing drugs for someone else to collect. The government is tracking down on these loose ends and ending this global issue.</a:t>
            </a:r>
            <a:endParaRPr/>
          </a:p>
        </p:txBody>
      </p:sp>
      <p:pic>
        <p:nvPicPr>
          <p:cNvPr id="157" name="Google Shape;157;p16"/>
          <p:cNvPicPr preferRelativeResize="0"/>
          <p:nvPr/>
        </p:nvPicPr>
        <p:blipFill>
          <a:blip r:embed="rId4">
            <a:alphaModFix/>
          </a:blip>
          <a:stretch>
            <a:fillRect/>
          </a:stretch>
        </p:blipFill>
        <p:spPr>
          <a:xfrm>
            <a:off x="5295825" y="1460250"/>
            <a:ext cx="3695777" cy="24638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Consequences</a:t>
            </a:r>
            <a:r>
              <a:rPr lang="en"/>
              <a:t> </a:t>
            </a:r>
            <a:endParaRPr/>
          </a:p>
        </p:txBody>
      </p:sp>
      <p:sp>
        <p:nvSpPr>
          <p:cNvPr id="163" name="Google Shape;163;p17"/>
          <p:cNvSpPr txBox="1"/>
          <p:nvPr>
            <p:ph idx="1" type="body"/>
          </p:nvPr>
        </p:nvSpPr>
        <p:spPr>
          <a:xfrm>
            <a:off x="117675" y="1307850"/>
            <a:ext cx="4315800" cy="3692100"/>
          </a:xfrm>
          <a:prstGeom prst="rect">
            <a:avLst/>
          </a:prstGeom>
        </p:spPr>
        <p:txBody>
          <a:bodyPr anchorCtr="0" anchor="t" bIns="91425" lIns="91425" spcFirstLastPara="1" rIns="91425" wrap="square" tIns="91425">
            <a:normAutofit fontScale="62500"/>
          </a:bodyPr>
          <a:lstStyle/>
          <a:p>
            <a:pPr indent="0" lvl="0" marL="0" rtl="0" algn="l">
              <a:spcBef>
                <a:spcPts val="1700"/>
              </a:spcBef>
              <a:spcAft>
                <a:spcPts val="0"/>
              </a:spcAft>
              <a:buNone/>
            </a:pPr>
            <a:r>
              <a:rPr lang="en" sz="1700">
                <a:latin typeface="Arial"/>
                <a:ea typeface="Arial"/>
                <a:cs typeface="Arial"/>
                <a:sym typeface="Arial"/>
              </a:rPr>
              <a:t>Some </a:t>
            </a:r>
            <a:r>
              <a:rPr lang="en" sz="1700">
                <a:latin typeface="Arial"/>
                <a:ea typeface="Arial"/>
                <a:cs typeface="Arial"/>
                <a:sym typeface="Arial"/>
              </a:rPr>
              <a:t>problems</a:t>
            </a:r>
            <a:r>
              <a:rPr lang="en" sz="1700">
                <a:latin typeface="Arial"/>
                <a:ea typeface="Arial"/>
                <a:cs typeface="Arial"/>
                <a:sym typeface="Arial"/>
              </a:rPr>
              <a:t> with intended and </a:t>
            </a:r>
            <a:r>
              <a:rPr lang="en" sz="1700">
                <a:latin typeface="Arial"/>
                <a:ea typeface="Arial"/>
                <a:cs typeface="Arial"/>
                <a:sym typeface="Arial"/>
              </a:rPr>
              <a:t>unintended consequences range from different areas like capturing high rank cartel as a way to dismantle that specific group but the consequence is how that dismantled group has no leader and acts on pure rage as a honor for their lost leader risking citizen safety or police safety.</a:t>
            </a:r>
            <a:endParaRPr sz="1700">
              <a:latin typeface="Arial"/>
              <a:ea typeface="Arial"/>
              <a:cs typeface="Arial"/>
              <a:sym typeface="Arial"/>
            </a:endParaRPr>
          </a:p>
          <a:p>
            <a:pPr indent="0" lvl="0" marL="0" rtl="0" algn="l">
              <a:spcBef>
                <a:spcPts val="1700"/>
              </a:spcBef>
              <a:spcAft>
                <a:spcPts val="0"/>
              </a:spcAft>
              <a:buNone/>
            </a:pPr>
            <a:r>
              <a:rPr lang="en" sz="1700">
                <a:latin typeface="Arial"/>
                <a:ea typeface="Arial"/>
                <a:cs typeface="Arial"/>
                <a:sym typeface="Arial"/>
              </a:rPr>
              <a:t>Some short term effects from the cartel for public safety can be how spikes of homicide occur due to a problem made by the police like kidnapped cartel members or killed leaders can make unpredictable cartel groups with a rage to kill innocent people for revenge and they will move to smaller, quieter states involving more and more people into the cartel business. </a:t>
            </a:r>
            <a:endParaRPr sz="1700">
              <a:latin typeface="Arial"/>
              <a:ea typeface="Arial"/>
              <a:cs typeface="Arial"/>
              <a:sym typeface="Arial"/>
            </a:endParaRPr>
          </a:p>
          <a:p>
            <a:pPr indent="0" lvl="0" marL="0" rtl="0" algn="l">
              <a:spcBef>
                <a:spcPts val="1700"/>
              </a:spcBef>
              <a:spcAft>
                <a:spcPts val="1700"/>
              </a:spcAft>
              <a:buNone/>
            </a:pPr>
            <a:r>
              <a:rPr lang="en" sz="1700">
                <a:latin typeface="Arial"/>
                <a:ea typeface="Arial"/>
                <a:cs typeface="Arial"/>
                <a:sym typeface="Arial"/>
              </a:rPr>
              <a:t>Some long term effects can be how bad cartels get disrupted and become small, ruthless groups with no fear to lose anything as they have lost one of their products or members. This is a crucial problem when tackling the cartel as public safety becomes a huge problem while raiding or arresting members with ties to the public.</a:t>
            </a:r>
            <a:endParaRPr sz="1700">
              <a:latin typeface="Arial"/>
              <a:ea typeface="Arial"/>
              <a:cs typeface="Arial"/>
              <a:sym typeface="Arial"/>
            </a:endParaRPr>
          </a:p>
        </p:txBody>
      </p:sp>
      <p:pic>
        <p:nvPicPr>
          <p:cNvPr id="164" name="Google Shape;164;p17" title="Points scored"/>
          <p:cNvPicPr preferRelativeResize="0"/>
          <p:nvPr/>
        </p:nvPicPr>
        <p:blipFill rotWithShape="1">
          <a:blip r:embed="rId3">
            <a:alphaModFix/>
          </a:blip>
          <a:srcRect b="0" l="1720" r="0" t="12003"/>
          <a:stretch/>
        </p:blipFill>
        <p:spPr>
          <a:xfrm>
            <a:off x="4627575" y="1307850"/>
            <a:ext cx="4315701" cy="3493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Comparing Canada to Mexico</a:t>
            </a:r>
            <a:endParaRPr/>
          </a:p>
        </p:txBody>
      </p:sp>
      <p:sp>
        <p:nvSpPr>
          <p:cNvPr id="170" name="Google Shape;170;p18"/>
          <p:cNvSpPr txBox="1"/>
          <p:nvPr>
            <p:ph idx="1" type="body"/>
          </p:nvPr>
        </p:nvSpPr>
        <p:spPr>
          <a:xfrm>
            <a:off x="123000" y="1408600"/>
            <a:ext cx="4449000" cy="3615600"/>
          </a:xfrm>
          <a:prstGeom prst="rect">
            <a:avLst/>
          </a:prstGeom>
        </p:spPr>
        <p:txBody>
          <a:bodyPr anchorCtr="0" anchor="t" bIns="91425" lIns="91425" spcFirstLastPara="1" rIns="91425" wrap="square" tIns="91425">
            <a:noAutofit/>
          </a:bodyPr>
          <a:lstStyle/>
          <a:p>
            <a:pPr indent="0" lvl="0" marL="0" rtl="0" algn="l">
              <a:spcBef>
                <a:spcPts val="1700"/>
              </a:spcBef>
              <a:spcAft>
                <a:spcPts val="0"/>
              </a:spcAft>
              <a:buNone/>
            </a:pPr>
            <a:r>
              <a:rPr lang="en" sz="1100">
                <a:latin typeface="Arial"/>
                <a:ea typeface="Arial"/>
                <a:cs typeface="Arial"/>
                <a:sym typeface="Arial"/>
              </a:rPr>
              <a:t>Canada compared to Mexico sounds like </a:t>
            </a:r>
            <a:r>
              <a:rPr lang="en" sz="1100">
                <a:latin typeface="Arial"/>
                <a:ea typeface="Arial"/>
                <a:cs typeface="Arial"/>
                <a:sym typeface="Arial"/>
              </a:rPr>
              <a:t>heaven</a:t>
            </a:r>
            <a:r>
              <a:rPr lang="en" sz="1100">
                <a:latin typeface="Arial"/>
                <a:ea typeface="Arial"/>
                <a:cs typeface="Arial"/>
                <a:sym typeface="Arial"/>
              </a:rPr>
              <a:t> versus hell but Canada has some big problems as well. Mexico’s population is estimated to be </a:t>
            </a:r>
            <a:r>
              <a:rPr lang="en" sz="1100">
                <a:latin typeface="Arial"/>
                <a:ea typeface="Arial"/>
                <a:cs typeface="Arial"/>
                <a:sym typeface="Arial"/>
              </a:rPr>
              <a:t>around</a:t>
            </a:r>
            <a:r>
              <a:rPr lang="en" sz="1100">
                <a:latin typeface="Arial"/>
                <a:ea typeface="Arial"/>
                <a:cs typeface="Arial"/>
                <a:sym typeface="Arial"/>
              </a:rPr>
              <a:t> 131 million people compared to Canada having around 40 million people with Mexico having only around 1.96 million km in land mass versus Canada being the world’s second largest country in </a:t>
            </a:r>
            <a:r>
              <a:rPr lang="en" sz="1100">
                <a:latin typeface="Arial"/>
                <a:ea typeface="Arial"/>
                <a:cs typeface="Arial"/>
                <a:sym typeface="Arial"/>
              </a:rPr>
              <a:t>landmass</a:t>
            </a:r>
            <a:r>
              <a:rPr lang="en" sz="1100">
                <a:latin typeface="Arial"/>
                <a:ea typeface="Arial"/>
                <a:cs typeface="Arial"/>
                <a:sym typeface="Arial"/>
              </a:rPr>
              <a:t> and having 89 million people less than Mexico making it sound very populated in Mexico blending in cartel members very easily. Compared to Canada in homicide rates, Mexico has a rate of 17.5 people in 100,000 people compared to 2.2 people in 100,000 people making Mexico deathly dangerous. Cybercrime is much more common in Canada compared to Mexico because technology is not as valued in Mexico with them not knowing much about </a:t>
            </a:r>
            <a:r>
              <a:rPr lang="en" sz="1100">
                <a:latin typeface="Arial"/>
                <a:ea typeface="Arial"/>
                <a:cs typeface="Arial"/>
                <a:sym typeface="Arial"/>
              </a:rPr>
              <a:t>cyber currency. The police in Canada is heavily focused on civilian safety because national trafficking with different products aren’t as common as Mexico’s rates</a:t>
            </a:r>
            <a:r>
              <a:rPr lang="en" sz="1100">
                <a:latin typeface="Arial"/>
                <a:ea typeface="Arial"/>
                <a:cs typeface="Arial"/>
                <a:sym typeface="Arial"/>
              </a:rPr>
              <a:t>. However, Mexico’s police force is disciplined to militarize checkpoints and roads heavily making traffic much more common and worse if a drug is found on a truck or car.</a:t>
            </a:r>
            <a:endParaRPr sz="1100">
              <a:latin typeface="Arial"/>
              <a:ea typeface="Arial"/>
              <a:cs typeface="Arial"/>
              <a:sym typeface="Arial"/>
            </a:endParaRPr>
          </a:p>
          <a:p>
            <a:pPr indent="0" lvl="0" marL="0" rtl="0" algn="l">
              <a:spcBef>
                <a:spcPts val="1700"/>
              </a:spcBef>
              <a:spcAft>
                <a:spcPts val="1200"/>
              </a:spcAft>
              <a:buNone/>
            </a:pPr>
            <a:r>
              <a:t/>
            </a:r>
            <a:endParaRPr/>
          </a:p>
        </p:txBody>
      </p:sp>
      <p:pic>
        <p:nvPicPr>
          <p:cNvPr id="171" name="Google Shape;171;p18" title="Points scored"/>
          <p:cNvPicPr preferRelativeResize="0"/>
          <p:nvPr/>
        </p:nvPicPr>
        <p:blipFill rotWithShape="1">
          <a:blip r:embed="rId3">
            <a:alphaModFix/>
          </a:blip>
          <a:srcRect b="0" l="1793" r="3330" t="12335"/>
          <a:stretch/>
        </p:blipFill>
        <p:spPr>
          <a:xfrm>
            <a:off x="4572000" y="1937825"/>
            <a:ext cx="4265175" cy="2436800"/>
          </a:xfrm>
          <a:prstGeom prst="rect">
            <a:avLst/>
          </a:prstGeom>
          <a:noFill/>
          <a:ln>
            <a:noFill/>
          </a:ln>
        </p:spPr>
      </p:pic>
      <p:sp>
        <p:nvSpPr>
          <p:cNvPr id="172" name="Google Shape;172;p18"/>
          <p:cNvSpPr txBox="1"/>
          <p:nvPr/>
        </p:nvSpPr>
        <p:spPr>
          <a:xfrm>
            <a:off x="4638975" y="1552925"/>
            <a:ext cx="4265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Bar Graph for population in Canada versus Mexico:</a:t>
            </a:r>
            <a:endParaRPr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Reflection</a:t>
            </a:r>
            <a:endParaRPr/>
          </a:p>
        </p:txBody>
      </p:sp>
      <p:sp>
        <p:nvSpPr>
          <p:cNvPr id="178" name="Google Shape;178;p19"/>
          <p:cNvSpPr txBox="1"/>
          <p:nvPr>
            <p:ph idx="1" type="body"/>
          </p:nvPr>
        </p:nvSpPr>
        <p:spPr>
          <a:xfrm>
            <a:off x="1297500" y="9577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700">
                <a:latin typeface="Arial"/>
                <a:ea typeface="Arial"/>
                <a:cs typeface="Arial"/>
                <a:sym typeface="Arial"/>
              </a:rPr>
              <a:t>Canadians should care about Mexico’s safety because it’s our neighbouring country from USA and because the trades between Mexico and Canada will be destroyed if we don’t care losing our 3rd best seller single handedly losing millions of dollars worth of products popular in Canada like </a:t>
            </a:r>
            <a:r>
              <a:rPr lang="en" sz="1700">
                <a:latin typeface="Arial"/>
                <a:ea typeface="Arial"/>
                <a:cs typeface="Arial"/>
                <a:sym typeface="Arial"/>
              </a:rPr>
              <a:t>avocados</a:t>
            </a:r>
            <a:r>
              <a:rPr lang="en" sz="1700">
                <a:latin typeface="Arial"/>
                <a:ea typeface="Arial"/>
                <a:cs typeface="Arial"/>
                <a:sym typeface="Arial"/>
              </a:rPr>
              <a:t>, Tajin, and Corona Beer.</a:t>
            </a:r>
            <a:endParaRPr/>
          </a:p>
        </p:txBody>
      </p:sp>
      <p:pic>
        <p:nvPicPr>
          <p:cNvPr id="179" name="Google Shape;179;p19"/>
          <p:cNvPicPr preferRelativeResize="0"/>
          <p:nvPr/>
        </p:nvPicPr>
        <p:blipFill>
          <a:blip r:embed="rId3">
            <a:alphaModFix/>
          </a:blip>
          <a:stretch>
            <a:fillRect/>
          </a:stretch>
        </p:blipFill>
        <p:spPr>
          <a:xfrm>
            <a:off x="3259600" y="2640425"/>
            <a:ext cx="2251200" cy="2251200"/>
          </a:xfrm>
          <a:prstGeom prst="rect">
            <a:avLst/>
          </a:prstGeom>
          <a:noFill/>
          <a:ln>
            <a:noFill/>
          </a:ln>
        </p:spPr>
      </p:pic>
      <p:pic>
        <p:nvPicPr>
          <p:cNvPr id="180" name="Google Shape;180;p19"/>
          <p:cNvPicPr preferRelativeResize="0"/>
          <p:nvPr/>
        </p:nvPicPr>
        <p:blipFill>
          <a:blip r:embed="rId4">
            <a:alphaModFix/>
          </a:blip>
          <a:stretch>
            <a:fillRect/>
          </a:stretch>
        </p:blipFill>
        <p:spPr>
          <a:xfrm>
            <a:off x="6292944" y="2640425"/>
            <a:ext cx="2450050" cy="2251201"/>
          </a:xfrm>
          <a:prstGeom prst="rect">
            <a:avLst/>
          </a:prstGeom>
          <a:noFill/>
          <a:ln>
            <a:noFill/>
          </a:ln>
        </p:spPr>
      </p:pic>
      <p:pic>
        <p:nvPicPr>
          <p:cNvPr id="181" name="Google Shape;181;p19"/>
          <p:cNvPicPr preferRelativeResize="0"/>
          <p:nvPr/>
        </p:nvPicPr>
        <p:blipFill>
          <a:blip r:embed="rId5">
            <a:alphaModFix/>
          </a:blip>
          <a:stretch>
            <a:fillRect/>
          </a:stretch>
        </p:blipFill>
        <p:spPr>
          <a:xfrm>
            <a:off x="357825" y="2640425"/>
            <a:ext cx="2251200" cy="2251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Sources</a:t>
            </a:r>
            <a:endParaRPr/>
          </a:p>
        </p:txBody>
      </p:sp>
      <p:sp>
        <p:nvSpPr>
          <p:cNvPr id="187" name="Google Shape;187;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&lt;</a:t>
            </a:r>
            <a:r>
              <a:rPr lang="en" u="sng">
                <a:solidFill>
                  <a:schemeClr val="hlink"/>
                </a:solidFill>
                <a:latin typeface="Times New Roman"/>
                <a:ea typeface="Times New Roman"/>
                <a:cs typeface="Times New Roman"/>
                <a:sym typeface="Times New Roman"/>
                <a:hlinkClick r:id="rId3"/>
              </a:rPr>
              <a:t>41K arrests and 1.8 tons fent seize</a:t>
            </a:r>
            <a:r>
              <a:rPr lang="en" sz="1400"/>
              <a:t>&gt;</a:t>
            </a:r>
            <a:endParaRPr sz="1400"/>
          </a:p>
          <a:p>
            <a:pPr indent="0" lvl="0" marL="0" rtl="0" algn="l">
              <a:spcBef>
                <a:spcPts val="1200"/>
              </a:spcBef>
              <a:spcAft>
                <a:spcPts val="0"/>
              </a:spcAft>
              <a:buNone/>
            </a:pPr>
            <a:r>
              <a:rPr lang="en" sz="1400"/>
              <a:t>&lt;</a:t>
            </a:r>
            <a:r>
              <a:rPr lang="en" sz="1400" u="sng">
                <a:solidFill>
                  <a:schemeClr val="hlink"/>
                </a:solidFill>
                <a:hlinkClick r:id="rId4"/>
              </a:rPr>
              <a:t>Operation Northern Border</a:t>
            </a:r>
            <a:r>
              <a:rPr lang="en" sz="1400"/>
              <a:t>&gt;</a:t>
            </a:r>
            <a:endParaRPr sz="1400"/>
          </a:p>
          <a:p>
            <a:pPr indent="0" lvl="0" marL="0" rtl="0" algn="l">
              <a:spcBef>
                <a:spcPts val="1200"/>
              </a:spcBef>
              <a:spcAft>
                <a:spcPts val="0"/>
              </a:spcAft>
              <a:buNone/>
            </a:pPr>
            <a:r>
              <a:rPr lang="en" sz="1400" u="sng">
                <a:solidFill>
                  <a:schemeClr val="hlink"/>
                </a:solidFill>
                <a:hlinkClick r:id="rId5"/>
              </a:rPr>
              <a:t>Google Gemini for images</a:t>
            </a:r>
            <a:endParaRPr sz="1400"/>
          </a:p>
          <a:p>
            <a:pPr indent="0" lvl="0" marL="0" rtl="0" algn="l">
              <a:spcBef>
                <a:spcPts val="1200"/>
              </a:spcBef>
              <a:spcAft>
                <a:spcPts val="0"/>
              </a:spcAft>
              <a:buNone/>
            </a:pPr>
            <a:r>
              <a:rPr lang="en" sz="1400" u="sng">
                <a:solidFill>
                  <a:schemeClr val="hlink"/>
                </a:solidFill>
                <a:hlinkClick r:id="rId6"/>
              </a:rPr>
              <a:t>AI Overview for summaries</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
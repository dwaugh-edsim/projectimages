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d41512c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d41512c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8bc7162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8bc7162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d41512c6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d41512c6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d41512c6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d41512c6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d41512c6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ed41512c6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d41512c6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d41512c6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d41512c6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d41512c6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Egypt’s Global Issue Project</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Kai and Ali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r>
              <a:rPr lang="en"/>
              <a:t>:</a:t>
            </a:r>
            <a:endParaRPr/>
          </a:p>
        </p:txBody>
      </p:sp>
      <p:sp>
        <p:nvSpPr>
          <p:cNvPr id="93" name="Google Shape;93;p14"/>
          <p:cNvSpPr txBox="1"/>
          <p:nvPr>
            <p:ph idx="1" type="body"/>
          </p:nvPr>
        </p:nvSpPr>
        <p:spPr>
          <a:xfrm>
            <a:off x="778525" y="1853850"/>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i="1" lang="en" sz="1500"/>
              <a:t>Location: </a:t>
            </a:r>
            <a:r>
              <a:rPr lang="en" sz="1400"/>
              <a:t>Egypt is a country located in Africa, It borders only 3 </a:t>
            </a:r>
            <a:r>
              <a:rPr lang="en" sz="1400"/>
              <a:t>countries</a:t>
            </a:r>
            <a:r>
              <a:rPr lang="en" sz="1400"/>
              <a:t> Libya, Sudan and Palestine. Whilst homing 118 Million people.</a:t>
            </a:r>
            <a:endParaRPr sz="1400"/>
          </a:p>
          <a:p>
            <a:pPr indent="-311150" lvl="0" marL="457200" rtl="0" algn="l">
              <a:spcBef>
                <a:spcPts val="0"/>
              </a:spcBef>
              <a:spcAft>
                <a:spcPts val="0"/>
              </a:spcAft>
              <a:buSzPts val="1300"/>
              <a:buChar char="●"/>
            </a:pPr>
            <a:r>
              <a:rPr b="1" i="1" lang="en" sz="1500"/>
              <a:t>Culture: </a:t>
            </a:r>
            <a:r>
              <a:rPr lang="en" sz="1400"/>
              <a:t>Egypt has a really old culture they are a deeply rooted Islamic country. They speak many languages having spoken 6 languages over the history of Egypt, the main </a:t>
            </a:r>
            <a:r>
              <a:rPr lang="en" sz="1400"/>
              <a:t>language</a:t>
            </a:r>
            <a:r>
              <a:rPr lang="en" sz="1400"/>
              <a:t> as of today is Arabic.</a:t>
            </a:r>
            <a:endParaRPr sz="1400"/>
          </a:p>
          <a:p>
            <a:pPr indent="-311150" lvl="0" marL="457200" rtl="0" algn="l">
              <a:spcBef>
                <a:spcPts val="0"/>
              </a:spcBef>
              <a:spcAft>
                <a:spcPts val="0"/>
              </a:spcAft>
              <a:buSzPts val="1300"/>
              <a:buChar char="●"/>
            </a:pPr>
            <a:r>
              <a:rPr b="1" i="1" lang="en" sz="1500"/>
              <a:t>History/</a:t>
            </a:r>
            <a:r>
              <a:rPr b="1" i="1" lang="en" sz="1500"/>
              <a:t>Background</a:t>
            </a:r>
            <a:r>
              <a:rPr b="1" i="1" lang="en" sz="1500"/>
              <a:t>: </a:t>
            </a:r>
            <a:r>
              <a:rPr lang="en" sz="1400"/>
              <a:t> Egypt is one of the oldest </a:t>
            </a:r>
            <a:r>
              <a:rPr lang="en" sz="1400"/>
              <a:t>civilizations</a:t>
            </a:r>
            <a:r>
              <a:rPr lang="en" sz="1400"/>
              <a:t>,  there is a lot of history to cover. Ancient Egypt started in </a:t>
            </a:r>
            <a:r>
              <a:rPr b="1" lang="en" sz="1400"/>
              <a:t>3150 BC</a:t>
            </a:r>
            <a:r>
              <a:rPr lang="en" sz="1400"/>
              <a:t> all the way until </a:t>
            </a:r>
            <a:r>
              <a:rPr b="1" lang="en" sz="1400"/>
              <a:t>30BC</a:t>
            </a:r>
            <a:r>
              <a:rPr lang="en" sz="1400"/>
              <a:t>. </a:t>
            </a:r>
            <a:endParaRPr b="1" sz="1400"/>
          </a:p>
        </p:txBody>
      </p:sp>
      <p:pic>
        <p:nvPicPr>
          <p:cNvPr id="94" name="Google Shape;94;p14" title="download.jpg"/>
          <p:cNvPicPr preferRelativeResize="0"/>
          <p:nvPr/>
        </p:nvPicPr>
        <p:blipFill>
          <a:blip r:embed="rId3">
            <a:alphaModFix/>
          </a:blip>
          <a:stretch>
            <a:fillRect/>
          </a:stretch>
        </p:blipFill>
        <p:spPr>
          <a:xfrm>
            <a:off x="6170475" y="3629013"/>
            <a:ext cx="3028950" cy="1514475"/>
          </a:xfrm>
          <a:prstGeom prst="rect">
            <a:avLst/>
          </a:prstGeom>
          <a:noFill/>
          <a:ln>
            <a:noFill/>
          </a:ln>
        </p:spPr>
      </p:pic>
      <p:pic>
        <p:nvPicPr>
          <p:cNvPr id="95" name="Google Shape;95;p14" title="download.jpg"/>
          <p:cNvPicPr preferRelativeResize="0"/>
          <p:nvPr/>
        </p:nvPicPr>
        <p:blipFill>
          <a:blip r:embed="rId4">
            <a:alphaModFix/>
          </a:blip>
          <a:stretch>
            <a:fillRect/>
          </a:stretch>
        </p:blipFill>
        <p:spPr>
          <a:xfrm>
            <a:off x="6524613" y="-12"/>
            <a:ext cx="2619375" cy="1743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Economy</a:t>
            </a:r>
            <a:endParaRPr/>
          </a:p>
        </p:txBody>
      </p:sp>
      <p:sp>
        <p:nvSpPr>
          <p:cNvPr id="101" name="Google Shape;101;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SzPts val="1500"/>
              <a:buChar char="●"/>
            </a:pPr>
            <a:r>
              <a:rPr b="1" i="1" lang="en" sz="1500"/>
              <a:t>How</a:t>
            </a:r>
            <a:r>
              <a:rPr b="1" i="1" lang="en" sz="1500"/>
              <a:t> is Egypt doing economically? </a:t>
            </a:r>
            <a:r>
              <a:rPr lang="en"/>
              <a:t>Egypt has not been doing well in terms of their economy, they faced a lot of economic challenges over the years.  Egypt also has high prices and rising debt not including the high cost of living, inflation and low wages. Whilst some of the economy is still growing their is still </a:t>
            </a:r>
            <a:r>
              <a:rPr lang="en"/>
              <a:t>struggles</a:t>
            </a:r>
            <a:r>
              <a:rPr lang="en"/>
              <a:t>.  Due to this the living standards and </a:t>
            </a:r>
            <a:r>
              <a:rPr lang="en"/>
              <a:t>situation</a:t>
            </a:r>
            <a:r>
              <a:rPr lang="en"/>
              <a:t> many people struggle and barely afford to live on a day to day basis. </a:t>
            </a:r>
            <a:endParaRPr/>
          </a:p>
          <a:p>
            <a:pPr indent="-323850" lvl="0" marL="457200" rtl="0" algn="l">
              <a:spcBef>
                <a:spcPts val="0"/>
              </a:spcBef>
              <a:spcAft>
                <a:spcPts val="0"/>
              </a:spcAft>
              <a:buSzPts val="1500"/>
              <a:buChar char="●"/>
            </a:pPr>
            <a:r>
              <a:rPr b="1" i="1" lang="en" sz="1500"/>
              <a:t>What steps have the </a:t>
            </a:r>
            <a:r>
              <a:rPr b="1" i="1" lang="en" sz="1500"/>
              <a:t>government</a:t>
            </a:r>
            <a:r>
              <a:rPr b="1" i="1" lang="en" sz="1500"/>
              <a:t> taken to help the economy?</a:t>
            </a:r>
            <a:r>
              <a:rPr lang="en" sz="1500"/>
              <a:t> </a:t>
            </a:r>
            <a:r>
              <a:rPr lang="en"/>
              <a:t>The Egyptian </a:t>
            </a:r>
            <a:r>
              <a:rPr lang="en"/>
              <a:t>government</a:t>
            </a:r>
            <a:r>
              <a:rPr lang="en"/>
              <a:t> has taken some actions to try to support the economy by attracting </a:t>
            </a:r>
            <a:r>
              <a:rPr lang="en"/>
              <a:t>foreign</a:t>
            </a:r>
            <a:r>
              <a:rPr lang="en"/>
              <a:t> </a:t>
            </a:r>
            <a:r>
              <a:rPr lang="en"/>
              <a:t>investments </a:t>
            </a:r>
            <a:r>
              <a:rPr lang="en"/>
              <a:t>and building big </a:t>
            </a:r>
            <a:r>
              <a:rPr lang="en"/>
              <a:t>infrastructure projects. The economy has been slow when it comes to recovery and many of Egypt’s citizens have and still are feeling the effects of financial hardship and struggles.</a:t>
            </a:r>
            <a:endParaRPr/>
          </a:p>
        </p:txBody>
      </p:sp>
      <p:pic>
        <p:nvPicPr>
          <p:cNvPr id="102" name="Google Shape;102;p15" title="download.jpg"/>
          <p:cNvPicPr preferRelativeResize="0"/>
          <p:nvPr/>
        </p:nvPicPr>
        <p:blipFill>
          <a:blip r:embed="rId3">
            <a:alphaModFix/>
          </a:blip>
          <a:stretch>
            <a:fillRect/>
          </a:stretch>
        </p:blipFill>
        <p:spPr>
          <a:xfrm>
            <a:off x="6629400" y="-12"/>
            <a:ext cx="2514600" cy="1819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Global Issue:</a:t>
            </a:r>
            <a:endParaRPr/>
          </a:p>
        </p:txBody>
      </p:sp>
      <p:sp>
        <p:nvSpPr>
          <p:cNvPr id="108" name="Google Shape;108;p16"/>
          <p:cNvSpPr txBox="1"/>
          <p:nvPr>
            <p:ph idx="1" type="body"/>
          </p:nvPr>
        </p:nvSpPr>
        <p:spPr>
          <a:xfrm>
            <a:off x="729450" y="2078875"/>
            <a:ext cx="7688700" cy="295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Egypt has a big Global Issue which is </a:t>
            </a:r>
            <a:r>
              <a:rPr b="1" lang="en"/>
              <a:t>Water </a:t>
            </a:r>
            <a:r>
              <a:rPr b="1" lang="en"/>
              <a:t>Security</a:t>
            </a:r>
            <a:r>
              <a:rPr b="1" lang="en"/>
              <a:t> </a:t>
            </a:r>
            <a:r>
              <a:rPr lang="en"/>
              <a:t>and the </a:t>
            </a:r>
            <a:r>
              <a:rPr b="1" lang="en"/>
              <a:t>Nile RIver Dispute</a:t>
            </a:r>
            <a:r>
              <a:rPr lang="en"/>
              <a:t>. It is a </a:t>
            </a:r>
            <a:r>
              <a:rPr lang="en"/>
              <a:t>disagreement</a:t>
            </a:r>
            <a:r>
              <a:rPr lang="en"/>
              <a:t> between Egypt, Sudan and Ethiopia about how the water from the Nile can be shared amongst them. </a:t>
            </a:r>
            <a:endParaRPr/>
          </a:p>
          <a:p>
            <a:pPr indent="-311150" lvl="0" marL="457200" rtl="0" algn="l">
              <a:spcBef>
                <a:spcPts val="1200"/>
              </a:spcBef>
              <a:spcAft>
                <a:spcPts val="0"/>
              </a:spcAft>
              <a:buSzPts val="1300"/>
              <a:buChar char="●"/>
            </a:pPr>
            <a:r>
              <a:rPr b="1" lang="en"/>
              <a:t>How could this </a:t>
            </a:r>
            <a:r>
              <a:rPr b="1" lang="en"/>
              <a:t>affect</a:t>
            </a:r>
            <a:r>
              <a:rPr b="1" lang="en"/>
              <a:t> many countries? And Why Does It Matter?:</a:t>
            </a:r>
            <a:r>
              <a:rPr lang="en" sz="1200"/>
              <a:t> </a:t>
            </a:r>
            <a:r>
              <a:rPr lang="en" sz="1200"/>
              <a:t>of</a:t>
            </a:r>
            <a:r>
              <a:rPr lang="en" sz="1200"/>
              <a:t> the </a:t>
            </a:r>
            <a:r>
              <a:rPr b="1" lang="en" sz="1200"/>
              <a:t>Nile River </a:t>
            </a:r>
            <a:r>
              <a:rPr lang="en" sz="1200"/>
              <a:t>gets shut down or closed, which is controlled by Ethiopia, this can affect a lot of countries for many </a:t>
            </a:r>
            <a:r>
              <a:rPr lang="en" sz="1200"/>
              <a:t>different</a:t>
            </a:r>
            <a:r>
              <a:rPr lang="en" sz="1200"/>
              <a:t> </a:t>
            </a:r>
            <a:r>
              <a:rPr lang="en" sz="1200"/>
              <a:t>factors, the main ones being Farming and Safe Drinking water. The countries that could be affected by this are: Egypt, Sudan, South Sudan, Ethiopia, Uganda, Kenya, Tanzania, Rwanda, DRC (Congo), Burundi and Eritrea. These 11 countries would be the most affected by this if it occurs as these 11 countries depend on the </a:t>
            </a:r>
            <a:r>
              <a:rPr b="1" lang="en" sz="1200"/>
              <a:t>Nile River</a:t>
            </a:r>
            <a:r>
              <a:rPr lang="en" sz="1200"/>
              <a:t> for Water, Food Production and Electricity. It matters because this would affect million of people because of a disagreement, which could put millions of people in serious conditions considering they depends on the </a:t>
            </a:r>
            <a:r>
              <a:rPr b="1" lang="en" sz="1200"/>
              <a:t>Nile River </a:t>
            </a:r>
            <a:r>
              <a:rPr lang="en" sz="1200"/>
              <a:t>to run their country.</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a:t>
            </a:r>
            <a:r>
              <a:rPr lang="en"/>
              <a:t>Response</a:t>
            </a:r>
            <a:r>
              <a:rPr lang="en"/>
              <a:t> and Action:</a:t>
            </a:r>
            <a:endParaRPr/>
          </a:p>
        </p:txBody>
      </p:sp>
      <p:sp>
        <p:nvSpPr>
          <p:cNvPr id="114" name="Google Shape;114;p17"/>
          <p:cNvSpPr txBox="1"/>
          <p:nvPr>
            <p:ph idx="1" type="body"/>
          </p:nvPr>
        </p:nvSpPr>
        <p:spPr>
          <a:xfrm>
            <a:off x="729450" y="2078875"/>
            <a:ext cx="7688700" cy="285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i="1" sz="1400"/>
          </a:p>
          <a:p>
            <a:pPr indent="-311150" lvl="0" marL="457200" rtl="0" algn="l">
              <a:spcBef>
                <a:spcPts val="1200"/>
              </a:spcBef>
              <a:spcAft>
                <a:spcPts val="0"/>
              </a:spcAft>
              <a:buSzPts val="1300"/>
              <a:buChar char="●"/>
            </a:pPr>
            <a:r>
              <a:rPr b="1" i="1" lang="en" sz="1400"/>
              <a:t>How did Egypt respond to this? </a:t>
            </a:r>
            <a:r>
              <a:rPr lang="en"/>
              <a:t>Egypt per hearing this problem and having this </a:t>
            </a:r>
            <a:r>
              <a:rPr lang="en"/>
              <a:t>disagreement, they tried to come up with a agreement with Sudan and Ethiopian, they also responded saying the Nile River is essential for the people who depend on it and it could reduce the amount of water being supplied to the countries. Egypt used diplomacy and tried to negotiate with the countries to come to an agreement. </a:t>
            </a:r>
            <a:endParaRPr/>
          </a:p>
          <a:p>
            <a:pPr indent="-323850" lvl="0" marL="457200" rtl="0" algn="l">
              <a:spcBef>
                <a:spcPts val="0"/>
              </a:spcBef>
              <a:spcAft>
                <a:spcPts val="0"/>
              </a:spcAft>
              <a:buSzPts val="1500"/>
              <a:buChar char="●"/>
            </a:pPr>
            <a:r>
              <a:rPr b="1" i="1" lang="en" sz="1500"/>
              <a:t>Did Egypt Take Any Actions? </a:t>
            </a:r>
            <a:r>
              <a:rPr lang="en" sz="1400"/>
              <a:t>Were there any actions taken? Are they verbally or physically? Egypt tried to Negotiate with Sudan and Ethiopia, they also asked international organization like the </a:t>
            </a:r>
            <a:r>
              <a:rPr b="1" lang="en" sz="1400"/>
              <a:t>United Nations </a:t>
            </a:r>
            <a:r>
              <a:rPr lang="en" sz="1400"/>
              <a:t>and </a:t>
            </a:r>
            <a:r>
              <a:rPr b="1" lang="en" sz="1400"/>
              <a:t>African Union</a:t>
            </a:r>
            <a:r>
              <a:rPr lang="en" sz="1400"/>
              <a:t> to help intervene the dispute</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Egypt’s Consequences</a:t>
            </a:r>
            <a:endParaRPr/>
          </a:p>
        </p:txBody>
      </p:sp>
      <p:sp>
        <p:nvSpPr>
          <p:cNvPr id="120" name="Google Shape;120;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Egypt have and had consequences due to this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might this </a:t>
            </a:r>
            <a:r>
              <a:rPr lang="en"/>
              <a:t>compare</a:t>
            </a:r>
            <a:r>
              <a:rPr lang="en"/>
              <a:t> to Canada?</a:t>
            </a:r>
            <a:endParaRPr/>
          </a:p>
        </p:txBody>
      </p:sp>
      <p:sp>
        <p:nvSpPr>
          <p:cNvPr id="126" name="Google Shape;126;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Canada and Egypt can be compared in this scenario, they both have water right and security issues. </a:t>
            </a:r>
            <a:endParaRPr/>
          </a:p>
          <a:p>
            <a:pPr indent="0" lvl="0" marL="0" rtl="0" algn="l">
              <a:spcBef>
                <a:spcPts val="1200"/>
              </a:spcBef>
              <a:spcAft>
                <a:spcPts val="0"/>
              </a:spcAft>
              <a:buNone/>
            </a:pPr>
            <a:r>
              <a:rPr lang="en"/>
              <a:t>How could this compare to Canada?</a:t>
            </a:r>
            <a:endParaRPr/>
          </a:p>
          <a:p>
            <a:pPr indent="-298768" lvl="0" marL="457200" rtl="0" algn="l">
              <a:spcBef>
                <a:spcPts val="1200"/>
              </a:spcBef>
              <a:spcAft>
                <a:spcPts val="0"/>
              </a:spcAft>
              <a:buSzPct val="100000"/>
              <a:buChar char="●"/>
            </a:pPr>
            <a:r>
              <a:rPr lang="en"/>
              <a:t>Canada and the United States share a lot of rivers and lakes also including the </a:t>
            </a:r>
            <a:r>
              <a:rPr b="1" lang="en"/>
              <a:t>Great Lakes.  </a:t>
            </a:r>
            <a:r>
              <a:rPr lang="en"/>
              <a:t>Similar</a:t>
            </a:r>
            <a:r>
              <a:rPr lang="en"/>
              <a:t> to Egypt, Canada depends on the Great lakes for Drinking Water and other </a:t>
            </a:r>
            <a:r>
              <a:rPr lang="en"/>
              <a:t>crucial</a:t>
            </a:r>
            <a:r>
              <a:rPr lang="en"/>
              <a:t> things. If a </a:t>
            </a:r>
            <a:r>
              <a:rPr lang="en"/>
              <a:t>disagreement</a:t>
            </a:r>
            <a:r>
              <a:rPr lang="en"/>
              <a:t> happens between them over water usage it can and could affect </a:t>
            </a:r>
            <a:r>
              <a:rPr lang="en"/>
              <a:t>millions</a:t>
            </a:r>
            <a:r>
              <a:rPr lang="en"/>
              <a:t> of people from Canada and the United States. But it is not very </a:t>
            </a:r>
            <a:r>
              <a:rPr lang="en"/>
              <a:t>similar</a:t>
            </a:r>
            <a:r>
              <a:rPr lang="en"/>
              <a:t> to the Nile River </a:t>
            </a:r>
            <a:r>
              <a:rPr lang="en"/>
              <a:t>dispute the two countries manage their water through treaties and organizations like the IJC (International Joint Commision) . This is a big reason how they prevent big conflicts between the two. It is not the same case with Egypt, it is  far more serious because they rely heavily on the Nile for most of their fresh water and water that they use for growing plants, electricity etc but Canada has a lot of other freshwater sources unlike Egypt, which depends on the Nile RIver.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a:t>
            </a:r>
            <a:endParaRPr/>
          </a:p>
        </p:txBody>
      </p:sp>
      <p:sp>
        <p:nvSpPr>
          <p:cNvPr id="132" name="Google Shape;132;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
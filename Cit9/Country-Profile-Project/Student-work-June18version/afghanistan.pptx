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Slab"/>
      <p:regular r:id="rId13"/>
      <p:bold r:id="rId14"/>
    </p:embeddedFon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Slab-regular.fntdata"/><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font" Target="fonts/RobotoSlab-bold.fntdata"/><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531a7ac7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e531a7ac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e531a7ac79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e531a7ac79_0_4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531a7ac7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531a7ac7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531a7ac7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531a7ac7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ea8c8004e8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ea8c8004e8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e74c0731d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e74c0731d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rgbClr val="6AA84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medicamondiale.org/en/where-we-empower-women/afghanistan" TargetMode="External"/><Relationship Id="rId4" Type="http://schemas.openxmlformats.org/officeDocument/2006/relationships/hyperlink" Target="https://medicamondiale.org/en/where-we-empower-women/afghanistan" TargetMode="External"/><Relationship Id="rId5" Type="http://schemas.openxmlformats.org/officeDocument/2006/relationships/hyperlink" Target="https://www.aljazeera.com/news/2023/3/8/international-womens-day-the-exclusion-of-afghanistans-women" TargetMode="External"/><Relationship Id="rId6" Type="http://schemas.openxmlformats.org/officeDocument/2006/relationships/hyperlink" Target="https://www.unwomen.org/en/articles/faqs/faqs-afghanistan" TargetMode="External"/><Relationship Id="rId7" Type="http://schemas.openxmlformats.org/officeDocument/2006/relationships/hyperlink" Target="https://www.unesco.org/en/articles/afghanistan-14-million-girls-still-banned-school-de-facto-authoriti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0" y="923550"/>
            <a:ext cx="5783400" cy="172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5144">
                <a:solidFill>
                  <a:srgbClr val="000000"/>
                </a:solidFill>
              </a:rPr>
              <a:t>Afghanistan</a:t>
            </a:r>
            <a:endParaRPr b="1" sz="5144">
              <a:solidFill>
                <a:srgbClr val="000000"/>
              </a:solidFill>
            </a:endParaRPr>
          </a:p>
          <a:p>
            <a:pPr indent="0" lvl="0" marL="0" rtl="0" algn="ctr">
              <a:spcBef>
                <a:spcPts val="0"/>
              </a:spcBef>
              <a:spcAft>
                <a:spcPts val="0"/>
              </a:spcAft>
              <a:buNone/>
            </a:pPr>
            <a:r>
              <a:rPr lang="en" sz="2933">
                <a:solidFill>
                  <a:srgbClr val="000000"/>
                </a:solidFill>
              </a:rPr>
              <a:t>Women's Rights and Education</a:t>
            </a:r>
            <a:endParaRPr sz="2933">
              <a:solidFill>
                <a:srgbClr val="000000"/>
              </a:solidFill>
            </a:endParaRPr>
          </a:p>
        </p:txBody>
      </p:sp>
      <p:sp>
        <p:nvSpPr>
          <p:cNvPr id="64" name="Google Shape;64;p13"/>
          <p:cNvSpPr txBox="1"/>
          <p:nvPr>
            <p:ph idx="1" type="subTitle"/>
          </p:nvPr>
        </p:nvSpPr>
        <p:spPr>
          <a:xfrm>
            <a:off x="1680302" y="3219950"/>
            <a:ext cx="5783400" cy="9090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700">
                <a:solidFill>
                  <a:srgbClr val="274E13"/>
                </a:solidFill>
              </a:rPr>
              <a:t>By: Laila and Josie</a:t>
            </a:r>
            <a:endParaRPr b="1" sz="2700">
              <a:solidFill>
                <a:srgbClr val="274E13"/>
              </a:solidFill>
            </a:endParaRPr>
          </a:p>
        </p:txBody>
      </p:sp>
      <p:pic>
        <p:nvPicPr>
          <p:cNvPr id="65" name="Google Shape;65;p13" title="download.png"/>
          <p:cNvPicPr preferRelativeResize="0"/>
          <p:nvPr/>
        </p:nvPicPr>
        <p:blipFill>
          <a:blip r:embed="rId3">
            <a:alphaModFix/>
          </a:blip>
          <a:stretch>
            <a:fillRect/>
          </a:stretch>
        </p:blipFill>
        <p:spPr>
          <a:xfrm>
            <a:off x="1561888" y="663831"/>
            <a:ext cx="961982" cy="642598"/>
          </a:xfrm>
          <a:prstGeom prst="rect">
            <a:avLst/>
          </a:prstGeom>
          <a:noFill/>
          <a:ln>
            <a:noFill/>
          </a:ln>
        </p:spPr>
      </p:pic>
      <p:pic>
        <p:nvPicPr>
          <p:cNvPr id="66" name="Google Shape;66;p13" title="download.png"/>
          <p:cNvPicPr preferRelativeResize="0"/>
          <p:nvPr/>
        </p:nvPicPr>
        <p:blipFill>
          <a:blip r:embed="rId3">
            <a:alphaModFix/>
          </a:blip>
          <a:stretch>
            <a:fillRect/>
          </a:stretch>
        </p:blipFill>
        <p:spPr>
          <a:xfrm>
            <a:off x="6630438" y="3814256"/>
            <a:ext cx="961982" cy="642598"/>
          </a:xfrm>
          <a:prstGeom prst="rect">
            <a:avLst/>
          </a:prstGeom>
          <a:noFill/>
          <a:ln>
            <a:noFill/>
          </a:ln>
        </p:spPr>
      </p:pic>
      <p:cxnSp>
        <p:nvCxnSpPr>
          <p:cNvPr id="67" name="Google Shape;67;p13"/>
          <p:cNvCxnSpPr/>
          <p:nvPr/>
        </p:nvCxnSpPr>
        <p:spPr>
          <a:xfrm flipH="1" rot="10800000">
            <a:off x="2071950" y="2822125"/>
            <a:ext cx="5000100" cy="21000"/>
          </a:xfrm>
          <a:prstGeom prst="straightConnector1">
            <a:avLst/>
          </a:prstGeom>
          <a:noFill/>
          <a:ln cap="flat" cmpd="sng" w="9525">
            <a:solidFill>
              <a:srgbClr val="000000"/>
            </a:solidFill>
            <a:prstDash val="solid"/>
            <a:round/>
            <a:headEnd len="med" w="med" type="none"/>
            <a:tailEnd len="med" w="med" type="none"/>
          </a:ln>
        </p:spPr>
      </p:cxnSp>
      <p:cxnSp>
        <p:nvCxnSpPr>
          <p:cNvPr id="68" name="Google Shape;68;p13"/>
          <p:cNvCxnSpPr/>
          <p:nvPr/>
        </p:nvCxnSpPr>
        <p:spPr>
          <a:xfrm flipH="1" rot="10800000">
            <a:off x="2071950" y="2801113"/>
            <a:ext cx="5000100" cy="210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387900" y="32325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Afghanistan’s background</a:t>
            </a:r>
            <a:endParaRPr b="1" sz="3500">
              <a:solidFill>
                <a:srgbClr val="000000"/>
              </a:solidFill>
            </a:endParaRPr>
          </a:p>
        </p:txBody>
      </p:sp>
      <p:sp>
        <p:nvSpPr>
          <p:cNvPr id="74" name="Google Shape;74;p14"/>
          <p:cNvSpPr txBox="1"/>
          <p:nvPr>
            <p:ph idx="1" type="body"/>
          </p:nvPr>
        </p:nvSpPr>
        <p:spPr>
          <a:xfrm>
            <a:off x="387900" y="941968"/>
            <a:ext cx="5171100" cy="39453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sz="2000">
                <a:solidFill>
                  <a:srgbClr val="000000"/>
                </a:solidFill>
                <a:latin typeface="Roboto Slab"/>
                <a:ea typeface="Roboto Slab"/>
                <a:cs typeface="Roboto Slab"/>
                <a:sym typeface="Roboto Slab"/>
              </a:rPr>
              <a:t>Culture/language: </a:t>
            </a:r>
            <a:r>
              <a:rPr b="1" lang="en" sz="2000">
                <a:solidFill>
                  <a:srgbClr val="CC0000"/>
                </a:solidFill>
                <a:latin typeface="Roboto Slab"/>
                <a:ea typeface="Roboto Slab"/>
                <a:cs typeface="Roboto Slab"/>
                <a:sym typeface="Roboto Slab"/>
              </a:rPr>
              <a:t>Afghanistan</a:t>
            </a:r>
            <a:r>
              <a:rPr b="1" lang="en" sz="2000">
                <a:solidFill>
                  <a:srgbClr val="CC0000"/>
                </a:solidFill>
                <a:latin typeface="Roboto Slab"/>
                <a:ea typeface="Roboto Slab"/>
                <a:cs typeface="Roboto Slab"/>
                <a:sym typeface="Roboto Slab"/>
              </a:rPr>
              <a:t> is </a:t>
            </a:r>
            <a:r>
              <a:rPr b="1" lang="en" sz="2000">
                <a:solidFill>
                  <a:srgbClr val="CC0000"/>
                </a:solidFill>
                <a:latin typeface="Roboto Slab"/>
                <a:ea typeface="Roboto Slab"/>
                <a:cs typeface="Roboto Slab"/>
                <a:sym typeface="Roboto Slab"/>
              </a:rPr>
              <a:t>a</a:t>
            </a:r>
            <a:r>
              <a:rPr b="1" lang="en" sz="2000">
                <a:solidFill>
                  <a:srgbClr val="CC0000"/>
                </a:solidFill>
                <a:latin typeface="Roboto Slab"/>
                <a:ea typeface="Roboto Slab"/>
                <a:cs typeface="Roboto Slab"/>
                <a:sym typeface="Roboto Slab"/>
              </a:rPr>
              <a:t> multilingual society with over 40 languages and lots of dialects spoken across different regions. The most common languages include Dari (Afghan Persian), and Pasht</a:t>
            </a:r>
            <a:r>
              <a:rPr b="1" lang="en" sz="2000">
                <a:solidFill>
                  <a:srgbClr val="CC0000"/>
                </a:solidFill>
                <a:latin typeface="Roboto Slab"/>
                <a:ea typeface="Roboto Slab"/>
                <a:cs typeface="Roboto Slab"/>
                <a:sym typeface="Roboto Slab"/>
              </a:rPr>
              <a:t>o.</a:t>
            </a:r>
            <a:r>
              <a:rPr b="1" lang="en" sz="2000">
                <a:solidFill>
                  <a:srgbClr val="CC0000"/>
                </a:solidFill>
                <a:latin typeface="Roboto Slab"/>
                <a:ea typeface="Roboto Slab"/>
                <a:cs typeface="Roboto Slab"/>
                <a:sym typeface="Roboto Slab"/>
              </a:rPr>
              <a:t> </a:t>
            </a:r>
            <a:r>
              <a:rPr b="1" lang="en" sz="2000">
                <a:solidFill>
                  <a:srgbClr val="CC0000"/>
                </a:solidFill>
                <a:latin typeface="Roboto Slab"/>
                <a:ea typeface="Roboto Slab"/>
                <a:cs typeface="Roboto Slab"/>
                <a:sym typeface="Roboto Slab"/>
              </a:rPr>
              <a:t>Afghanistan</a:t>
            </a:r>
            <a:r>
              <a:rPr b="1" lang="en" sz="2000">
                <a:solidFill>
                  <a:srgbClr val="CC0000"/>
                </a:solidFill>
                <a:latin typeface="Roboto Slab"/>
                <a:ea typeface="Roboto Slab"/>
                <a:cs typeface="Roboto Slab"/>
                <a:sym typeface="Roboto Slab"/>
              </a:rPr>
              <a:t> has </a:t>
            </a:r>
            <a:r>
              <a:rPr b="1" lang="en" sz="2000">
                <a:solidFill>
                  <a:srgbClr val="CC0000"/>
                </a:solidFill>
                <a:latin typeface="Roboto Slab"/>
                <a:ea typeface="Roboto Slab"/>
                <a:cs typeface="Roboto Slab"/>
                <a:sym typeface="Roboto Slab"/>
              </a:rPr>
              <a:t>a</a:t>
            </a:r>
            <a:r>
              <a:rPr b="1" lang="en" sz="2000">
                <a:solidFill>
                  <a:srgbClr val="CC0000"/>
                </a:solidFill>
                <a:latin typeface="Roboto Slab"/>
                <a:ea typeface="Roboto Slab"/>
                <a:cs typeface="Roboto Slab"/>
                <a:sym typeface="Roboto Slab"/>
              </a:rPr>
              <a:t>  traditional, </a:t>
            </a:r>
            <a:r>
              <a:rPr b="1" lang="en" sz="2000">
                <a:solidFill>
                  <a:srgbClr val="CC0000"/>
                </a:solidFill>
                <a:latin typeface="Roboto Slab"/>
                <a:ea typeface="Roboto Slab"/>
                <a:cs typeface="Roboto Slab"/>
                <a:sym typeface="Roboto Slab"/>
              </a:rPr>
              <a:t>fundamentalist culture </a:t>
            </a:r>
            <a:r>
              <a:rPr b="1" lang="en" sz="2000">
                <a:solidFill>
                  <a:srgbClr val="CC0000"/>
                </a:solidFill>
                <a:latin typeface="Roboto Slab"/>
                <a:ea typeface="Roboto Slab"/>
                <a:cs typeface="Roboto Slab"/>
                <a:sym typeface="Roboto Slab"/>
              </a:rPr>
              <a:t>rooted in Islamic principles.                                                                                         </a:t>
            </a:r>
            <a:endParaRPr b="1" sz="2000">
              <a:solidFill>
                <a:srgbClr val="CC0000"/>
              </a:solidFill>
              <a:latin typeface="Roboto Slab"/>
              <a:ea typeface="Roboto Slab"/>
              <a:cs typeface="Roboto Slab"/>
              <a:sym typeface="Roboto Slab"/>
            </a:endParaRPr>
          </a:p>
          <a:p>
            <a:pPr indent="0" lvl="0" marL="0" rtl="0" algn="l">
              <a:spcBef>
                <a:spcPts val="1200"/>
              </a:spcBef>
              <a:spcAft>
                <a:spcPts val="1200"/>
              </a:spcAft>
              <a:buNone/>
            </a:pPr>
            <a:r>
              <a:rPr b="1" lang="en" sz="2000">
                <a:solidFill>
                  <a:srgbClr val="000000"/>
                </a:solidFill>
              </a:rPr>
              <a:t>Economic</a:t>
            </a:r>
            <a:r>
              <a:rPr b="1" lang="en" sz="2000">
                <a:solidFill>
                  <a:srgbClr val="000000"/>
                </a:solidFill>
              </a:rPr>
              <a:t> Context: </a:t>
            </a:r>
            <a:r>
              <a:rPr b="1" lang="en" sz="2000">
                <a:solidFill>
                  <a:srgbClr val="CC0000"/>
                </a:solidFill>
              </a:rPr>
              <a:t>Afghanistan has one of the poorest economies in the world even though it has such valuable natural resources. </a:t>
            </a:r>
            <a:r>
              <a:rPr b="1" lang="en" sz="2000">
                <a:solidFill>
                  <a:srgbClr val="CC0000"/>
                </a:solidFill>
              </a:rPr>
              <a:t>S</a:t>
            </a:r>
            <a:r>
              <a:rPr b="1" lang="en" sz="2000">
                <a:solidFill>
                  <a:srgbClr val="CC0000"/>
                </a:solidFill>
              </a:rPr>
              <a:t>ome of the resources they have are minerals and there are lots. Some are lithium, copper, iron, gold, cobalt and so much more. They also are known for their farming and growing fruits and nuts. There is pomegranates, grapes, melons and other dry fruits. But however, after years of wars and political problems it has been hard to get these resources. Because of this </a:t>
            </a:r>
            <a:r>
              <a:rPr b="1" lang="en" sz="2000">
                <a:solidFill>
                  <a:srgbClr val="CC0000"/>
                </a:solidFill>
              </a:rPr>
              <a:t>afghanistan</a:t>
            </a:r>
            <a:r>
              <a:rPr b="1" lang="en" sz="2000">
                <a:solidFill>
                  <a:srgbClr val="CC0000"/>
                </a:solidFill>
              </a:rPr>
              <a:t> is one of the poorest countries in the world and imports more than exports. </a:t>
            </a:r>
            <a:endParaRPr b="1" sz="2000">
              <a:solidFill>
                <a:srgbClr val="CC0000"/>
              </a:solidFill>
            </a:endParaRPr>
          </a:p>
        </p:txBody>
      </p:sp>
      <p:pic>
        <p:nvPicPr>
          <p:cNvPr id="75" name="Google Shape;75;p14"/>
          <p:cNvPicPr preferRelativeResize="0"/>
          <p:nvPr/>
        </p:nvPicPr>
        <p:blipFill>
          <a:blip r:embed="rId3">
            <a:alphaModFix/>
          </a:blip>
          <a:stretch>
            <a:fillRect/>
          </a:stretch>
        </p:blipFill>
        <p:spPr>
          <a:xfrm>
            <a:off x="5435500" y="1295200"/>
            <a:ext cx="3605825" cy="32553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5"/>
          <p:cNvPicPr preferRelativeResize="0"/>
          <p:nvPr/>
        </p:nvPicPr>
        <p:blipFill>
          <a:blip r:embed="rId3">
            <a:alphaModFix/>
          </a:blip>
          <a:stretch>
            <a:fillRect/>
          </a:stretch>
        </p:blipFill>
        <p:spPr>
          <a:xfrm>
            <a:off x="6300300" y="89850"/>
            <a:ext cx="2843701" cy="1996749"/>
          </a:xfrm>
          <a:prstGeom prst="rect">
            <a:avLst/>
          </a:prstGeom>
          <a:noFill/>
          <a:ln>
            <a:noFill/>
          </a:ln>
        </p:spPr>
      </p:pic>
      <p:sp>
        <p:nvSpPr>
          <p:cNvPr id="81" name="Google Shape;81;p15"/>
          <p:cNvSpPr txBox="1"/>
          <p:nvPr>
            <p:ph type="title"/>
          </p:nvPr>
        </p:nvSpPr>
        <p:spPr>
          <a:xfrm>
            <a:off x="331750" y="293000"/>
            <a:ext cx="8368200" cy="686100"/>
          </a:xfrm>
          <a:prstGeom prst="rect">
            <a:avLst/>
          </a:prstGeom>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300">
                <a:solidFill>
                  <a:srgbClr val="000000"/>
                </a:solidFill>
              </a:rPr>
              <a:t>The main issue</a:t>
            </a:r>
            <a:endParaRPr b="1" sz="3300">
              <a:solidFill>
                <a:srgbClr val="000000"/>
              </a:solidFill>
            </a:endParaRPr>
          </a:p>
        </p:txBody>
      </p:sp>
      <p:sp>
        <p:nvSpPr>
          <p:cNvPr id="82" name="Google Shape;82;p15"/>
          <p:cNvSpPr txBox="1"/>
          <p:nvPr>
            <p:ph idx="1" type="body"/>
          </p:nvPr>
        </p:nvSpPr>
        <p:spPr>
          <a:xfrm>
            <a:off x="145375" y="830550"/>
            <a:ext cx="6019500" cy="3482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935"/>
              <a:buNone/>
            </a:pPr>
            <a:r>
              <a:rPr b="1" lang="en" sz="1530">
                <a:solidFill>
                  <a:srgbClr val="CC0000"/>
                </a:solidFill>
              </a:rPr>
              <a:t>The main facing issue in afghanistan for girls is the limited access to education Women's rights and education are major issues in Afghanistan. Women's rights means that girls and women should get equal access to all opportunities for education, healthcare, jobs and other basic opportunities. Since 2021 when the power of the taliban was returned, afghanistan became the one country that bans girls and women from secondary school and anything higher. at least 1.4 million girls have been denied access to attend secondary education, and in total, 3.8 million girls in Afghanistan are out of school, all of their knowledge and talents are getting lost or wasted. Woman are also facing lots of challenges when trying to access healthcare, getting jobs and other opportunities.Since the takeover, fear, travel restrictions, ban from education, and systemic discrimination are keeping the woman from things they need, and woman have been scared to even leave their homes. Here's a fact: 1 in 3 girls were being forced into marrage before the age of 18. This number continues growing and has an impact on women</a:t>
            </a:r>
            <a:endParaRPr b="1" sz="1530">
              <a:solidFill>
                <a:srgbClr val="CC0000"/>
              </a:solidFill>
            </a:endParaRPr>
          </a:p>
        </p:txBody>
      </p:sp>
      <p:pic>
        <p:nvPicPr>
          <p:cNvPr id="83" name="Google Shape;83;p15"/>
          <p:cNvPicPr preferRelativeResize="0"/>
          <p:nvPr/>
        </p:nvPicPr>
        <p:blipFill>
          <a:blip r:embed="rId4">
            <a:alphaModFix/>
          </a:blip>
          <a:stretch>
            <a:fillRect/>
          </a:stretch>
        </p:blipFill>
        <p:spPr>
          <a:xfrm>
            <a:off x="6164863" y="2918450"/>
            <a:ext cx="2962275" cy="1543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87900" y="370450"/>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Country's</a:t>
            </a:r>
            <a:r>
              <a:rPr b="1" lang="en" sz="3500">
                <a:solidFill>
                  <a:srgbClr val="000000"/>
                </a:solidFill>
              </a:rPr>
              <a:t> response </a:t>
            </a:r>
            <a:endParaRPr b="1" sz="3500">
              <a:solidFill>
                <a:srgbClr val="000000"/>
              </a:solidFill>
            </a:endParaRPr>
          </a:p>
        </p:txBody>
      </p:sp>
      <p:sp>
        <p:nvSpPr>
          <p:cNvPr id="89" name="Google Shape;89;p16"/>
          <p:cNvSpPr txBox="1"/>
          <p:nvPr>
            <p:ph idx="1" type="body"/>
          </p:nvPr>
        </p:nvSpPr>
        <p:spPr>
          <a:xfrm>
            <a:off x="4063925" y="951300"/>
            <a:ext cx="4878300" cy="33546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770"/>
              <a:buNone/>
            </a:pPr>
            <a:r>
              <a:rPr b="1" lang="en" sz="1460">
                <a:solidFill>
                  <a:srgbClr val="CC0000"/>
                </a:solidFill>
              </a:rPr>
              <a:t>In Afghanistan, the taliban governent since 2021 has just responded to womens rights and their education by continuing to introduce and </a:t>
            </a:r>
            <a:r>
              <a:rPr b="1" lang="en" sz="1460">
                <a:solidFill>
                  <a:srgbClr val="CC0000"/>
                </a:solidFill>
              </a:rPr>
              <a:t>enforce</a:t>
            </a:r>
            <a:r>
              <a:rPr b="1" lang="en" sz="1460">
                <a:solidFill>
                  <a:srgbClr val="CC0000"/>
                </a:solidFill>
              </a:rPr>
              <a:t> more strict rules, some that include baning girl above grade 6 from attending school. This just shows how this is active </a:t>
            </a:r>
            <a:r>
              <a:rPr b="1" lang="en" sz="1460">
                <a:solidFill>
                  <a:srgbClr val="CC0000"/>
                </a:solidFill>
              </a:rPr>
              <a:t>government</a:t>
            </a:r>
            <a:r>
              <a:rPr b="1" lang="en" sz="1460">
                <a:solidFill>
                  <a:srgbClr val="CC0000"/>
                </a:solidFill>
              </a:rPr>
              <a:t> actions that continue rather than trying to improve things for girls and women or getting them </a:t>
            </a:r>
            <a:r>
              <a:rPr b="1" lang="en" sz="1460">
                <a:solidFill>
                  <a:srgbClr val="CC0000"/>
                </a:solidFill>
              </a:rPr>
              <a:t>access</a:t>
            </a:r>
            <a:r>
              <a:rPr b="1" lang="en" sz="1460">
                <a:solidFill>
                  <a:srgbClr val="CC0000"/>
                </a:solidFill>
              </a:rPr>
              <a:t> into </a:t>
            </a:r>
            <a:r>
              <a:rPr b="1" lang="en" sz="1460">
                <a:solidFill>
                  <a:srgbClr val="CC0000"/>
                </a:solidFill>
              </a:rPr>
              <a:t>education</a:t>
            </a:r>
            <a:r>
              <a:rPr b="1" lang="en" sz="1460">
                <a:solidFill>
                  <a:srgbClr val="CC0000"/>
                </a:solidFill>
              </a:rPr>
              <a:t>. Evidence we can see from UNESCO, they reported that 80% of Afghanistan girls and young women are not attending school or university which has affected 2.5  million girls. And even </a:t>
            </a:r>
            <a:r>
              <a:rPr b="1" lang="en" sz="1460">
                <a:solidFill>
                  <a:srgbClr val="CC0000"/>
                </a:solidFill>
              </a:rPr>
              <a:t>the United Nations describes Afghanistan as “most repressive country in the world” for womens rights and their education. UNESCO has been trying and making a effort to provide and make alternative methods for their learning even with all of the difficult policies and conditions. </a:t>
            </a:r>
            <a:endParaRPr b="1" sz="1460">
              <a:solidFill>
                <a:srgbClr val="CC0000"/>
              </a:solidFill>
            </a:endParaRPr>
          </a:p>
          <a:p>
            <a:pPr indent="0" lvl="0" marL="0" rtl="0" algn="l">
              <a:lnSpc>
                <a:spcPct val="105000"/>
              </a:lnSpc>
              <a:spcBef>
                <a:spcPts val="1200"/>
              </a:spcBef>
              <a:spcAft>
                <a:spcPts val="1200"/>
              </a:spcAft>
              <a:buSzPts val="770"/>
              <a:buNone/>
            </a:pPr>
            <a:r>
              <a:t/>
            </a:r>
            <a:endParaRPr sz="1260"/>
          </a:p>
        </p:txBody>
      </p:sp>
      <p:pic>
        <p:nvPicPr>
          <p:cNvPr id="90" name="Google Shape;90;p16"/>
          <p:cNvPicPr preferRelativeResize="0"/>
          <p:nvPr/>
        </p:nvPicPr>
        <p:blipFill>
          <a:blip r:embed="rId3">
            <a:alphaModFix/>
          </a:blip>
          <a:stretch>
            <a:fillRect/>
          </a:stretch>
        </p:blipFill>
        <p:spPr>
          <a:xfrm>
            <a:off x="168939" y="1056550"/>
            <a:ext cx="3818436" cy="3707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Consequences</a:t>
            </a:r>
            <a:r>
              <a:rPr lang="en" sz="3500"/>
              <a:t> </a:t>
            </a:r>
            <a:endParaRPr sz="3500"/>
          </a:p>
        </p:txBody>
      </p:sp>
      <p:sp>
        <p:nvSpPr>
          <p:cNvPr id="96" name="Google Shape;96;p17"/>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Canada and reflection</a:t>
            </a:r>
            <a:endParaRPr b="1" sz="3500">
              <a:solidFill>
                <a:srgbClr val="000000"/>
              </a:solidFill>
            </a:endParaRPr>
          </a:p>
        </p:txBody>
      </p:sp>
      <p:sp>
        <p:nvSpPr>
          <p:cNvPr id="102" name="Google Shape;102;p18"/>
          <p:cNvSpPr txBox="1"/>
          <p:nvPr>
            <p:ph idx="1" type="body"/>
          </p:nvPr>
        </p:nvSpPr>
        <p:spPr>
          <a:xfrm>
            <a:off x="387900" y="1489824"/>
            <a:ext cx="8368200" cy="3078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87900" y="25787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1" lang="en" sz="3500">
                <a:solidFill>
                  <a:srgbClr val="000000"/>
                </a:solidFill>
              </a:rPr>
              <a:t>Sources we used!</a:t>
            </a:r>
            <a:endParaRPr b="1" sz="3500">
              <a:solidFill>
                <a:srgbClr val="000000"/>
              </a:solidFill>
            </a:endParaRPr>
          </a:p>
        </p:txBody>
      </p:sp>
      <p:sp>
        <p:nvSpPr>
          <p:cNvPr id="108" name="Google Shape;108;p19"/>
          <p:cNvSpPr txBox="1"/>
          <p:nvPr>
            <p:ph idx="1" type="body"/>
          </p:nvPr>
        </p:nvSpPr>
        <p:spPr>
          <a:xfrm>
            <a:off x="387900" y="943975"/>
            <a:ext cx="8368200" cy="3624900"/>
          </a:xfrm>
          <a:prstGeom prst="rect">
            <a:avLst/>
          </a:prstGeom>
        </p:spPr>
        <p:txBody>
          <a:bodyPr anchorCtr="0" anchor="t" bIns="91425" lIns="91425" spcFirstLastPara="1" rIns="91425" wrap="square" tIns="91425">
            <a:normAutofit lnSpcReduction="10000"/>
          </a:bodyPr>
          <a:lstStyle/>
          <a:p>
            <a:pPr indent="-327025" lvl="0" marL="457200" rtl="0" algn="l">
              <a:spcBef>
                <a:spcPts val="0"/>
              </a:spcBef>
              <a:spcAft>
                <a:spcPts val="0"/>
              </a:spcAft>
              <a:buSzPts val="1550"/>
              <a:buFont typeface="Arial"/>
              <a:buChar char="●"/>
            </a:pPr>
            <a:r>
              <a:rPr b="1" lang="en" sz="1550">
                <a:latin typeface="Arial"/>
                <a:ea typeface="Arial"/>
                <a:cs typeface="Arial"/>
                <a:sym typeface="Arial"/>
              </a:rPr>
              <a:t>Medica Mondiale. (no date). Women’s rights in Afghanistan. </a:t>
            </a:r>
            <a:r>
              <a:rPr b="1" lang="en" sz="1550" u="sng">
                <a:solidFill>
                  <a:srgbClr val="990000"/>
                </a:solidFill>
                <a:latin typeface="Arial"/>
                <a:ea typeface="Arial"/>
                <a:cs typeface="Arial"/>
                <a:sym typeface="Arial"/>
                <a:hlinkClick r:id="rId3">
                  <a:extLst>
                    <a:ext uri="{A12FA001-AC4F-418D-AE19-62706E023703}">
                      <ahyp:hlinkClr val="tx"/>
                    </a:ext>
                  </a:extLst>
                </a:hlinkClick>
              </a:rPr>
              <a:t>https://medicamondiale.org/en/where-we-empower-women/afghanista</a:t>
            </a:r>
            <a:r>
              <a:rPr b="1" lang="en" sz="1550" u="sng">
                <a:solidFill>
                  <a:srgbClr val="990000"/>
                </a:solidFill>
                <a:latin typeface="Arial"/>
                <a:ea typeface="Arial"/>
                <a:cs typeface="Arial"/>
                <a:sym typeface="Arial"/>
                <a:hlinkClick r:id="rId4">
                  <a:extLst>
                    <a:ext uri="{A12FA001-AC4F-418D-AE19-62706E023703}">
                      <ahyp:hlinkClr val="tx"/>
                    </a:ext>
                  </a:extLst>
                </a:hlinkClick>
              </a:rPr>
              <a:t>n</a:t>
            </a:r>
            <a:endParaRPr b="1" sz="1700"/>
          </a:p>
          <a:p>
            <a:pPr indent="-336550" lvl="0" marL="457200" rtl="0" algn="l">
              <a:spcBef>
                <a:spcPts val="0"/>
              </a:spcBef>
              <a:spcAft>
                <a:spcPts val="0"/>
              </a:spcAft>
              <a:buSzPts val="1700"/>
              <a:buChar char="●"/>
            </a:pPr>
            <a:r>
              <a:rPr b="1" lang="en" sz="1700"/>
              <a:t>Al jazeera news. (2023). International Women’s Day: The exclusion of Afghanistan’s women. </a:t>
            </a:r>
            <a:r>
              <a:rPr b="1" lang="en" sz="1700" u="sng">
                <a:solidFill>
                  <a:srgbClr val="990000"/>
                </a:solidFill>
                <a:hlinkClick r:id="rId5">
                  <a:extLst>
                    <a:ext uri="{A12FA001-AC4F-418D-AE19-62706E023703}">
                      <ahyp:hlinkClr val="tx"/>
                    </a:ext>
                  </a:extLst>
                </a:hlinkClick>
              </a:rPr>
              <a:t>https://www.aljazeera.com/news/2023/3/8/international-womens-day-the-exclusion-of-afghanistans-women</a:t>
            </a:r>
            <a:endParaRPr b="1" sz="1700">
              <a:solidFill>
                <a:srgbClr val="990000"/>
              </a:solidFill>
            </a:endParaRPr>
          </a:p>
          <a:p>
            <a:pPr indent="-327025" lvl="0" marL="457200" rtl="0" algn="l">
              <a:spcBef>
                <a:spcPts val="0"/>
              </a:spcBef>
              <a:spcAft>
                <a:spcPts val="0"/>
              </a:spcAft>
              <a:buSzPts val="1550"/>
              <a:buFont typeface="Arial"/>
              <a:buChar char="●"/>
            </a:pPr>
            <a:r>
              <a:rPr b="1" lang="en" sz="1700"/>
              <a:t>UN Women. (2025). FAQs:What it’s like to be a woman in Afghanistan today. </a:t>
            </a:r>
            <a:r>
              <a:rPr b="1" lang="en" sz="1700" u="sng">
                <a:solidFill>
                  <a:srgbClr val="990000"/>
                </a:solidFill>
                <a:hlinkClick r:id="rId6">
                  <a:extLst>
                    <a:ext uri="{A12FA001-AC4F-418D-AE19-62706E023703}">
                      <ahyp:hlinkClr val="tx"/>
                    </a:ext>
                  </a:extLst>
                </a:hlinkClick>
              </a:rPr>
              <a:t>https://www.unwomen.org/en/articles/faqs/faqs-afghanistan</a:t>
            </a:r>
            <a:endParaRPr b="1" sz="1700">
              <a:solidFill>
                <a:srgbClr val="990000"/>
              </a:solidFill>
            </a:endParaRPr>
          </a:p>
          <a:p>
            <a:pPr indent="-336550" lvl="0" marL="457200" rtl="0" algn="l">
              <a:spcBef>
                <a:spcPts val="0"/>
              </a:spcBef>
              <a:spcAft>
                <a:spcPts val="0"/>
              </a:spcAft>
              <a:buSzPts val="1700"/>
              <a:buChar char="●"/>
            </a:pPr>
            <a:r>
              <a:rPr b="1" lang="en" sz="1700"/>
              <a:t>UNESCO. (2024). Afghanistan: 1.4 million girls still banned from school by de facto authorities. </a:t>
            </a:r>
            <a:r>
              <a:rPr b="1" lang="en" sz="1700" u="sng">
                <a:solidFill>
                  <a:srgbClr val="990000"/>
                </a:solidFill>
                <a:hlinkClick r:id="rId7">
                  <a:extLst>
                    <a:ext uri="{A12FA001-AC4F-418D-AE19-62706E023703}">
                      <ahyp:hlinkClr val="tx"/>
                    </a:ext>
                  </a:extLst>
                </a:hlinkClick>
              </a:rPr>
              <a:t>https://www.unesco.org/en/articles/afghanistan-14-million-girls-still-banned-school-de-facto-authoritie</a:t>
            </a:r>
            <a:r>
              <a:rPr b="1" lang="en" sz="1700">
                <a:solidFill>
                  <a:srgbClr val="990000"/>
                </a:solidFill>
              </a:rPr>
              <a:t>s</a:t>
            </a:r>
            <a:endParaRPr b="1" sz="1700">
              <a:solidFill>
                <a:srgbClr val="99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